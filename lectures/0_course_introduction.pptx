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992" r:id="rId3"/>
    <p:sldId id="260" r:id="rId4"/>
    <p:sldId id="258" r:id="rId5"/>
    <p:sldId id="1004" r:id="rId6"/>
    <p:sldId id="1006" r:id="rId7"/>
    <p:sldId id="1007" r:id="rId8"/>
    <p:sldId id="1000" r:id="rId9"/>
    <p:sldId id="995" r:id="rId10"/>
    <p:sldId id="261" r:id="rId11"/>
    <p:sldId id="259" r:id="rId12"/>
    <p:sldId id="998" r:id="rId13"/>
    <p:sldId id="999" r:id="rId14"/>
    <p:sldId id="308" r:id="rId15"/>
    <p:sldId id="991" r:id="rId16"/>
    <p:sldId id="996" r:id="rId17"/>
    <p:sldId id="997" r:id="rId18"/>
    <p:sldId id="1003" r:id="rId19"/>
    <p:sldId id="1001" r:id="rId2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42"/>
    <p:restoredTop sz="94663"/>
  </p:normalViewPr>
  <p:slideViewPr>
    <p:cSldViewPr snapToGrid="0">
      <p:cViewPr varScale="1">
        <p:scale>
          <a:sx n="117" d="100"/>
          <a:sy n="117" d="100"/>
        </p:scale>
        <p:origin x="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hyperlink" Target="mailto:a.d.j.vandijk@uva.nl" TargetMode="External"/><Relationship Id="rId7" Type="http://schemas.openxmlformats.org/officeDocument/2006/relationships/hyperlink" Target="mailto:m.bliek@uva.nl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hyperlink" Target="mailto:m.m.paauw@uva.nl" TargetMode="External"/><Relationship Id="rId4" Type="http://schemas.openxmlformats.org/officeDocument/2006/relationships/image" Target="../media/image5.jpg"/><Relationship Id="rId9" Type="http://schemas.openxmlformats.org/officeDocument/2006/relationships/hyperlink" Target="mailto:k.wissink@uva.n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hyperlink" Target="https://mishapaauw.github.io/molecular-data-analysis/part0-setup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665" y="2858757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NL" sz="4000" b="1" dirty="0">
                <a:solidFill>
                  <a:schemeClr val="tx2"/>
                </a:solidFill>
              </a:rPr>
              <a:t>Module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665" y="2019924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NL" sz="2000">
                <a:solidFill>
                  <a:schemeClr val="tx2"/>
                </a:solidFill>
              </a:rPr>
              <a:t>Molecular Data Analysis &amp; Bioinformatics</a:t>
            </a:r>
          </a:p>
          <a:p>
            <a:pPr algn="l"/>
            <a:r>
              <a:rPr lang="en-NL" sz="2000">
                <a:solidFill>
                  <a:schemeClr val="tx2"/>
                </a:solidFill>
              </a:rPr>
              <a:t>Lecture 28 sept 2026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B124EEF2-10CB-1AD7-FBCA-7C491B690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03089" y="1338417"/>
            <a:ext cx="4507994" cy="4181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E6CE1-96FC-C870-E3D0-88FAC4E81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228" t="10203" r="4130" b="22398"/>
          <a:stretch>
            <a:fillRect/>
          </a:stretch>
        </p:blipFill>
        <p:spPr>
          <a:xfrm rot="5400000">
            <a:off x="8484642" y="2870534"/>
            <a:ext cx="3117307" cy="1353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80338E-292F-EDA2-AE02-CCDACA87F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489" y="300447"/>
            <a:ext cx="10825976" cy="1325563"/>
          </a:xfrm>
        </p:spPr>
        <p:txBody>
          <a:bodyPr>
            <a:normAutofit/>
          </a:bodyPr>
          <a:lstStyle/>
          <a:p>
            <a:r>
              <a:rPr lang="en-NL" sz="4000" b="1" dirty="0"/>
              <a:t>You will learn how to answer questions like…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74255-EA45-387B-5880-2F9047E1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00" y="1893107"/>
            <a:ext cx="9734176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What is the molecular mechanism of </a:t>
            </a:r>
            <a:r>
              <a:rPr lang="en-NL" u="sng" dirty="0"/>
              <a:t>color polymorphisms </a:t>
            </a:r>
            <a:r>
              <a:rPr lang="en-NL" dirty="0"/>
              <a:t>in </a:t>
            </a:r>
            <a:r>
              <a:rPr lang="en-NL" u="sng" dirty="0"/>
              <a:t>stick insects</a:t>
            </a:r>
            <a:r>
              <a:rPr lang="en-NL" dirty="0"/>
              <a:t>?</a:t>
            </a:r>
          </a:p>
          <a:p>
            <a:pPr>
              <a:lnSpc>
                <a:spcPct val="150000"/>
              </a:lnSpc>
            </a:pPr>
            <a:r>
              <a:rPr lang="en-NL" dirty="0"/>
              <a:t>Fill in your favourite phenotype and favourite organism</a:t>
            </a:r>
          </a:p>
          <a:p>
            <a:pPr>
              <a:lnSpc>
                <a:spcPct val="150000"/>
              </a:lnSpc>
            </a:pPr>
            <a:r>
              <a:rPr lang="en-NL" dirty="0"/>
              <a:t>Bioinformatics tool you learn here will be useful in almost all fields in biology, but also in industry.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8B4409-CF09-7565-EA8B-911B934B6F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1" t="11631" r="52777" b="20970"/>
          <a:stretch>
            <a:fillRect/>
          </a:stretch>
        </p:blipFill>
        <p:spPr>
          <a:xfrm rot="5400000">
            <a:off x="9795812" y="2378842"/>
            <a:ext cx="3117307" cy="126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2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19FEBA0-A75A-9F29-7F53-86B28DF32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727049-617A-ACE0-E332-4DC8F1107E96}"/>
              </a:ext>
            </a:extLst>
          </p:cNvPr>
          <p:cNvSpPr txBox="1"/>
          <p:nvPr/>
        </p:nvSpPr>
        <p:spPr>
          <a:xfrm>
            <a:off x="739588" y="2221656"/>
            <a:ext cx="5910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2DB94A-4724-7E45-F1FB-34A673ACD9A2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A99D68-8DBB-7042-78DB-EFE189549892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6C90352-46FD-3068-F209-7FCB22F1734A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F91070-2E7D-D99A-1A91-9A31803E14FF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FCFF9C-3B16-26C3-5E39-DEAAE122BF7A}"/>
              </a:ext>
            </a:extLst>
          </p:cNvPr>
          <p:cNvSpPr txBox="1"/>
          <p:nvPr/>
        </p:nvSpPr>
        <p:spPr>
          <a:xfrm>
            <a:off x="167391" y="3042501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CEFB45-F265-F65D-0CA2-62BA57FFB2D9}"/>
              </a:ext>
            </a:extLst>
          </p:cNvPr>
          <p:cNvSpPr txBox="1"/>
          <p:nvPr/>
        </p:nvSpPr>
        <p:spPr>
          <a:xfrm>
            <a:off x="167391" y="3835730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13DD3A-9F4D-0DED-C96B-458F41E16664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EAB05D4-A3C2-0F00-31FF-047EB6B44964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latin typeface="Helvetica" pitchFamily="2" charset="0"/>
              </a:rPr>
              <a:t>Module: Molecular Data Analysis &amp; Bioinformatics</a:t>
            </a:r>
          </a:p>
        </p:txBody>
      </p:sp>
    </p:spTree>
    <p:extLst>
      <p:ext uri="{BB962C8B-B14F-4D97-AF65-F5344CB8AC3E}">
        <p14:creationId xmlns:p14="http://schemas.microsoft.com/office/powerpoint/2010/main" val="687971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872A7-5B03-9780-56BF-8EE954C40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188" y="0"/>
            <a:ext cx="10515600" cy="1325563"/>
          </a:xfrm>
        </p:spPr>
        <p:txBody>
          <a:bodyPr/>
          <a:lstStyle/>
          <a:p>
            <a:r>
              <a:rPr lang="en-NL" b="1" dirty="0"/>
              <a:t>Teacher team</a:t>
            </a:r>
          </a:p>
        </p:txBody>
      </p:sp>
      <p:pic>
        <p:nvPicPr>
          <p:cNvPr id="4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E646BB66-8CF2-4C56-1140-0437C84B48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698" t="5908" r="13797" b="9355"/>
          <a:stretch>
            <a:fillRect/>
          </a:stretch>
        </p:blipFill>
        <p:spPr>
          <a:xfrm>
            <a:off x="6302998" y="1476501"/>
            <a:ext cx="2226246" cy="2075626"/>
          </a:xfrm>
          <a:prstGeom prst="ellipse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49074C-CC45-7F24-77EA-0D457FB224C0}"/>
              </a:ext>
            </a:extLst>
          </p:cNvPr>
          <p:cNvSpPr txBox="1">
            <a:spLocks/>
          </p:cNvSpPr>
          <p:nvPr/>
        </p:nvSpPr>
        <p:spPr>
          <a:xfrm>
            <a:off x="6488055" y="4069351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Prof. Aalt-Jan van Dijk</a:t>
            </a:r>
          </a:p>
          <a:p>
            <a:pPr marL="0" indent="0">
              <a:buNone/>
            </a:pPr>
            <a:r>
              <a:rPr lang="en-NL" sz="1800" dirty="0">
                <a:hlinkClick r:id="rId3"/>
              </a:rPr>
              <a:t>a.d.j.vandijk@uva.nl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69C72-C745-A4D3-C7EF-3665EF5EA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77" y="1480457"/>
            <a:ext cx="2071670" cy="2071670"/>
          </a:xfrm>
          <a:prstGeom prst="ellipse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D8D2A5C-2C01-57D2-2680-4514AC35601C}"/>
              </a:ext>
            </a:extLst>
          </p:cNvPr>
          <p:cNvSpPr txBox="1">
            <a:spLocks/>
          </p:cNvSpPr>
          <p:nvPr/>
        </p:nvSpPr>
        <p:spPr>
          <a:xfrm>
            <a:off x="206188" y="4043044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Misha Paauw (coordinator)</a:t>
            </a:r>
          </a:p>
          <a:p>
            <a:pPr marL="0" indent="0">
              <a:buNone/>
            </a:pPr>
            <a:r>
              <a:rPr lang="en-NL" sz="1800" dirty="0">
                <a:hlinkClick r:id="rId5"/>
              </a:rPr>
              <a:t>m.m.paauw@uva.nl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Plant Physiology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38A73F-DA12-D56F-71C6-92DCBA2CAC7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144" b="7351"/>
          <a:stretch>
            <a:fillRect/>
          </a:stretch>
        </p:blipFill>
        <p:spPr>
          <a:xfrm>
            <a:off x="3254593" y="1480457"/>
            <a:ext cx="2071670" cy="2075626"/>
          </a:xfrm>
          <a:prstGeom prst="ellipse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CA1EFA0-103D-9556-94B8-93154C835133}"/>
              </a:ext>
            </a:extLst>
          </p:cNvPr>
          <p:cNvSpPr txBox="1">
            <a:spLocks/>
          </p:cNvSpPr>
          <p:nvPr/>
        </p:nvSpPr>
        <p:spPr>
          <a:xfrm>
            <a:off x="3254593" y="4073307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Tijs Bliek</a:t>
            </a:r>
          </a:p>
          <a:p>
            <a:pPr marL="0" indent="0">
              <a:buNone/>
            </a:pPr>
            <a:r>
              <a:rPr lang="en-NL" sz="1800" dirty="0">
                <a:hlinkClick r:id="rId7"/>
              </a:rPr>
              <a:t>m.bliek@uva.nl</a:t>
            </a:r>
            <a:endParaRPr lang="en-NL" sz="1800" dirty="0"/>
          </a:p>
          <a:p>
            <a:pPr marL="0" indent="0">
              <a:buNone/>
            </a:pPr>
            <a:r>
              <a:rPr lang="en-NL" sz="1800" dirty="0"/>
              <a:t>Plant Development &amp; Genetics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97450B-A81B-53EF-2788-1845304D3C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25722" y="1389132"/>
            <a:ext cx="1564792" cy="2162995"/>
          </a:xfrm>
          <a:prstGeom prst="ellipse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860B63-7616-6952-CC33-6EB3C5A17FD8}"/>
              </a:ext>
            </a:extLst>
          </p:cNvPr>
          <p:cNvSpPr txBox="1">
            <a:spLocks/>
          </p:cNvSpPr>
          <p:nvPr/>
        </p:nvSpPr>
        <p:spPr>
          <a:xfrm>
            <a:off x="9394709" y="4043044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Kyran Wissink</a:t>
            </a:r>
          </a:p>
          <a:p>
            <a:pPr marL="0" indent="0">
              <a:buNone/>
            </a:pPr>
            <a:r>
              <a:rPr lang="en-GB" sz="1800" dirty="0">
                <a:hlinkClick r:id="rId9"/>
              </a:rPr>
              <a:t>k.wissink@uva.nl</a:t>
            </a:r>
            <a:endParaRPr lang="en-GB" sz="1800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</p:spTree>
    <p:extLst>
      <p:ext uri="{BB962C8B-B14F-4D97-AF65-F5344CB8AC3E}">
        <p14:creationId xmlns:p14="http://schemas.microsoft.com/office/powerpoint/2010/main" val="1974968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AF7A-6868-515E-589A-1ADC8B72A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37E53-9AD3-257A-D033-513A719FB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EACC0-D024-802D-422C-355806E20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C43AF36-4051-0648-6B72-F901499B2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24D6A7-BAB2-F40A-E6B3-219C7B0EB751}"/>
              </a:ext>
            </a:extLst>
          </p:cNvPr>
          <p:cNvSpPr/>
          <p:nvPr/>
        </p:nvSpPr>
        <p:spPr>
          <a:xfrm>
            <a:off x="7385417" y="2071011"/>
            <a:ext cx="4483865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EC5841-858C-80C1-83ED-90E69B683194}"/>
              </a:ext>
            </a:extLst>
          </p:cNvPr>
          <p:cNvSpPr/>
          <p:nvPr/>
        </p:nvSpPr>
        <p:spPr>
          <a:xfrm>
            <a:off x="6004640" y="4804318"/>
            <a:ext cx="1380778" cy="2147746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B355F6-AA1F-B14C-505C-69C185176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534" y="2549123"/>
            <a:ext cx="1506894" cy="1506894"/>
          </a:xfrm>
          <a:prstGeom prst="ellipse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279A98-3354-ABA8-47FE-597BAF7929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44" b="7351"/>
          <a:stretch>
            <a:fillRect/>
          </a:stretch>
        </p:blipFill>
        <p:spPr>
          <a:xfrm>
            <a:off x="4320008" y="2549123"/>
            <a:ext cx="1504022" cy="150689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278221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DDDDE-F91B-6144-4672-09FD94A5B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8E065-21B4-7F9E-90BE-3D653094B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0A0C-0808-34FC-BF23-582621844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772223-93DF-FBE2-809E-092A4CD86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FC5982-73EC-4C19-B56F-2B322038B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077AEB-10F1-B076-F31F-33F9BBD46A35}"/>
              </a:ext>
            </a:extLst>
          </p:cNvPr>
          <p:cNvSpPr/>
          <p:nvPr/>
        </p:nvSpPr>
        <p:spPr>
          <a:xfrm>
            <a:off x="0" y="306484"/>
            <a:ext cx="5930537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7E0103-C3AE-3147-92B1-FE9A7D859218}"/>
              </a:ext>
            </a:extLst>
          </p:cNvPr>
          <p:cNvSpPr/>
          <p:nvPr/>
        </p:nvSpPr>
        <p:spPr>
          <a:xfrm>
            <a:off x="6021897" y="2838994"/>
            <a:ext cx="1380778" cy="1430830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8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3F3C7A12-8034-6826-5D7F-AC31AF50FF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98" t="5908" r="13797" b="9355"/>
          <a:stretch>
            <a:fillRect/>
          </a:stretch>
        </p:blipFill>
        <p:spPr>
          <a:xfrm>
            <a:off x="8656576" y="4686635"/>
            <a:ext cx="1733328" cy="1616057"/>
          </a:xfrm>
          <a:prstGeom prst="ellipse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3DC47C-C4D6-36AF-731F-3275986F33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9687" y="4629848"/>
            <a:ext cx="1251279" cy="172963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4920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E947C-898F-F3BA-58B5-45EE5E9D5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AEB53C-95A4-DBE1-35EA-59DB6E969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F75276-DDB1-C0E2-3C9E-C7856E903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99A06A1-9420-BCD8-F0B8-5988845A5C4F}"/>
              </a:ext>
            </a:extLst>
          </p:cNvPr>
          <p:cNvSpPr txBox="1">
            <a:spLocks/>
          </p:cNvSpPr>
          <p:nvPr/>
        </p:nvSpPr>
        <p:spPr>
          <a:xfrm>
            <a:off x="7184281" y="455334"/>
            <a:ext cx="515470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b="1" dirty="0"/>
              <a:t>Schedule &amp; assessment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9DBC0-51F1-D669-32AF-90C352B18290}"/>
              </a:ext>
            </a:extLst>
          </p:cNvPr>
          <p:cNvSpPr txBox="1"/>
          <p:nvPr/>
        </p:nvSpPr>
        <p:spPr>
          <a:xfrm>
            <a:off x="3462606" y="5187244"/>
            <a:ext cx="164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Assessment</a:t>
            </a:r>
            <a:endParaRPr lang="en-US" i="1" dirty="0">
              <a:latin typeface="Helvetica" pitchFamily="2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0C19FA-22C2-D935-385F-F7AFAF437788}"/>
              </a:ext>
            </a:extLst>
          </p:cNvPr>
          <p:cNvCxnSpPr>
            <a:cxnSpLocks/>
          </p:cNvCxnSpPr>
          <p:nvPr/>
        </p:nvCxnSpPr>
        <p:spPr>
          <a:xfrm flipH="1" flipV="1">
            <a:off x="2508069" y="5077097"/>
            <a:ext cx="954537" cy="29481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DA7CB10E-9ED8-88B6-68F8-220BACD0F19B}"/>
              </a:ext>
            </a:extLst>
          </p:cNvPr>
          <p:cNvSpPr/>
          <p:nvPr/>
        </p:nvSpPr>
        <p:spPr>
          <a:xfrm>
            <a:off x="1205725" y="3989026"/>
            <a:ext cx="1434352" cy="1234529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180557-5659-19E6-B7E4-2A7FC8975FFE}"/>
              </a:ext>
            </a:extLst>
          </p:cNvPr>
          <p:cNvSpPr/>
          <p:nvPr/>
        </p:nvSpPr>
        <p:spPr>
          <a:xfrm>
            <a:off x="7184281" y="5587178"/>
            <a:ext cx="143435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BEAE34-8114-5722-9505-1F845833437F}"/>
              </a:ext>
            </a:extLst>
          </p:cNvPr>
          <p:cNvCxnSpPr>
            <a:cxnSpLocks/>
          </p:cNvCxnSpPr>
          <p:nvPr/>
        </p:nvCxnSpPr>
        <p:spPr>
          <a:xfrm>
            <a:off x="5029214" y="5484141"/>
            <a:ext cx="1989895" cy="4778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CB7697-B7A8-B91A-CC15-2E77180C6124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4995558" y="4348797"/>
            <a:ext cx="1100442" cy="8972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227BA31-70FF-E00E-5E42-269E0C02925A}"/>
              </a:ext>
            </a:extLst>
          </p:cNvPr>
          <p:cNvSpPr/>
          <p:nvPr/>
        </p:nvSpPr>
        <p:spPr>
          <a:xfrm>
            <a:off x="6004641" y="3770935"/>
            <a:ext cx="1434352" cy="460718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E67A3D-FDCC-27E4-C9AA-DAA02979795A}"/>
              </a:ext>
            </a:extLst>
          </p:cNvPr>
          <p:cNvSpPr txBox="1"/>
          <p:nvPr/>
        </p:nvSpPr>
        <p:spPr>
          <a:xfrm>
            <a:off x="769820" y="5556576"/>
            <a:ext cx="4609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2x analyzing a new dataset; </a:t>
            </a:r>
            <a:r>
              <a:rPr lang="en-US" dirty="0">
                <a:latin typeface="Helvetica" pitchFamily="2" charset="0"/>
              </a:rPr>
              <a:t>hand in code + interpretations</a:t>
            </a:r>
          </a:p>
          <a:p>
            <a:r>
              <a:rPr lang="en-US" b="1" dirty="0">
                <a:latin typeface="Helvetica" pitchFamily="2" charset="0"/>
              </a:rPr>
              <a:t>1x mini (5min) oral exam</a:t>
            </a:r>
            <a:r>
              <a:rPr lang="en-US" dirty="0">
                <a:latin typeface="Helvetica" pitchFamily="2" charset="0"/>
              </a:rPr>
              <a:t>; pass or fail (and try again)</a:t>
            </a:r>
            <a:endParaRPr lang="en-US" i="1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7025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0579C-7E7A-0DEE-A546-EF0EA2507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</a:t>
            </a:r>
            <a:r>
              <a:rPr lang="en-NL" b="1" dirty="0"/>
              <a:t>ssessment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3C5D2-FCC4-F221-87B1-508B9215D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NL" sz="2400" dirty="0"/>
              <a:t>The grade is an average of the two assignments you hand in on Canvas.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work in pairs; different pair in each assignment. 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Both assignments need to be</a:t>
            </a:r>
            <a:r>
              <a:rPr lang="en-NL" sz="2400" b="1" dirty="0"/>
              <a:t> at least 5.5 to pass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need to </a:t>
            </a:r>
            <a:r>
              <a:rPr lang="en-NL" sz="2400" b="1" dirty="0"/>
              <a:t>pass </a:t>
            </a:r>
            <a:r>
              <a:rPr lang="en-NL" sz="2400" dirty="0"/>
              <a:t>the mini oral test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need to be present at all tutorials to get a grade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Resits are only possible in emergency situations; make an appointment with the respective teacher. </a:t>
            </a:r>
          </a:p>
        </p:txBody>
      </p:sp>
    </p:spTree>
    <p:extLst>
      <p:ext uri="{BB962C8B-B14F-4D97-AF65-F5344CB8AC3E}">
        <p14:creationId xmlns:p14="http://schemas.microsoft.com/office/powerpoint/2010/main" val="1970206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43CBA-1FD1-BEEC-B69A-21A384C13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Teaching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4E1A-1607-6D3C-9D74-80825DB01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b="1" dirty="0"/>
              <a:t>Lectures: </a:t>
            </a:r>
            <a:r>
              <a:rPr lang="en-NL" dirty="0"/>
              <a:t>Canvas</a:t>
            </a:r>
          </a:p>
          <a:p>
            <a:r>
              <a:rPr lang="en-NL" b="1" dirty="0"/>
              <a:t>Tutorial materials:</a:t>
            </a:r>
          </a:p>
          <a:p>
            <a:pPr lvl="1"/>
            <a:r>
              <a:rPr lang="en-NL" dirty="0"/>
              <a:t>Online (for my tutorials): </a:t>
            </a:r>
            <a:r>
              <a:rPr lang="en-GB" dirty="0"/>
              <a:t>https://</a:t>
            </a:r>
            <a:r>
              <a:rPr lang="en-GB" dirty="0" err="1"/>
              <a:t>mishapaauw.github.io</a:t>
            </a:r>
            <a:r>
              <a:rPr lang="en-GB" dirty="0"/>
              <a:t>/molecular-data-analysis/</a:t>
            </a:r>
            <a:endParaRPr lang="en-NL" dirty="0"/>
          </a:p>
          <a:p>
            <a:pPr lvl="1"/>
            <a:r>
              <a:rPr lang="en-NL" dirty="0"/>
              <a:t>Canvas (For Aalt-Jan’s tutorials)</a:t>
            </a:r>
          </a:p>
        </p:txBody>
      </p:sp>
    </p:spTree>
    <p:extLst>
      <p:ext uri="{BB962C8B-B14F-4D97-AF65-F5344CB8AC3E}">
        <p14:creationId xmlns:p14="http://schemas.microsoft.com/office/powerpoint/2010/main" val="521639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A0CBB-9366-A531-C9B0-B8EE8802A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49" y="222870"/>
            <a:ext cx="11772900" cy="1325563"/>
          </a:xfrm>
        </p:spPr>
        <p:txBody>
          <a:bodyPr>
            <a:normAutofit/>
          </a:bodyPr>
          <a:lstStyle/>
          <a:p>
            <a:pPr algn="ctr"/>
            <a:r>
              <a:rPr lang="en-NL" sz="4000" b="1" dirty="0"/>
              <a:t>We will work on a High Performance Computer (HPC)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BD082-B29A-4E89-5E21-26FFB28E0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433"/>
            <a:ext cx="10515600" cy="1038599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Crunchomics: a shared computer system that provides more memory, CPUs, and storage space than your laptop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226EB2-FD93-9AAC-E1E8-B66B9C5F4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0" t="-9159" r="1767" b="27328"/>
          <a:stretch>
            <a:fillRect/>
          </a:stretch>
        </p:blipFill>
        <p:spPr>
          <a:xfrm>
            <a:off x="697702" y="2729677"/>
            <a:ext cx="10796595" cy="308258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7B2A52-C776-7591-A26B-D3C95BD8DCD6}"/>
              </a:ext>
            </a:extLst>
          </p:cNvPr>
          <p:cNvSpPr txBox="1">
            <a:spLocks/>
          </p:cNvSpPr>
          <p:nvPr/>
        </p:nvSpPr>
        <p:spPr>
          <a:xfrm>
            <a:off x="8050306" y="6512419"/>
            <a:ext cx="10515600" cy="1038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Image by: Nina Dombrowski (IBED, </a:t>
            </a:r>
            <a:r>
              <a:rPr lang="en-GB" sz="1800" dirty="0" err="1">
                <a:solidFill>
                  <a:schemeClr val="bg1">
                    <a:lumMod val="75000"/>
                  </a:schemeClr>
                </a:solidFill>
              </a:rPr>
              <a:t>UvA</a:t>
            </a: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NL" sz="1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0746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84C4F-659D-08E9-3E87-DDAAC819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96571"/>
            <a:ext cx="10515600" cy="1325563"/>
          </a:xfrm>
        </p:spPr>
        <p:txBody>
          <a:bodyPr/>
          <a:lstStyle/>
          <a:p>
            <a:pPr algn="ctr"/>
            <a:r>
              <a:rPr lang="en-NL" b="1" dirty="0"/>
              <a:t>Working on a command line &amp; RStudio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40B02-E26E-04D6-8B04-0170C8A28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521" y="4019655"/>
            <a:ext cx="10515600" cy="2418483"/>
          </a:xfrm>
        </p:spPr>
        <p:txBody>
          <a:bodyPr>
            <a:spAutoFit/>
          </a:bodyPr>
          <a:lstStyle/>
          <a:p>
            <a:r>
              <a:rPr lang="en-NL" dirty="0"/>
              <a:t>Enables us to work with big datasets efficiently</a:t>
            </a:r>
          </a:p>
          <a:p>
            <a:r>
              <a:rPr lang="en-NL" dirty="0"/>
              <a:t>Gives us access to many bioinformatics tools</a:t>
            </a:r>
          </a:p>
          <a:p>
            <a:r>
              <a:rPr lang="en-NL" dirty="0"/>
              <a:t>Allows us to document and reproduce our workflows (in contrast to point-and-click workflows!)</a:t>
            </a:r>
          </a:p>
          <a:p>
            <a:r>
              <a:rPr lang="en-NL" dirty="0"/>
              <a:t>Is actually really fun </a:t>
            </a:r>
            <a:r>
              <a:rPr lang="en-NL" dirty="0">
                <a:sym typeface="Wingdings" pitchFamily="2" charset="2"/>
              </a:rPr>
              <a:t></a:t>
            </a:r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9BC68-1A13-932E-47E1-6B0337570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28992"/>
            <a:ext cx="4690096" cy="2638179"/>
          </a:xfrm>
          <a:prstGeom prst="rect">
            <a:avLst/>
          </a:prstGeom>
        </p:spPr>
      </p:pic>
      <p:pic>
        <p:nvPicPr>
          <p:cNvPr id="6" name="Picture 5" descr="R Studio Server – Information Technology Services">
            <a:extLst>
              <a:ext uri="{FF2B5EF4-FFF2-40B4-BE49-F238E27FC236}">
                <a16:creationId xmlns:a16="http://schemas.microsoft.com/office/drawing/2014/main" id="{59C10D81-FE2B-B314-919C-C117B6392B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839" b="27691"/>
          <a:stretch>
            <a:fillRect/>
          </a:stretch>
        </p:blipFill>
        <p:spPr>
          <a:xfrm>
            <a:off x="6058523" y="1128992"/>
            <a:ext cx="5295277" cy="246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75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708EE-B27F-C1ED-AB45-9321F562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L" sz="4000" b="1" dirty="0"/>
              <a:t>Q1: what is your experience level with coding?</a:t>
            </a:r>
          </a:p>
        </p:txBody>
      </p:sp>
      <p:pic>
        <p:nvPicPr>
          <p:cNvPr id="4" name="Picture 6" descr="A Novice→Expert Model of Learning – David Didau">
            <a:extLst>
              <a:ext uri="{FF2B5EF4-FFF2-40B4-BE49-F238E27FC236}">
                <a16:creationId xmlns:a16="http://schemas.microsoft.com/office/drawing/2014/main" id="{74257259-E5D2-513B-6792-786818972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1877" y="1690688"/>
            <a:ext cx="9168246" cy="435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080E1-430A-E9CA-CC12-2A5739FAC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9887" y="5740811"/>
            <a:ext cx="593992" cy="602428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F9C4B3-D242-263C-D633-4CCE7C1F1635}"/>
              </a:ext>
            </a:extLst>
          </p:cNvPr>
          <p:cNvSpPr txBox="1">
            <a:spLocks/>
          </p:cNvSpPr>
          <p:nvPr/>
        </p:nvSpPr>
        <p:spPr>
          <a:xfrm>
            <a:off x="3207556" y="5740811"/>
            <a:ext cx="593992" cy="602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2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2043F6-0DCF-7A86-F0A9-E7AF3D24B131}"/>
              </a:ext>
            </a:extLst>
          </p:cNvPr>
          <p:cNvSpPr txBox="1">
            <a:spLocks/>
          </p:cNvSpPr>
          <p:nvPr/>
        </p:nvSpPr>
        <p:spPr>
          <a:xfrm>
            <a:off x="4704014" y="5740811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3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DF65DCC-4626-0583-1406-9948833C47A8}"/>
              </a:ext>
            </a:extLst>
          </p:cNvPr>
          <p:cNvSpPr txBox="1">
            <a:spLocks/>
          </p:cNvSpPr>
          <p:nvPr/>
        </p:nvSpPr>
        <p:spPr>
          <a:xfrm>
            <a:off x="6597000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4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BD3F14-39E4-CE17-2E90-905B4CD96CC5}"/>
              </a:ext>
            </a:extLst>
          </p:cNvPr>
          <p:cNvSpPr txBox="1">
            <a:spLocks/>
          </p:cNvSpPr>
          <p:nvPr/>
        </p:nvSpPr>
        <p:spPr>
          <a:xfrm>
            <a:off x="8134503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5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640B30F-111A-277D-0A30-D14D45E7B31D}"/>
              </a:ext>
            </a:extLst>
          </p:cNvPr>
          <p:cNvSpPr txBox="1">
            <a:spLocks/>
          </p:cNvSpPr>
          <p:nvPr/>
        </p:nvSpPr>
        <p:spPr>
          <a:xfrm>
            <a:off x="9697176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8924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5C326-EA0E-42A0-9AC5-9ADF04432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B6B7ED8-50C5-2AEE-FEC7-A72EBC70E47E}"/>
              </a:ext>
            </a:extLst>
          </p:cNvPr>
          <p:cNvGrpSpPr/>
          <p:nvPr/>
        </p:nvGrpSpPr>
        <p:grpSpPr>
          <a:xfrm>
            <a:off x="2497246" y="1122724"/>
            <a:ext cx="8652965" cy="5757139"/>
            <a:chOff x="2639585" y="2879124"/>
            <a:chExt cx="5882486" cy="392165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4A2ACB5-E36D-0B76-78CD-F6B973FB5167}"/>
                </a:ext>
              </a:extLst>
            </p:cNvPr>
            <p:cNvGrpSpPr/>
            <p:nvPr/>
          </p:nvGrpSpPr>
          <p:grpSpPr>
            <a:xfrm>
              <a:off x="2639585" y="2879124"/>
              <a:ext cx="5882486" cy="3921657"/>
              <a:chOff x="2639585" y="2879124"/>
              <a:chExt cx="5882486" cy="3921657"/>
            </a:xfrm>
          </p:grpSpPr>
          <p:pic>
            <p:nvPicPr>
              <p:cNvPr id="9" name="Picture 8" descr="How scary is Us? Scarier than Get Out? Jordan Peele's new movie rated on  the Scaredy Scale.">
                <a:extLst>
                  <a:ext uri="{FF2B5EF4-FFF2-40B4-BE49-F238E27FC236}">
                    <a16:creationId xmlns:a16="http://schemas.microsoft.com/office/drawing/2014/main" id="{356127EB-7A2A-7186-DA41-CECACB5110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39585" y="2879124"/>
                <a:ext cx="5882486" cy="39216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D1B44F8-CB28-EB45-9AAA-2DCBA611CC45}"/>
                  </a:ext>
                </a:extLst>
              </p:cNvPr>
              <p:cNvSpPr/>
              <p:nvPr/>
            </p:nvSpPr>
            <p:spPr>
              <a:xfrm>
                <a:off x="6907427" y="4337222"/>
                <a:ext cx="1285103" cy="206357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32C5092-9DCC-2247-F527-C41A2A5773D8}"/>
                </a:ext>
              </a:extLst>
            </p:cNvPr>
            <p:cNvGrpSpPr/>
            <p:nvPr/>
          </p:nvGrpSpPr>
          <p:grpSpPr>
            <a:xfrm>
              <a:off x="5224890" y="5270157"/>
              <a:ext cx="1352996" cy="765312"/>
              <a:chOff x="5224890" y="5270157"/>
              <a:chExt cx="1352996" cy="76531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F044494-BA6A-EF64-BB34-68B1FB062F83}"/>
                  </a:ext>
                </a:extLst>
              </p:cNvPr>
              <p:cNvSpPr/>
              <p:nvPr/>
            </p:nvSpPr>
            <p:spPr>
              <a:xfrm>
                <a:off x="5292783" y="5270157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F64AA85-6850-C84C-F374-2BF30058F468}"/>
                  </a:ext>
                </a:extLst>
              </p:cNvPr>
              <p:cNvSpPr/>
              <p:nvPr/>
            </p:nvSpPr>
            <p:spPr>
              <a:xfrm>
                <a:off x="5224890" y="5609161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56A8AE-B4A4-5E55-205A-C4051426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8611"/>
            <a:ext cx="10515600" cy="1325563"/>
          </a:xfrm>
        </p:spPr>
        <p:txBody>
          <a:bodyPr>
            <a:normAutofit/>
          </a:bodyPr>
          <a:lstStyle/>
          <a:p>
            <a:r>
              <a:rPr lang="en-NL" sz="3600" b="1" dirty="0"/>
              <a:t>Q2: what is your suspense level regarding coding?</a:t>
            </a:r>
          </a:p>
        </p:txBody>
      </p:sp>
    </p:spTree>
    <p:extLst>
      <p:ext uri="{BB962C8B-B14F-4D97-AF65-F5344CB8AC3E}">
        <p14:creationId xmlns:p14="http://schemas.microsoft.com/office/powerpoint/2010/main" val="2826471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096B49-D2BC-5C25-F777-DBAEE6A43D38}"/>
              </a:ext>
            </a:extLst>
          </p:cNvPr>
          <p:cNvSpPr txBox="1">
            <a:spLocks/>
          </p:cNvSpPr>
          <p:nvPr/>
        </p:nvSpPr>
        <p:spPr>
          <a:xfrm>
            <a:off x="309468" y="2750951"/>
            <a:ext cx="6484410" cy="2910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Carpentries:</a:t>
            </a: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https://</a:t>
            </a:r>
            <a:r>
              <a:rPr lang="en-GB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carpentries.org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Evidence based teaching practices</a:t>
            </a:r>
          </a:p>
          <a:p>
            <a:r>
              <a:rPr lang="en-NL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Live coding, </a:t>
            </a:r>
            <a:r>
              <a:rPr lang="en-NL" b="1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type along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lvl="1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26A02-03BC-40D7-940A-51F63ACCE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274" b="27120"/>
          <a:stretch/>
        </p:blipFill>
        <p:spPr>
          <a:xfrm>
            <a:off x="6821335" y="3022087"/>
            <a:ext cx="5061197" cy="1183994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515152D9-A977-58BE-4145-55DDF8CDC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467" y="-10464"/>
            <a:ext cx="10927737" cy="1325563"/>
          </a:xfrm>
        </p:spPr>
        <p:txBody>
          <a:bodyPr>
            <a:normAutofit/>
          </a:bodyPr>
          <a:lstStyle/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2006356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A3E726-6391-692E-1E66-892E5127F1FC}"/>
              </a:ext>
            </a:extLst>
          </p:cNvPr>
          <p:cNvSpPr txBox="1">
            <a:spLocks/>
          </p:cNvSpPr>
          <p:nvPr/>
        </p:nvSpPr>
        <p:spPr>
          <a:xfrm>
            <a:off x="530124" y="1325563"/>
            <a:ext cx="4997839" cy="5398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 Code of conduct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Growth mindset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 respectful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 to learn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Mistakes are to learn from</a:t>
            </a: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Stickies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Blue = done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Yellow = help needed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Picture 2" descr="Image of action figures in a workshop with Instructor, Co-Instructor, Helper, and Sticky Notes labeled">
            <a:extLst>
              <a:ext uri="{FF2B5EF4-FFF2-40B4-BE49-F238E27FC236}">
                <a16:creationId xmlns:a16="http://schemas.microsoft.com/office/drawing/2014/main" id="{B1BCAAC5-E1C2-F899-ABE3-98F86C63D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882" y="1325563"/>
            <a:ext cx="5881648" cy="4812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2">
            <a:extLst>
              <a:ext uri="{FF2B5EF4-FFF2-40B4-BE49-F238E27FC236}">
                <a16:creationId xmlns:a16="http://schemas.microsoft.com/office/drawing/2014/main" id="{B4C3BCB6-0A7C-BEC6-B577-AC5CBC43FEAC}"/>
              </a:ext>
            </a:extLst>
          </p:cNvPr>
          <p:cNvSpPr txBox="1">
            <a:spLocks/>
          </p:cNvSpPr>
          <p:nvPr/>
        </p:nvSpPr>
        <p:spPr>
          <a:xfrm>
            <a:off x="309468" y="-10464"/>
            <a:ext cx="111150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3727594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BEDDA-575A-52B4-4C84-2AF6F7A6D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NL" b="1" dirty="0"/>
              <a:t>A note on genAI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04BC3-D7A9-7634-E78E-6CF6967E0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8459"/>
            <a:ext cx="11093970" cy="523741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NL" dirty="0"/>
              <a:t>genAI is super useful and powerful for bioinformatics</a:t>
            </a:r>
          </a:p>
          <a:p>
            <a:pPr marL="0" indent="0">
              <a:lnSpc>
                <a:spcPct val="150000"/>
              </a:lnSpc>
              <a:buNone/>
            </a:pPr>
            <a:endParaRPr lang="en-GB" b="1" dirty="0"/>
          </a:p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B</a:t>
            </a:r>
            <a:r>
              <a:rPr lang="en-NL" b="1" dirty="0"/>
              <a:t>ut</a:t>
            </a:r>
          </a:p>
          <a:p>
            <a:pPr>
              <a:lnSpc>
                <a:spcPct val="150000"/>
              </a:lnSpc>
            </a:pPr>
            <a:endParaRPr lang="en-NL" b="1" dirty="0"/>
          </a:p>
          <a:p>
            <a:pPr>
              <a:lnSpc>
                <a:spcPct val="150000"/>
              </a:lnSpc>
            </a:pPr>
            <a:r>
              <a:rPr lang="en-GB" dirty="0"/>
              <a:t>Y</a:t>
            </a:r>
            <a:r>
              <a:rPr lang="en-NL" dirty="0"/>
              <a:t>ou need a solid basic understanding of the tools and way of bioinformatics thinking, before you can harness the power of genAI</a:t>
            </a:r>
          </a:p>
          <a:p>
            <a:pPr>
              <a:lnSpc>
                <a:spcPct val="150000"/>
              </a:lnSpc>
            </a:pPr>
            <a:r>
              <a:rPr lang="en-NL" dirty="0"/>
              <a:t>Use this module to get that understanding!</a:t>
            </a:r>
          </a:p>
        </p:txBody>
      </p:sp>
    </p:spTree>
    <p:extLst>
      <p:ext uri="{BB962C8B-B14F-4D97-AF65-F5344CB8AC3E}">
        <p14:creationId xmlns:p14="http://schemas.microsoft.com/office/powerpoint/2010/main" val="374196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9F343-6B23-5319-17CC-DC7A74AED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7540B-B505-FFB6-FC16-7536F6348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861" y="1825625"/>
            <a:ext cx="10848278" cy="466725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NL" dirty="0"/>
              <a:t>I care about you learning bioinformatics; not about receiving flawless and smooth assignments</a:t>
            </a:r>
          </a:p>
          <a:p>
            <a:pPr>
              <a:lnSpc>
                <a:spcPct val="150000"/>
              </a:lnSpc>
            </a:pPr>
            <a:r>
              <a:rPr lang="en-NL" dirty="0"/>
              <a:t>I don’t want to spend time reading, much less providing feedback on, something written by a machine</a:t>
            </a:r>
          </a:p>
          <a:p>
            <a:pPr>
              <a:lnSpc>
                <a:spcPct val="150000"/>
              </a:lnSpc>
            </a:pPr>
            <a:r>
              <a:rPr lang="en-NL" dirty="0"/>
              <a:t>Doing bioinformatics ‘by hand’ </a:t>
            </a:r>
            <a:r>
              <a:rPr lang="en-NL" i="1" dirty="0"/>
              <a:t>is the learning process. </a:t>
            </a:r>
            <a:r>
              <a:rPr lang="en-NL" dirty="0"/>
              <a:t>Don’t bypass this with AI, we have seen examples of this over the last years.</a:t>
            </a:r>
          </a:p>
        </p:txBody>
      </p:sp>
    </p:spTree>
    <p:extLst>
      <p:ext uri="{BB962C8B-B14F-4D97-AF65-F5344CB8AC3E}">
        <p14:creationId xmlns:p14="http://schemas.microsoft.com/office/powerpoint/2010/main" val="3116568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D7E15-9A4D-86A9-935E-766162C99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3C6D6-F2A0-7AE5-3000-022FEB5A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B56FD-409C-97C4-1E00-0591349D8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</a:t>
            </a:r>
            <a:r>
              <a:rPr lang="en-NL" i="1" dirty="0"/>
              <a:t> </a:t>
            </a:r>
            <a:r>
              <a:rPr lang="en-NL" dirty="0"/>
              <a:t>allowed to use genAI tools to support your learning and understanding of the course materials</a:t>
            </a:r>
          </a:p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 not </a:t>
            </a:r>
            <a:r>
              <a:rPr lang="en-NL" dirty="0"/>
              <a:t>allowed to use genAI to replace your work and critical thinking, and to generate full solutions to assignment. </a:t>
            </a:r>
          </a:p>
          <a:p>
            <a:pPr marL="0" indent="0">
              <a:buNone/>
            </a:pPr>
            <a:endParaRPr lang="en-NL" dirty="0"/>
          </a:p>
          <a:p>
            <a:pPr marL="0" indent="0">
              <a:lnSpc>
                <a:spcPct val="160000"/>
              </a:lnSpc>
              <a:buNone/>
            </a:pPr>
            <a:r>
              <a:rPr lang="en-NL" i="1" dirty="0">
                <a:solidFill>
                  <a:schemeClr val="bg1">
                    <a:lumMod val="65000"/>
                  </a:schemeClr>
                </a:solidFill>
              </a:rPr>
              <a:t>“If we view assignments as a critical tool for learning, both the instructor and the student need to invest their own thoughts and efforts in the process.” (MIT AI and Education report, august 2026)</a:t>
            </a:r>
          </a:p>
        </p:txBody>
      </p:sp>
    </p:spTree>
    <p:extLst>
      <p:ext uri="{BB962C8B-B14F-4D97-AF65-F5344CB8AC3E}">
        <p14:creationId xmlns:p14="http://schemas.microsoft.com/office/powerpoint/2010/main" val="3197813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6F1BB-AB1C-5610-707F-C48E527FE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Today: introduction to command 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42E1D-9921-52F0-5EF8-DAB909ED9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42" y="5547479"/>
            <a:ext cx="10932515" cy="945396"/>
          </a:xfrm>
        </p:spPr>
        <p:txBody>
          <a:bodyPr>
            <a:normAutofit lnSpcReduction="10000"/>
          </a:bodyPr>
          <a:lstStyle/>
          <a:p>
            <a:r>
              <a:rPr lang="en-GB" dirty="0">
                <a:hlinkClick r:id="rId2"/>
              </a:rPr>
              <a:t>https://mishapaauw.github.io/molecular-data-analysis/part0-setup/</a:t>
            </a:r>
            <a:endParaRPr lang="en-GB" dirty="0"/>
          </a:p>
          <a:p>
            <a:r>
              <a:rPr lang="en-GB" dirty="0"/>
              <a:t>(link available on Canvas)</a:t>
            </a:r>
          </a:p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E737D-86B9-8ECA-B437-2461EC370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4" y="1825625"/>
            <a:ext cx="5352252" cy="301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089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3757</TotalTime>
  <Words>719</Words>
  <Application>Microsoft Macintosh PowerPoint</Application>
  <PresentationFormat>Widescreen</PresentationFormat>
  <Paragraphs>106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Helvetica</vt:lpstr>
      <vt:lpstr>Helvetica Neue</vt:lpstr>
      <vt:lpstr>Wingdings</vt:lpstr>
      <vt:lpstr>Office Theme</vt:lpstr>
      <vt:lpstr>Module introduction</vt:lpstr>
      <vt:lpstr>You will learn how to answer questions like…</vt:lpstr>
      <vt:lpstr>PowerPoint Presentation</vt:lpstr>
      <vt:lpstr>Teacher team</vt:lpstr>
      <vt:lpstr>PowerPoint Presentation</vt:lpstr>
      <vt:lpstr>PowerPoint Presentation</vt:lpstr>
      <vt:lpstr>PowerPoint Presentation</vt:lpstr>
      <vt:lpstr>Assessment </vt:lpstr>
      <vt:lpstr>Teaching materials</vt:lpstr>
      <vt:lpstr>We will work on a High Performance Computer (HPC)</vt:lpstr>
      <vt:lpstr>Working on a command line &amp; RStudio</vt:lpstr>
      <vt:lpstr>Q1: what is your experience level with coding?</vt:lpstr>
      <vt:lpstr>Q2: what is your suspense level regarding coding?</vt:lpstr>
      <vt:lpstr>Tutorials will be partly in “Carpentries” style</vt:lpstr>
      <vt:lpstr>PowerPoint Presentation</vt:lpstr>
      <vt:lpstr>A note on genAI #1</vt:lpstr>
      <vt:lpstr>A note on genAI #2</vt:lpstr>
      <vt:lpstr>A note on genAI #3</vt:lpstr>
      <vt:lpstr>Today: introduction to command 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16</cp:revision>
  <dcterms:created xsi:type="dcterms:W3CDTF">2026-07-31T13:58:53Z</dcterms:created>
  <dcterms:modified xsi:type="dcterms:W3CDTF">2026-09-14T15:03:41Z</dcterms:modified>
</cp:coreProperties>
</file>