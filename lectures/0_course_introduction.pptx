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992" r:id="rId3"/>
    <p:sldId id="260" r:id="rId4"/>
    <p:sldId id="258" r:id="rId5"/>
    <p:sldId id="993" r:id="rId6"/>
    <p:sldId id="994" r:id="rId7"/>
    <p:sldId id="995" r:id="rId8"/>
    <p:sldId id="261" r:id="rId9"/>
    <p:sldId id="259" r:id="rId10"/>
    <p:sldId id="257" r:id="rId11"/>
    <p:sldId id="308" r:id="rId12"/>
    <p:sldId id="991" r:id="rId13"/>
    <p:sldId id="996" r:id="rId14"/>
    <p:sldId id="997" r:id="rId15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47"/>
    <p:restoredTop sz="94663"/>
  </p:normalViewPr>
  <p:slideViewPr>
    <p:cSldViewPr snapToGrid="0">
      <p:cViewPr varScale="1">
        <p:scale>
          <a:sx n="95" d="100"/>
          <a:sy n="95" d="100"/>
        </p:scale>
        <p:origin x="200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6BE7C-1E0B-0D83-B947-0F4D9C5294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722247-F3DB-5F3C-A2A0-CDC481808A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2867C-3A90-BC97-08ED-8968EC9C8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26/08/2026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F15A19-3015-6FEA-561E-0B2F43541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D930A8-7CEA-EDA8-4F68-C60C60800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03405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D20C3-FA23-36CB-EB7D-C1413FCFC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DD9ADB-6504-561A-A686-D4EA0B9AA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29518-B019-8C39-7C28-5F04627D5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26/08/2026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750F2-0D66-BA24-823A-923C78D13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88166-EAB5-6CB8-09CA-17131FDC4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80207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29E24-2EB6-DFFA-0DB8-45066A3C2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7FD95-A86E-2067-7CBA-91D387EBB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07FAE-2E80-E4BD-17FB-1371B75DC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26/08/2026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38A72-E892-5FD9-0A69-1B8DFA748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F4BCCC-ECD0-95F7-FFB2-A0E79D5A3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49048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B2DB9-1FDE-9337-4013-D87BD8A21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B5141D-D755-0C88-0AB6-69A1179990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A78253-1266-4FA3-6974-A22F5E54BE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E4D743-2DED-8171-20A8-6A5945944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26/08/2026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274D37-835E-1FEE-7687-332A2E218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7EB47C-4D61-7E91-29E0-65A258ECA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38593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28C30-D904-5A0B-F067-30BD78795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6F5829-5829-1FEA-256E-C36CCDD8E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A01182-AE00-4EE7-A742-7161D20C41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84123D-8447-0370-F1E2-9440F0F14C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B993F7-1AF6-5B03-3684-C82606F7B1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B8B80F-B65E-63FD-52D3-6D4A371AD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26/08/2026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6026AC-3789-D853-35B1-DF3F076E6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F0B810-E854-2698-8B9C-CEC3A84DA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0700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96555-E652-715E-4B26-C996114EF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06D9E0-76AB-67D0-B998-19EE2DB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26/08/2026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2EB12A-180E-8A24-D799-953E77BF8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D5BD7E-1E45-E46D-D90B-FA416F6C4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39794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45C411-E37E-6D72-EB2C-5E201C867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26/08/2026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4FD3DE-20AB-F38F-1580-770097828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61250-2D5B-FCAA-057B-6711442AA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05422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B7A39-48E9-FA5F-A178-2EA350D16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6E01D-82F8-68C2-4BD4-34DDD8C36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86B1B9-CC16-D24E-7674-6AAE61394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313082-8A40-0568-6FB7-8F04D07FA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26/08/2026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E33458-84FE-540D-A7D1-584E13443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EE524A-C2AA-8EDD-C4EA-97EE25F6C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1870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0DCB0-8265-442E-6229-8DA8989EF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5583B3-D957-9EF2-3B73-66327A6EDC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9B0E43-4D00-3EB0-FCC8-C97D649586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BA32A-3A6E-4B30-0D15-B09F8B174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26/08/2026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439227-15E4-37F8-7EA8-D52A09627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C4A96-29F4-751E-DFA5-122117DA2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38504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A8A70-1EF6-F4A0-AFC3-0F6B9A4DB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2997AC-68B1-9D93-FA0C-585627A74C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39B9C-DD01-C799-9CA6-FE72E0CE6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26/08/2026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6B66B-C1CD-96E6-D41C-72FDE047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42A0-DD0F-0261-598B-F3BA1EF20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00098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D91D75-3D98-F0DB-D1BF-CC65DBECA2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0240A-8B2C-0D44-1ED1-3D9CD793EC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4E571D-313C-6AEB-CF57-09600BB56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26/08/2026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2F5275-29D2-99F6-4916-5C42D96A3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6F8D95-86E5-ACF3-C33C-DC8B8E2C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26305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32F0BB-7815-135F-2472-C2002F96D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9D27F-1C71-5E1A-80F4-C0A6DEF0D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B9189-B421-2D60-FBC9-1E4B668413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15D9CD-A6C7-AE4E-875B-351995A2D2A0}" type="datetimeFigureOut">
              <a:rPr lang="en-NL" smtClean="0"/>
              <a:t>26/08/2026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00B002-A05A-3897-5064-7C94A7DF55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4601E-7CD4-088B-95A3-A31D3D8FDD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22187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mailto:a.d.j.vandijk@uva.nl" TargetMode="External"/><Relationship Id="rId7" Type="http://schemas.openxmlformats.org/officeDocument/2006/relationships/hyperlink" Target="mailto:m.bliek@uva.nl" TargetMode="External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hyperlink" Target="mailto:m.m.paauw@uva.nl" TargetMode="External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jpg"/><Relationship Id="rId5" Type="http://schemas.openxmlformats.org/officeDocument/2006/relationships/image" Target="../media/image5.pn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960C9-7ED4-B061-72D6-97EB69EB1E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NL" dirty="0"/>
              <a:t>Module 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97D945-AD8E-2A52-DCFC-CBF3CC3736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NL" dirty="0"/>
              <a:t>Molecular Data Analysis &amp; Bioinformatics</a:t>
            </a:r>
          </a:p>
          <a:p>
            <a:r>
              <a:rPr lang="en-NL" dirty="0"/>
              <a:t>Lecture 28 sept 2026</a:t>
            </a:r>
          </a:p>
        </p:txBody>
      </p:sp>
    </p:spTree>
    <p:extLst>
      <p:ext uri="{BB962C8B-B14F-4D97-AF65-F5344CB8AC3E}">
        <p14:creationId xmlns:p14="http://schemas.microsoft.com/office/powerpoint/2010/main" val="300170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BCE6CE1-96FC-C870-E3D0-88FAC4E812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228" t="10203" r="4130" b="22398"/>
          <a:stretch>
            <a:fillRect/>
          </a:stretch>
        </p:blipFill>
        <p:spPr>
          <a:xfrm rot="5400000">
            <a:off x="8645341" y="2954905"/>
            <a:ext cx="3117307" cy="13536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80338E-292F-EDA2-AE02-CCDACA87F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You will learn how to answer questions like…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674255-EA45-387B-5880-2F9047E19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00" y="1893107"/>
            <a:ext cx="9734176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NL" dirty="0"/>
              <a:t>What is the molecular mechanism of </a:t>
            </a:r>
            <a:r>
              <a:rPr lang="en-NL" u="sng" dirty="0"/>
              <a:t>color polymorphisms </a:t>
            </a:r>
            <a:r>
              <a:rPr lang="en-NL" dirty="0"/>
              <a:t>in </a:t>
            </a:r>
            <a:r>
              <a:rPr lang="en-NL" u="sng" dirty="0"/>
              <a:t>stick insects</a:t>
            </a:r>
            <a:r>
              <a:rPr lang="en-NL" dirty="0"/>
              <a:t>?</a:t>
            </a:r>
          </a:p>
          <a:p>
            <a:pPr>
              <a:lnSpc>
                <a:spcPct val="150000"/>
              </a:lnSpc>
            </a:pPr>
            <a:r>
              <a:rPr lang="en-NL" dirty="0"/>
              <a:t>Fill in your favourite phenotype and favourite organism</a:t>
            </a:r>
          </a:p>
          <a:p>
            <a:pPr>
              <a:lnSpc>
                <a:spcPct val="150000"/>
              </a:lnSpc>
            </a:pPr>
            <a:r>
              <a:rPr lang="en-NL" dirty="0"/>
              <a:t>Bioinformatics tool you learn here will be useful in almost all fields in biology, but also in industry.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8B4409-CF09-7565-EA8B-911B934B6F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91" t="11631" r="52777" b="20970"/>
          <a:stretch>
            <a:fillRect/>
          </a:stretch>
        </p:blipFill>
        <p:spPr>
          <a:xfrm rot="5400000">
            <a:off x="9795812" y="2378842"/>
            <a:ext cx="3117307" cy="1268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298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implified schematic of central dogma, showing the sequences of the molecules involved.&#10;&#10;The two strands of DNA have the following sequences:&#10;&#10;5'-ATGATCTCGTAA-3'&#10;3'-TACTAGAGCATT-5'&#10;&#10;Transcription of one of the strands of DNA produces an mRNA that nearly matches the other strand of DNA in sequence. However, due to a biochemical difference between DNA and RNA, the Ts of DNA are replaced with Us in the mRNA. The mRNA sequence is:&#10;&#10;5'-AUGAUCUCGUAA-5'&#10;&#10;Translation involves reading the mRNA nucleotides in groups of three; each group specifies an amino acid (or provides a stop signal indicating that translation is finished).&#10;&#10;3'-AUG AUC UCG UAA-5'&#10;&#10;AUG $\rightarrow$ Methionine&#10;AUC $\rightarrow$ Isoleucine&#10;UCG $\rightarrow$ Serine&#10;UAA $\rightarrow$ &quot;Stop&quot;&#10;&#10;Polypeptide sequence: (N-terminus) Methionine-Isoleucine-Serine (C-terminus)">
            <a:extLst>
              <a:ext uri="{FF2B5EF4-FFF2-40B4-BE49-F238E27FC236}">
                <a16:creationId xmlns:a16="http://schemas.microsoft.com/office/drawing/2014/main" id="{719FEBA0-A75A-9F29-7F53-86B28DF32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647" y="2095634"/>
            <a:ext cx="6479195" cy="26415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727049-617A-ACE0-E332-4DC8F1107E96}"/>
              </a:ext>
            </a:extLst>
          </p:cNvPr>
          <p:cNvSpPr txBox="1"/>
          <p:nvPr/>
        </p:nvSpPr>
        <p:spPr>
          <a:xfrm>
            <a:off x="739588" y="2221656"/>
            <a:ext cx="5910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Genome assembly &amp; annotation</a:t>
            </a:r>
          </a:p>
          <a:p>
            <a:pPr algn="r"/>
            <a:r>
              <a:rPr lang="en-US" i="1" dirty="0">
                <a:latin typeface="Helvetica" pitchFamily="2" charset="0"/>
              </a:rPr>
              <a:t>Which genetic features does this organism have?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F2DB94A-4724-7E45-F1FB-34A673ACD9A2}"/>
              </a:ext>
            </a:extLst>
          </p:cNvPr>
          <p:cNvCxnSpPr>
            <a:cxnSpLocks/>
          </p:cNvCxnSpPr>
          <p:nvPr/>
        </p:nvCxnSpPr>
        <p:spPr>
          <a:xfrm>
            <a:off x="6905544" y="2644267"/>
            <a:ext cx="484909" cy="21306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2A99D68-8DBB-7042-78DB-EFE189549892}"/>
              </a:ext>
            </a:extLst>
          </p:cNvPr>
          <p:cNvCxnSpPr>
            <a:cxnSpLocks/>
          </p:cNvCxnSpPr>
          <p:nvPr/>
        </p:nvCxnSpPr>
        <p:spPr>
          <a:xfrm>
            <a:off x="9253844" y="4873301"/>
            <a:ext cx="0" cy="3486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6C90352-46FD-3068-F209-7FCB22F1734A}"/>
              </a:ext>
            </a:extLst>
          </p:cNvPr>
          <p:cNvSpPr txBox="1"/>
          <p:nvPr/>
        </p:nvSpPr>
        <p:spPr>
          <a:xfrm>
            <a:off x="7841669" y="5317141"/>
            <a:ext cx="2824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>
                <a:latin typeface="Helvetica" pitchFamily="2" charset="0"/>
              </a:rPr>
              <a:t>Phenotype of interest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5F91070-2E7D-D99A-1A91-9A31803E14FF}"/>
              </a:ext>
            </a:extLst>
          </p:cNvPr>
          <p:cNvCxnSpPr>
            <a:cxnSpLocks/>
          </p:cNvCxnSpPr>
          <p:nvPr/>
        </p:nvCxnSpPr>
        <p:spPr>
          <a:xfrm>
            <a:off x="6905545" y="3505756"/>
            <a:ext cx="484909" cy="18205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6FCFF9C-3B16-26C3-5E39-DEAAE122BF7A}"/>
              </a:ext>
            </a:extLst>
          </p:cNvPr>
          <p:cNvSpPr txBox="1"/>
          <p:nvPr/>
        </p:nvSpPr>
        <p:spPr>
          <a:xfrm>
            <a:off x="167391" y="3042501"/>
            <a:ext cx="6479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RNA-seq</a:t>
            </a:r>
          </a:p>
          <a:p>
            <a:pPr algn="r"/>
            <a:r>
              <a:rPr lang="en-US" i="1" dirty="0">
                <a:latin typeface="Helvetica" pitchFamily="2" charset="0"/>
              </a:rPr>
              <a:t>Which genes are affected by a certain treatment or mutation?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CEFB45-F265-F65D-0CA2-62BA57FFB2D9}"/>
              </a:ext>
            </a:extLst>
          </p:cNvPr>
          <p:cNvSpPr txBox="1"/>
          <p:nvPr/>
        </p:nvSpPr>
        <p:spPr>
          <a:xfrm>
            <a:off x="167391" y="3835730"/>
            <a:ext cx="6479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Single-cell RNA-seq</a:t>
            </a:r>
          </a:p>
          <a:p>
            <a:pPr algn="r"/>
            <a:r>
              <a:rPr lang="en-US" i="1" dirty="0">
                <a:latin typeface="Helvetica" pitchFamily="2" charset="0"/>
              </a:rPr>
              <a:t>Specialized cell types perform specialized functions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A13DD3A-9F4D-0DED-C96B-458F41E16664}"/>
              </a:ext>
            </a:extLst>
          </p:cNvPr>
          <p:cNvCxnSpPr>
            <a:cxnSpLocks/>
          </p:cNvCxnSpPr>
          <p:nvPr/>
        </p:nvCxnSpPr>
        <p:spPr>
          <a:xfrm flipV="1">
            <a:off x="6905545" y="3926756"/>
            <a:ext cx="484909" cy="23213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EAB05D4-A3C2-0F00-31FF-047EB6B44964}"/>
              </a:ext>
            </a:extLst>
          </p:cNvPr>
          <p:cNvSpPr txBox="1"/>
          <p:nvPr/>
        </p:nvSpPr>
        <p:spPr>
          <a:xfrm>
            <a:off x="497810" y="695604"/>
            <a:ext cx="111963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latin typeface="Helvetica" pitchFamily="2" charset="0"/>
              </a:rPr>
              <a:t>Module: Molecular Data Analysis &amp; Bioinformatics</a:t>
            </a:r>
          </a:p>
        </p:txBody>
      </p:sp>
    </p:spTree>
    <p:extLst>
      <p:ext uri="{BB962C8B-B14F-4D97-AF65-F5344CB8AC3E}">
        <p14:creationId xmlns:p14="http://schemas.microsoft.com/office/powerpoint/2010/main" val="687971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872A7-5B03-9780-56BF-8EE954C40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188" y="0"/>
            <a:ext cx="10515600" cy="1325563"/>
          </a:xfrm>
        </p:spPr>
        <p:txBody>
          <a:bodyPr/>
          <a:lstStyle/>
          <a:p>
            <a:r>
              <a:rPr lang="en-NL" b="1" dirty="0"/>
              <a:t>Teacher team</a:t>
            </a:r>
          </a:p>
        </p:txBody>
      </p:sp>
      <p:pic>
        <p:nvPicPr>
          <p:cNvPr id="4" name="Content Placeholder 3" descr="Inaugural lecture by Aalt-Jan van Dijk - SILS - University of Amsterdam">
            <a:extLst>
              <a:ext uri="{FF2B5EF4-FFF2-40B4-BE49-F238E27FC236}">
                <a16:creationId xmlns:a16="http://schemas.microsoft.com/office/drawing/2014/main" id="{E646BB66-8CF2-4C56-1140-0437C84B48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5698" t="5908" r="13797" b="9355"/>
          <a:stretch>
            <a:fillRect/>
          </a:stretch>
        </p:blipFill>
        <p:spPr>
          <a:xfrm>
            <a:off x="8565776" y="1164414"/>
            <a:ext cx="2689412" cy="2507456"/>
          </a:xfrm>
          <a:prstGeom prst="ellipse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149074C-CC45-7F24-77EA-0D457FB224C0}"/>
              </a:ext>
            </a:extLst>
          </p:cNvPr>
          <p:cNvSpPr txBox="1">
            <a:spLocks/>
          </p:cNvSpPr>
          <p:nvPr/>
        </p:nvSpPr>
        <p:spPr>
          <a:xfrm>
            <a:off x="8516470" y="4015146"/>
            <a:ext cx="3375213" cy="185339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Prof. Aalt-Jan van Dijk</a:t>
            </a:r>
          </a:p>
          <a:p>
            <a:pPr marL="0" indent="0">
              <a:buNone/>
            </a:pPr>
            <a:r>
              <a:rPr lang="en-NL" sz="1800" dirty="0">
                <a:hlinkClick r:id="rId3"/>
              </a:rPr>
              <a:t>a.d.j.vandijk@uva.nl</a:t>
            </a:r>
            <a:endParaRPr lang="en-NL" sz="1800" b="1" dirty="0"/>
          </a:p>
          <a:p>
            <a:pPr marL="0" indent="0">
              <a:buNone/>
            </a:pPr>
            <a:r>
              <a:rPr lang="en-NL" sz="1800" dirty="0"/>
              <a:t>Biosystems Data Analysis</a:t>
            </a:r>
          </a:p>
          <a:p>
            <a:pPr marL="0" indent="0">
              <a:buNone/>
            </a:pPr>
            <a:r>
              <a:rPr lang="en-NL" sz="1800" i="1" dirty="0"/>
              <a:t>Single-cell transcriptomics</a:t>
            </a:r>
          </a:p>
          <a:p>
            <a:pPr marL="0" indent="0">
              <a:buNone/>
            </a:pPr>
            <a:r>
              <a:rPr lang="en-NL" sz="1800" i="1" dirty="0"/>
              <a:t>Gene regulatory networks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969C72-C745-A4D3-C7EF-3665EF5EA7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725" y="1063399"/>
            <a:ext cx="2608471" cy="2608471"/>
          </a:xfrm>
          <a:prstGeom prst="ellipse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D8D2A5C-2C01-57D2-2680-4514AC35601C}"/>
              </a:ext>
            </a:extLst>
          </p:cNvPr>
          <p:cNvSpPr txBox="1">
            <a:spLocks/>
          </p:cNvSpPr>
          <p:nvPr/>
        </p:nvSpPr>
        <p:spPr>
          <a:xfrm>
            <a:off x="719419" y="4064372"/>
            <a:ext cx="3375213" cy="260847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Misha Paauw (coordinator)</a:t>
            </a:r>
          </a:p>
          <a:p>
            <a:pPr marL="0" indent="0">
              <a:buNone/>
            </a:pPr>
            <a:r>
              <a:rPr lang="en-NL" sz="1800" dirty="0">
                <a:hlinkClick r:id="rId5"/>
              </a:rPr>
              <a:t>m.m.paauw@uva.nl</a:t>
            </a:r>
            <a:endParaRPr lang="en-NL" sz="1800" b="1" dirty="0"/>
          </a:p>
          <a:p>
            <a:pPr marL="0" indent="0">
              <a:buNone/>
            </a:pPr>
            <a:r>
              <a:rPr lang="en-NL" sz="1800" dirty="0"/>
              <a:t>Plant Physiology</a:t>
            </a:r>
          </a:p>
          <a:p>
            <a:pPr marL="0" indent="0">
              <a:buNone/>
            </a:pPr>
            <a:r>
              <a:rPr lang="en-NL" sz="1800" i="1" dirty="0"/>
              <a:t>Intro to command line</a:t>
            </a:r>
          </a:p>
          <a:p>
            <a:pPr marL="0" indent="0">
              <a:buNone/>
            </a:pPr>
            <a:r>
              <a:rPr lang="en-NL" sz="1800" i="1" dirty="0"/>
              <a:t>Data visualization</a:t>
            </a:r>
          </a:p>
          <a:p>
            <a:pPr marL="0" indent="0">
              <a:buNone/>
            </a:pPr>
            <a:r>
              <a:rPr lang="en-NL" sz="1800" i="1" dirty="0"/>
              <a:t>RNA-seq</a:t>
            </a:r>
          </a:p>
          <a:p>
            <a:pPr marL="0" indent="0">
              <a:buNone/>
            </a:pPr>
            <a:r>
              <a:rPr lang="en-NL" sz="1800" i="1" dirty="0"/>
              <a:t>Genome assembly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F38A73F-DA12-D56F-71C6-92DCBA2CAC7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1144" b="7351"/>
          <a:stretch>
            <a:fillRect/>
          </a:stretch>
        </p:blipFill>
        <p:spPr>
          <a:xfrm>
            <a:off x="4669736" y="1164414"/>
            <a:ext cx="2603500" cy="2608471"/>
          </a:xfrm>
          <a:prstGeom prst="ellipse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7CA1EFA0-103D-9556-94B8-93154C835133}"/>
              </a:ext>
            </a:extLst>
          </p:cNvPr>
          <p:cNvSpPr txBox="1">
            <a:spLocks/>
          </p:cNvSpPr>
          <p:nvPr/>
        </p:nvSpPr>
        <p:spPr>
          <a:xfrm>
            <a:off x="4623545" y="4064372"/>
            <a:ext cx="3375213" cy="260847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Tijs Bliek</a:t>
            </a:r>
          </a:p>
          <a:p>
            <a:pPr marL="0" indent="0">
              <a:buNone/>
            </a:pPr>
            <a:r>
              <a:rPr lang="en-NL" sz="1800" dirty="0">
                <a:hlinkClick r:id="rId7"/>
              </a:rPr>
              <a:t>m.bliek@uva.nl</a:t>
            </a:r>
            <a:endParaRPr lang="en-NL" sz="1800" dirty="0"/>
          </a:p>
          <a:p>
            <a:pPr marL="0" indent="0">
              <a:buNone/>
            </a:pPr>
            <a:r>
              <a:rPr lang="en-NL" sz="1800" dirty="0"/>
              <a:t>Plant Development &amp; Genetics</a:t>
            </a:r>
          </a:p>
          <a:p>
            <a:pPr marL="0" indent="0">
              <a:buNone/>
            </a:pPr>
            <a:r>
              <a:rPr lang="en-NL" sz="1800" i="1" dirty="0"/>
              <a:t>Intro to command line</a:t>
            </a:r>
          </a:p>
          <a:p>
            <a:pPr marL="0" indent="0">
              <a:buNone/>
            </a:pPr>
            <a:r>
              <a:rPr lang="en-NL" sz="1800" i="1" dirty="0"/>
              <a:t>Data visualization</a:t>
            </a:r>
          </a:p>
          <a:p>
            <a:pPr marL="0" indent="0">
              <a:buNone/>
            </a:pPr>
            <a:r>
              <a:rPr lang="en-NL" sz="1800" i="1" dirty="0"/>
              <a:t>RNA-seq</a:t>
            </a:r>
          </a:p>
          <a:p>
            <a:pPr marL="0" indent="0">
              <a:buNone/>
            </a:pPr>
            <a:r>
              <a:rPr lang="en-NL" sz="1800" i="1" dirty="0"/>
              <a:t>Genome assembly</a:t>
            </a:r>
          </a:p>
        </p:txBody>
      </p:sp>
    </p:spTree>
    <p:extLst>
      <p:ext uri="{BB962C8B-B14F-4D97-AF65-F5344CB8AC3E}">
        <p14:creationId xmlns:p14="http://schemas.microsoft.com/office/powerpoint/2010/main" val="1974968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6CB94-10D7-D06C-602C-4C44DB0C5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37E3B8-2B2E-21C2-AB44-427881BB4F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69" t="4725" r="2204"/>
          <a:stretch>
            <a:fillRect/>
          </a:stretch>
        </p:blipFill>
        <p:spPr>
          <a:xfrm>
            <a:off x="114270" y="0"/>
            <a:ext cx="5374362" cy="46554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2B5370-C34F-5E3A-7757-E5A09118B9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823" r="3406"/>
          <a:stretch>
            <a:fillRect/>
          </a:stretch>
        </p:blipFill>
        <p:spPr>
          <a:xfrm>
            <a:off x="5636212" y="2425629"/>
            <a:ext cx="5374362" cy="437753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134432B-7AC2-BFEF-5773-36A23682CB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232" y="1922106"/>
            <a:ext cx="1506894" cy="1506894"/>
          </a:xfrm>
          <a:prstGeom prst="ellipse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9815D28-0FFD-9803-25BA-D9EB9F826DD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1144" b="7351"/>
          <a:stretch>
            <a:fillRect/>
          </a:stretch>
        </p:blipFill>
        <p:spPr>
          <a:xfrm>
            <a:off x="3310706" y="1922106"/>
            <a:ext cx="1504022" cy="1506894"/>
          </a:xfrm>
          <a:prstGeom prst="ellipse">
            <a:avLst/>
          </a:prstGeom>
        </p:spPr>
      </p:pic>
      <p:pic>
        <p:nvPicPr>
          <p:cNvPr id="25" name="Content Placeholder 3" descr="Inaugural lecture by Aalt-Jan van Dijk - SILS - University of Amsterdam">
            <a:extLst>
              <a:ext uri="{FF2B5EF4-FFF2-40B4-BE49-F238E27FC236}">
                <a16:creationId xmlns:a16="http://schemas.microsoft.com/office/drawing/2014/main" id="{5C33ED2E-CEDF-2500-E4EB-AE73A1DAC8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rcRect l="25698" t="5908" r="13797" b="9355"/>
          <a:stretch>
            <a:fillRect/>
          </a:stretch>
        </p:blipFill>
        <p:spPr>
          <a:xfrm>
            <a:off x="7933764" y="4059424"/>
            <a:ext cx="1733328" cy="1616057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2180767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1B1F3-88A0-F20B-32E7-67E641E46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2B39C4-52C5-4B62-E10A-9BD7C3901A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69" t="4725" r="2204"/>
          <a:stretch>
            <a:fillRect/>
          </a:stretch>
        </p:blipFill>
        <p:spPr>
          <a:xfrm>
            <a:off x="114270" y="0"/>
            <a:ext cx="5374362" cy="465541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D54B27F-0377-4946-9403-05B803AD45A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823" r="3406"/>
          <a:stretch>
            <a:fillRect/>
          </a:stretch>
        </p:blipFill>
        <p:spPr>
          <a:xfrm>
            <a:off x="5636212" y="2425629"/>
            <a:ext cx="5374362" cy="437753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6253B2-8F2E-D473-77B8-8E65D9E29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3024" y="555329"/>
            <a:ext cx="5154706" cy="1325563"/>
          </a:xfrm>
        </p:spPr>
        <p:txBody>
          <a:bodyPr/>
          <a:lstStyle/>
          <a:p>
            <a:r>
              <a:rPr lang="en-NL" dirty="0"/>
              <a:t>Schedule &amp; assesment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442613-A333-151E-2CF8-0E0B101226D7}"/>
              </a:ext>
            </a:extLst>
          </p:cNvPr>
          <p:cNvSpPr txBox="1"/>
          <p:nvPr/>
        </p:nvSpPr>
        <p:spPr>
          <a:xfrm>
            <a:off x="3462606" y="5187244"/>
            <a:ext cx="1647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Assessment</a:t>
            </a:r>
            <a:endParaRPr lang="en-US" i="1" dirty="0">
              <a:latin typeface="Helvetica" pitchFamily="2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4CBDCFB-86C2-45AD-58AA-3AAFD07F5CB5}"/>
              </a:ext>
            </a:extLst>
          </p:cNvPr>
          <p:cNvCxnSpPr>
            <a:cxnSpLocks/>
          </p:cNvCxnSpPr>
          <p:nvPr/>
        </p:nvCxnSpPr>
        <p:spPr>
          <a:xfrm flipH="1" flipV="1">
            <a:off x="1929654" y="4995665"/>
            <a:ext cx="1532952" cy="37624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3C4A069D-CEF3-C3C9-13CE-5170F63F5FC7}"/>
              </a:ext>
            </a:extLst>
          </p:cNvPr>
          <p:cNvSpPr/>
          <p:nvPr/>
        </p:nvSpPr>
        <p:spPr>
          <a:xfrm>
            <a:off x="-33310" y="3549312"/>
            <a:ext cx="2595282" cy="1139123"/>
          </a:xfrm>
          <a:prstGeom prst="ellipse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5060021-58A6-9F3C-2BCE-041FC0C82BC0}"/>
              </a:ext>
            </a:extLst>
          </p:cNvPr>
          <p:cNvSpPr/>
          <p:nvPr/>
        </p:nvSpPr>
        <p:spPr>
          <a:xfrm>
            <a:off x="6642849" y="5727673"/>
            <a:ext cx="1434352" cy="1139123"/>
          </a:xfrm>
          <a:prstGeom prst="ellipse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0EAF45-6F01-F3C6-002A-BDFA62DD4851}"/>
              </a:ext>
            </a:extLst>
          </p:cNvPr>
          <p:cNvCxnSpPr>
            <a:cxnSpLocks/>
          </p:cNvCxnSpPr>
          <p:nvPr/>
        </p:nvCxnSpPr>
        <p:spPr>
          <a:xfrm>
            <a:off x="5029214" y="5484141"/>
            <a:ext cx="1613635" cy="4417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719205A-E377-145D-661C-2BD22BFE9E65}"/>
              </a:ext>
            </a:extLst>
          </p:cNvPr>
          <p:cNvCxnSpPr>
            <a:cxnSpLocks/>
          </p:cNvCxnSpPr>
          <p:nvPr/>
        </p:nvCxnSpPr>
        <p:spPr>
          <a:xfrm flipV="1">
            <a:off x="4995558" y="4734859"/>
            <a:ext cx="1100442" cy="51123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8AF530A4-FCCF-887C-8D3D-2BAA4082CCFB}"/>
              </a:ext>
            </a:extLst>
          </p:cNvPr>
          <p:cNvSpPr/>
          <p:nvPr/>
        </p:nvSpPr>
        <p:spPr>
          <a:xfrm>
            <a:off x="5587232" y="4194695"/>
            <a:ext cx="1434352" cy="460718"/>
          </a:xfrm>
          <a:prstGeom prst="ellipse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D95920-47E9-0396-C51F-CF40FFD29E21}"/>
              </a:ext>
            </a:extLst>
          </p:cNvPr>
          <p:cNvSpPr txBox="1"/>
          <p:nvPr/>
        </p:nvSpPr>
        <p:spPr>
          <a:xfrm>
            <a:off x="769820" y="5556576"/>
            <a:ext cx="46090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2x analyzing a new dataset; </a:t>
            </a:r>
            <a:r>
              <a:rPr lang="en-US" dirty="0">
                <a:latin typeface="Helvetica" pitchFamily="2" charset="0"/>
              </a:rPr>
              <a:t>hand in code + interpretations</a:t>
            </a:r>
          </a:p>
          <a:p>
            <a:r>
              <a:rPr lang="en-US" b="1" dirty="0">
                <a:latin typeface="Helvetica" pitchFamily="2" charset="0"/>
              </a:rPr>
              <a:t>1x mini (5min) oral exam</a:t>
            </a:r>
            <a:r>
              <a:rPr lang="en-US" dirty="0">
                <a:latin typeface="Helvetica" pitchFamily="2" charset="0"/>
              </a:rPr>
              <a:t>; pass or fail (and try again)</a:t>
            </a:r>
            <a:endParaRPr lang="en-US" i="1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72487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43CBA-1FD1-BEEC-B69A-21A384C13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Teaching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14E1A-1607-6D3C-9D74-80825DB01F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L" dirty="0"/>
              <a:t>Lectures: Canvas</a:t>
            </a:r>
          </a:p>
          <a:p>
            <a:r>
              <a:rPr lang="en-NL" dirty="0"/>
              <a:t>Tutorial materials:</a:t>
            </a:r>
          </a:p>
          <a:p>
            <a:pPr lvl="1"/>
            <a:r>
              <a:rPr lang="en-NL" dirty="0"/>
              <a:t>Online (for my tutorials): </a:t>
            </a:r>
            <a:r>
              <a:rPr lang="en-GB" dirty="0"/>
              <a:t>https://</a:t>
            </a:r>
            <a:r>
              <a:rPr lang="en-GB" dirty="0" err="1"/>
              <a:t>mishapaauw.github.io</a:t>
            </a:r>
            <a:r>
              <a:rPr lang="en-GB" dirty="0"/>
              <a:t>/molecular-data-analysis/</a:t>
            </a:r>
            <a:endParaRPr lang="en-NL" dirty="0"/>
          </a:p>
          <a:p>
            <a:pPr lvl="1"/>
            <a:r>
              <a:rPr lang="en-NL" dirty="0"/>
              <a:t>Canvas (For Aalt-Jan’s tutorials)</a:t>
            </a:r>
          </a:p>
        </p:txBody>
      </p:sp>
    </p:spTree>
    <p:extLst>
      <p:ext uri="{BB962C8B-B14F-4D97-AF65-F5344CB8AC3E}">
        <p14:creationId xmlns:p14="http://schemas.microsoft.com/office/powerpoint/2010/main" val="5216394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A0CBB-9366-A531-C9B0-B8EE8802A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222870"/>
            <a:ext cx="11353800" cy="1325563"/>
          </a:xfrm>
        </p:spPr>
        <p:txBody>
          <a:bodyPr>
            <a:normAutofit/>
          </a:bodyPr>
          <a:lstStyle/>
          <a:p>
            <a:pPr algn="ctr"/>
            <a:r>
              <a:rPr lang="en-NL" sz="4000" dirty="0"/>
              <a:t>We will work on a High Performance Computer (HPC)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BD082-B29A-4E89-5E21-26FFB28E02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8433"/>
            <a:ext cx="10515600" cy="1038599"/>
          </a:xfrm>
        </p:spPr>
        <p:txBody>
          <a:bodyPr/>
          <a:lstStyle/>
          <a:p>
            <a:pPr marL="0" indent="0">
              <a:buNone/>
            </a:pPr>
            <a:r>
              <a:rPr lang="en-NL" dirty="0"/>
              <a:t>Crunchomics: a shared computer system that provides more memory, CPUs, and storage space than your laptop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226EB2-FD93-9AAC-E1E8-B66B9C5F4F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30" t="-9159" r="1767" b="27328"/>
          <a:stretch>
            <a:fillRect/>
          </a:stretch>
        </p:blipFill>
        <p:spPr>
          <a:xfrm>
            <a:off x="697702" y="2729677"/>
            <a:ext cx="10796595" cy="3082583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F7B2A52-C776-7591-A26B-D3C95BD8DCD6}"/>
              </a:ext>
            </a:extLst>
          </p:cNvPr>
          <p:cNvSpPr txBox="1">
            <a:spLocks/>
          </p:cNvSpPr>
          <p:nvPr/>
        </p:nvSpPr>
        <p:spPr>
          <a:xfrm>
            <a:off x="8050306" y="6512419"/>
            <a:ext cx="10515600" cy="10385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1800" dirty="0">
                <a:solidFill>
                  <a:schemeClr val="bg1">
                    <a:lumMod val="75000"/>
                  </a:schemeClr>
                </a:solidFill>
              </a:rPr>
              <a:t>Image by: Nina Dombrowski (IBED, </a:t>
            </a:r>
            <a:r>
              <a:rPr lang="en-GB" sz="1800" dirty="0" err="1">
                <a:solidFill>
                  <a:schemeClr val="bg1">
                    <a:lumMod val="75000"/>
                  </a:schemeClr>
                </a:solidFill>
              </a:rPr>
              <a:t>UvA</a:t>
            </a:r>
            <a:r>
              <a:rPr lang="en-GB" sz="1800" dirty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NL" sz="18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07469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84C4F-659D-08E9-3E87-DDAAC8196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96571"/>
            <a:ext cx="10515600" cy="1325563"/>
          </a:xfrm>
        </p:spPr>
        <p:txBody>
          <a:bodyPr/>
          <a:lstStyle/>
          <a:p>
            <a:pPr algn="ctr"/>
            <a:r>
              <a:rPr lang="en-NL" dirty="0"/>
              <a:t>Working on a command 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40B02-E26E-04D6-8B04-0170C8A289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521" y="4019655"/>
            <a:ext cx="10515600" cy="2418483"/>
          </a:xfrm>
        </p:spPr>
        <p:txBody>
          <a:bodyPr>
            <a:spAutoFit/>
          </a:bodyPr>
          <a:lstStyle/>
          <a:p>
            <a:r>
              <a:rPr lang="en-NL" dirty="0"/>
              <a:t>Enables us to work with big datasets efficiently</a:t>
            </a:r>
          </a:p>
          <a:p>
            <a:r>
              <a:rPr lang="en-NL" dirty="0"/>
              <a:t>Gives us access to many bioinformatics tools</a:t>
            </a:r>
          </a:p>
          <a:p>
            <a:r>
              <a:rPr lang="en-NL" dirty="0"/>
              <a:t>Allows us to document and reproduce our workflows (in contrast to point-and-click workflows!)</a:t>
            </a:r>
          </a:p>
          <a:p>
            <a:r>
              <a:rPr lang="en-NL" dirty="0"/>
              <a:t>Is actually really fun </a:t>
            </a:r>
            <a:r>
              <a:rPr lang="en-NL" dirty="0">
                <a:sym typeface="Wingdings" pitchFamily="2" charset="2"/>
              </a:rPr>
              <a:t></a:t>
            </a:r>
            <a:endParaRPr lang="en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19BC68-1A13-932E-47E1-6B0337570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952" y="1128992"/>
            <a:ext cx="4690096" cy="2638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375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A4E11-4AA7-12C1-3BB3-8B86FFA72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43882-B3EC-B077-2ECD-CE6C4A23FF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41C396-D277-1702-FF5E-B66F7A6C0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681038"/>
            <a:ext cx="9061483" cy="4248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162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7096B49-D2BC-5C25-F777-DBAEE6A43D38}"/>
              </a:ext>
            </a:extLst>
          </p:cNvPr>
          <p:cNvSpPr txBox="1">
            <a:spLocks/>
          </p:cNvSpPr>
          <p:nvPr/>
        </p:nvSpPr>
        <p:spPr>
          <a:xfrm>
            <a:off x="309468" y="2750951"/>
            <a:ext cx="6484410" cy="29102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Carpentries:</a:t>
            </a: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https://</a:t>
            </a:r>
            <a:r>
              <a:rPr lang="en-GB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carpentries.org</a:t>
            </a:r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/</a:t>
            </a: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Evidence based teaching practices</a:t>
            </a:r>
          </a:p>
          <a:p>
            <a:r>
              <a:rPr lang="en-NL" dirty="0">
                <a:solidFill>
                  <a:schemeClr val="accent2">
                    <a:lumMod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Live coding, </a:t>
            </a:r>
            <a:r>
              <a:rPr lang="en-NL" b="1" dirty="0">
                <a:solidFill>
                  <a:schemeClr val="accent2">
                    <a:lumMod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type along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lvl="1" indent="0"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926A02-03BC-40D7-940A-51F63ACCED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274" b="27120"/>
          <a:stretch/>
        </p:blipFill>
        <p:spPr>
          <a:xfrm>
            <a:off x="6821335" y="3022087"/>
            <a:ext cx="5061197" cy="1183994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515152D9-A977-58BE-4145-55DDF8CDC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468" y="-10464"/>
            <a:ext cx="10515600" cy="1325563"/>
          </a:xfrm>
        </p:spPr>
        <p:txBody>
          <a:bodyPr>
            <a:normAutofit/>
          </a:bodyPr>
          <a:lstStyle/>
          <a:p>
            <a:r>
              <a:rPr lang="en-NL" sz="4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Tutorials will be partly in “Carpentries” style</a:t>
            </a:r>
          </a:p>
        </p:txBody>
      </p:sp>
    </p:spTree>
    <p:extLst>
      <p:ext uri="{BB962C8B-B14F-4D97-AF65-F5344CB8AC3E}">
        <p14:creationId xmlns:p14="http://schemas.microsoft.com/office/powerpoint/2010/main" val="20063562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2A3E726-6391-692E-1E66-892E5127F1FC}"/>
              </a:ext>
            </a:extLst>
          </p:cNvPr>
          <p:cNvSpPr txBox="1">
            <a:spLocks/>
          </p:cNvSpPr>
          <p:nvPr/>
        </p:nvSpPr>
        <p:spPr>
          <a:xfrm>
            <a:off x="530124" y="1325563"/>
            <a:ext cx="4997839" cy="53983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Carpentries Code of conduct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Growth mindset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 respectful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Here to learn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Mistakes are to learn from</a:t>
            </a:r>
          </a:p>
          <a:p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Stickies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Blue = done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Yellow = help needed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5" name="Picture 2" descr="Image of action figures in a workshop with Instructor, Co-Instructor, Helper, and Sticky Notes labeled">
            <a:extLst>
              <a:ext uri="{FF2B5EF4-FFF2-40B4-BE49-F238E27FC236}">
                <a16:creationId xmlns:a16="http://schemas.microsoft.com/office/drawing/2014/main" id="{B1BCAAC5-E1C2-F899-ABE3-98F86C63D4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2882" y="1325563"/>
            <a:ext cx="5881648" cy="4812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2">
            <a:extLst>
              <a:ext uri="{FF2B5EF4-FFF2-40B4-BE49-F238E27FC236}">
                <a16:creationId xmlns:a16="http://schemas.microsoft.com/office/drawing/2014/main" id="{B4C3BCB6-0A7C-BEC6-B577-AC5CBC43FEAC}"/>
              </a:ext>
            </a:extLst>
          </p:cNvPr>
          <p:cNvSpPr txBox="1">
            <a:spLocks/>
          </p:cNvSpPr>
          <p:nvPr/>
        </p:nvSpPr>
        <p:spPr>
          <a:xfrm>
            <a:off x="309468" y="-1046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NL" sz="40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Tutorials will be partly in “Carpentries” style</a:t>
            </a:r>
            <a:endParaRPr lang="en-NL" sz="40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75947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BEDDA-575A-52B4-4C84-2AF6F7A6D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A note on genAI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804BC3-D7A9-7634-E78E-6CF6967E0C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L" dirty="0"/>
              <a:t>genAI is super useful and powerful for bioinformatics</a:t>
            </a:r>
          </a:p>
          <a:p>
            <a:r>
              <a:rPr lang="en-GB" b="1" dirty="0"/>
              <a:t>B</a:t>
            </a:r>
            <a:r>
              <a:rPr lang="en-NL" b="1" dirty="0"/>
              <a:t>ut</a:t>
            </a:r>
          </a:p>
          <a:p>
            <a:endParaRPr lang="en-NL" b="1" dirty="0"/>
          </a:p>
          <a:p>
            <a:r>
              <a:rPr lang="en-GB" dirty="0"/>
              <a:t>Y</a:t>
            </a:r>
            <a:r>
              <a:rPr lang="en-NL" dirty="0"/>
              <a:t>ou need a solid basic understanding of the tools and way of bioinformatics thinking, before you can harness the power of genAI</a:t>
            </a:r>
          </a:p>
          <a:p>
            <a:r>
              <a:rPr lang="en-NL" dirty="0"/>
              <a:t>Use this module to get that understanding!</a:t>
            </a:r>
          </a:p>
        </p:txBody>
      </p:sp>
    </p:spTree>
    <p:extLst>
      <p:ext uri="{BB962C8B-B14F-4D97-AF65-F5344CB8AC3E}">
        <p14:creationId xmlns:p14="http://schemas.microsoft.com/office/powerpoint/2010/main" val="37419642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9F343-6B23-5319-17CC-DC7A74AED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A note on genAI #2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7540B-B505-FFB6-FC16-7536F63488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NL" dirty="0"/>
              <a:t>I care about you learning bioinformatics; not about receiving flawless and smooth assignments</a:t>
            </a:r>
          </a:p>
          <a:p>
            <a:pPr>
              <a:lnSpc>
                <a:spcPct val="150000"/>
              </a:lnSpc>
            </a:pPr>
            <a:r>
              <a:rPr lang="en-NL" dirty="0"/>
              <a:t>Doing bioinformatics ‘by hand’ </a:t>
            </a:r>
            <a:r>
              <a:rPr lang="en-NL" i="1" dirty="0"/>
              <a:t>is the learning process</a:t>
            </a:r>
            <a:endParaRPr lang="en-NL" dirty="0"/>
          </a:p>
          <a:p>
            <a:pPr>
              <a:lnSpc>
                <a:spcPct val="150000"/>
              </a:lnSpc>
            </a:pPr>
            <a:r>
              <a:rPr lang="en-NL" dirty="0"/>
              <a:t>I don’t want to spend time reading, much less providing feedback on, something that nobody wrote</a:t>
            </a:r>
          </a:p>
        </p:txBody>
      </p:sp>
    </p:spTree>
    <p:extLst>
      <p:ext uri="{BB962C8B-B14F-4D97-AF65-F5344CB8AC3E}">
        <p14:creationId xmlns:p14="http://schemas.microsoft.com/office/powerpoint/2010/main" val="31165685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471</Words>
  <Application>Microsoft Macintosh PowerPoint</Application>
  <PresentationFormat>Widescreen</PresentationFormat>
  <Paragraphs>77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Arial</vt:lpstr>
      <vt:lpstr>Helvetica</vt:lpstr>
      <vt:lpstr>Helvetica Neue</vt:lpstr>
      <vt:lpstr>Wingdings</vt:lpstr>
      <vt:lpstr>Office Theme</vt:lpstr>
      <vt:lpstr>Module introduction</vt:lpstr>
      <vt:lpstr>You will learn how to answer questions like…</vt:lpstr>
      <vt:lpstr>PowerPoint Presentation</vt:lpstr>
      <vt:lpstr>Teacher team</vt:lpstr>
      <vt:lpstr>PowerPoint Presentation</vt:lpstr>
      <vt:lpstr>Schedule &amp; assesment</vt:lpstr>
      <vt:lpstr>Teaching materials</vt:lpstr>
      <vt:lpstr>We will work on a High Performance Computer (HPC)</vt:lpstr>
      <vt:lpstr>Working on a command line</vt:lpstr>
      <vt:lpstr>PowerPoint Presentation</vt:lpstr>
      <vt:lpstr>Tutorials will be partly in “Carpentries” style</vt:lpstr>
      <vt:lpstr>PowerPoint Presentation</vt:lpstr>
      <vt:lpstr>A note on genAI #1</vt:lpstr>
      <vt:lpstr>A note on genAI #2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Misha Paauw</dc:creator>
  <cp:lastModifiedBy>Misha Paauw</cp:lastModifiedBy>
  <cp:revision>5</cp:revision>
  <dcterms:created xsi:type="dcterms:W3CDTF">2026-07-31T13:58:53Z</dcterms:created>
  <dcterms:modified xsi:type="dcterms:W3CDTF">2026-08-26T12:56:19Z</dcterms:modified>
</cp:coreProperties>
</file>