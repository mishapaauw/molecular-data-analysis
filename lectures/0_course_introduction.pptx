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993" r:id="rId6"/>
    <p:sldId id="1002" r:id="rId7"/>
    <p:sldId id="994" r:id="rId8"/>
    <p:sldId id="1000" r:id="rId9"/>
    <p:sldId id="995" r:id="rId10"/>
    <p:sldId id="261" r:id="rId11"/>
    <p:sldId id="259" r:id="rId12"/>
    <p:sldId id="998" r:id="rId13"/>
    <p:sldId id="999" r:id="rId14"/>
    <p:sldId id="308" r:id="rId15"/>
    <p:sldId id="991" r:id="rId16"/>
    <p:sldId id="996" r:id="rId17"/>
    <p:sldId id="997" r:id="rId18"/>
    <p:sldId id="1003" r:id="rId19"/>
    <p:sldId id="1001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74"/>
    <p:restoredTop sz="94663"/>
  </p:normalViewPr>
  <p:slideViewPr>
    <p:cSldViewPr snapToGrid="0">
      <p:cViewPr varScale="1">
        <p:scale>
          <a:sx n="85" d="100"/>
          <a:sy n="85" d="100"/>
        </p:scale>
        <p:origin x="1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5.jpg"/><Relationship Id="rId9" Type="http://schemas.openxmlformats.org/officeDocument/2006/relationships/hyperlink" Target="mailto:k.wissink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mishapaauw.github.io/molecular-data-analysis/part0-setup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665" y="2858757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NL" sz="4000" b="1" dirty="0">
                <a:solidFill>
                  <a:schemeClr val="tx2"/>
                </a:solidFill>
              </a:rPr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665" y="201992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NL" sz="2000">
                <a:solidFill>
                  <a:schemeClr val="tx2"/>
                </a:solidFill>
              </a:rPr>
              <a:t>Molecular Data Analysis &amp; Bioinformatics</a:t>
            </a:r>
          </a:p>
          <a:p>
            <a:pPr algn="l"/>
            <a:r>
              <a:rPr lang="en-NL" sz="2000">
                <a:solidFill>
                  <a:schemeClr val="tx2"/>
                </a:solidFill>
              </a:rPr>
              <a:t>Lecture 28 sept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B124EEF2-10CB-1AD7-FBCA-7C491B69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03089" y="1338417"/>
            <a:ext cx="4507994" cy="4181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484642" y="2870534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6302998" y="1476501"/>
            <a:ext cx="2226246" cy="207562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6488055" y="4069351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7" y="1480457"/>
            <a:ext cx="2071670" cy="2071670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206188" y="4043044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3254593" y="1480457"/>
            <a:ext cx="2071670" cy="2075626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3254593" y="4073307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97450B-A81B-53EF-2788-1845304D3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5722" y="1389132"/>
            <a:ext cx="1564792" cy="2162995"/>
          </a:xfrm>
          <a:prstGeom prst="ellipse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860B63-7616-6952-CC33-6EB3C5A17FD8}"/>
              </a:ext>
            </a:extLst>
          </p:cNvPr>
          <p:cNvSpPr txBox="1">
            <a:spLocks/>
          </p:cNvSpPr>
          <p:nvPr/>
        </p:nvSpPr>
        <p:spPr>
          <a:xfrm>
            <a:off x="9394709" y="4043044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Kyran Wissink</a:t>
            </a:r>
          </a:p>
          <a:p>
            <a:pPr marL="0" indent="0">
              <a:buNone/>
            </a:pPr>
            <a:r>
              <a:rPr lang="en-GB" sz="1800" dirty="0">
                <a:hlinkClick r:id="rId9"/>
              </a:rPr>
              <a:t>k.wissink@uva.nl</a:t>
            </a:r>
            <a:endParaRPr lang="en-GB" sz="1800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6CB94-10D7-D06C-602C-4C44DB0C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7E3B8-2B2E-21C2-AB44-427881BB4F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2B5370-C34F-5E3A-7757-E5A09118B9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134432B-7AC2-BFEF-5773-36A23682C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232" y="1922106"/>
            <a:ext cx="1506894" cy="1506894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9815D28-0FFD-9803-25BA-D9EB9F826D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3310706" y="1922106"/>
            <a:ext cx="1504022" cy="1506894"/>
          </a:xfrm>
          <a:prstGeom prst="ellipse">
            <a:avLst/>
          </a:prstGeom>
        </p:spPr>
      </p:pic>
      <p:pic>
        <p:nvPicPr>
          <p:cNvPr id="25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5C33ED2E-CEDF-2500-E4EB-AE73A1DAC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25698" t="5908" r="13797" b="9355"/>
          <a:stretch>
            <a:fillRect/>
          </a:stretch>
        </p:blipFill>
        <p:spPr>
          <a:xfrm>
            <a:off x="7933764" y="4059424"/>
            <a:ext cx="1733328" cy="1616057"/>
          </a:xfrm>
          <a:prstGeom prst="ellipse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827F3CD-05A2-40E9-136B-3AD5CF7DF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875" y="4002637"/>
            <a:ext cx="1251279" cy="1729630"/>
          </a:xfrm>
          <a:prstGeom prst="ellipse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D543D6A-6EF7-7BFC-8DF3-F9101F94ECA1}"/>
              </a:ext>
            </a:extLst>
          </p:cNvPr>
          <p:cNvSpPr/>
          <p:nvPr/>
        </p:nvSpPr>
        <p:spPr>
          <a:xfrm>
            <a:off x="6786389" y="1922106"/>
            <a:ext cx="4483865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F5FF4-44D7-24EB-B767-4A4E0940F17A}"/>
              </a:ext>
            </a:extLst>
          </p:cNvPr>
          <p:cNvSpPr/>
          <p:nvPr/>
        </p:nvSpPr>
        <p:spPr>
          <a:xfrm>
            <a:off x="5405612" y="4655413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D090290-1E66-5835-D61D-EEE8205879DA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2F9C452-C2C6-ECF3-938F-941CC5FCACA0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</p:spTree>
    <p:extLst>
      <p:ext uri="{BB962C8B-B14F-4D97-AF65-F5344CB8AC3E}">
        <p14:creationId xmlns:p14="http://schemas.microsoft.com/office/powerpoint/2010/main" val="218076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137B-39E5-DED0-3A9F-E1B6AFE8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22434-B4F0-807B-2992-40FF15C9E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91B40A-4EAD-E2B6-C450-A18AE049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26C738-1B54-27C0-7A63-34BA65C114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AFE9195-1127-3ACB-418F-97999364D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232" y="1922106"/>
            <a:ext cx="1506894" cy="1506894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F2A400-E43E-0910-92CE-39A2AEC7D7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3310706" y="1922106"/>
            <a:ext cx="1504022" cy="1506894"/>
          </a:xfrm>
          <a:prstGeom prst="ellipse">
            <a:avLst/>
          </a:prstGeom>
        </p:spPr>
      </p:pic>
      <p:pic>
        <p:nvPicPr>
          <p:cNvPr id="25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FA6D77D0-FDBF-DEC2-DD3A-8DDEC7872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25698" t="5908" r="13797" b="9355"/>
          <a:stretch>
            <a:fillRect/>
          </a:stretch>
        </p:blipFill>
        <p:spPr>
          <a:xfrm>
            <a:off x="7933764" y="4059424"/>
            <a:ext cx="1733328" cy="1616057"/>
          </a:xfrm>
          <a:prstGeom prst="ellipse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646070-3661-EA8C-F813-AEBEFE2EEE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875" y="4002637"/>
            <a:ext cx="1251279" cy="1729630"/>
          </a:xfrm>
          <a:prstGeom prst="ellipse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74B0AD-73A2-7C55-32FD-B10284A6FB32}"/>
              </a:ext>
            </a:extLst>
          </p:cNvPr>
          <p:cNvSpPr/>
          <p:nvPr/>
        </p:nvSpPr>
        <p:spPr>
          <a:xfrm>
            <a:off x="114270" y="365125"/>
            <a:ext cx="5521942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E671090-73BB-9388-995C-B8B575B86EC5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CE9F8F-2589-70D3-E4A6-66176505617E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FB605B-CA8A-35D4-292C-C8CFD6242FA8}"/>
              </a:ext>
            </a:extLst>
          </p:cNvPr>
          <p:cNvSpPr/>
          <p:nvPr/>
        </p:nvSpPr>
        <p:spPr>
          <a:xfrm>
            <a:off x="5404210" y="2421980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78014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1B1F3-88A0-F20B-32E7-67E641E4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2B39C4-52C5-4B62-E10A-9BD7C3901A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69" t="10412" r="2204"/>
          <a:stretch>
            <a:fillRect/>
          </a:stretch>
        </p:blipFill>
        <p:spPr>
          <a:xfrm>
            <a:off x="114270" y="277883"/>
            <a:ext cx="5374362" cy="4377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54B27F-0377-4946-9403-05B803AD45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23" r="3406"/>
          <a:stretch>
            <a:fillRect/>
          </a:stretch>
        </p:blipFill>
        <p:spPr>
          <a:xfrm>
            <a:off x="5636212" y="2425629"/>
            <a:ext cx="5374362" cy="43775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6253B2-8F2E-D473-77B8-8E65D9E29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024" y="555329"/>
            <a:ext cx="5154706" cy="1325563"/>
          </a:xfrm>
        </p:spPr>
        <p:txBody>
          <a:bodyPr/>
          <a:lstStyle/>
          <a:p>
            <a:r>
              <a:rPr lang="en-NL" b="1" dirty="0"/>
              <a:t>Schedule &amp;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42613-A333-151E-2CF8-0E0B101226D7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CBDCFB-86C2-45AD-58AA-3AAFD07F5CB5}"/>
              </a:ext>
            </a:extLst>
          </p:cNvPr>
          <p:cNvCxnSpPr>
            <a:cxnSpLocks/>
          </p:cNvCxnSpPr>
          <p:nvPr/>
        </p:nvCxnSpPr>
        <p:spPr>
          <a:xfrm flipH="1" flipV="1">
            <a:off x="1929654" y="4995665"/>
            <a:ext cx="1532952" cy="3762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C4A069D-CEF3-C3C9-13CE-5170F63F5FC7}"/>
              </a:ext>
            </a:extLst>
          </p:cNvPr>
          <p:cNvSpPr/>
          <p:nvPr/>
        </p:nvSpPr>
        <p:spPr>
          <a:xfrm>
            <a:off x="-33310" y="3549312"/>
            <a:ext cx="259528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5060021-58A6-9F3C-2BCE-041FC0C82BC0}"/>
              </a:ext>
            </a:extLst>
          </p:cNvPr>
          <p:cNvSpPr/>
          <p:nvPr/>
        </p:nvSpPr>
        <p:spPr>
          <a:xfrm>
            <a:off x="6642849" y="5727673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EAF45-6F01-F3C6-002A-BDFA62DD4851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613635" cy="4417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19205A-E377-145D-661C-2BD22BFE9E65}"/>
              </a:ext>
            </a:extLst>
          </p:cNvPr>
          <p:cNvCxnSpPr>
            <a:cxnSpLocks/>
          </p:cNvCxnSpPr>
          <p:nvPr/>
        </p:nvCxnSpPr>
        <p:spPr>
          <a:xfrm flipV="1">
            <a:off x="4995558" y="4734859"/>
            <a:ext cx="1100442" cy="5112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AF530A4-FCCF-887C-8D3D-2BAA4082CCFB}"/>
              </a:ext>
            </a:extLst>
          </p:cNvPr>
          <p:cNvSpPr/>
          <p:nvPr/>
        </p:nvSpPr>
        <p:spPr>
          <a:xfrm>
            <a:off x="5587232" y="419469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D95920-47E9-0396-C51F-CF40FFD29E21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EEAAC4-2C4F-47F3-AD62-58D0E470F625}"/>
              </a:ext>
            </a:extLst>
          </p:cNvPr>
          <p:cNvSpPr txBox="1">
            <a:spLocks/>
          </p:cNvSpPr>
          <p:nvPr/>
        </p:nvSpPr>
        <p:spPr>
          <a:xfrm>
            <a:off x="165684" y="49965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September</a:t>
            </a:r>
            <a:endParaRPr lang="en-NL" sz="1800" i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FF530A4-5F14-AFD7-C8F9-9D42AF21B2F4}"/>
              </a:ext>
            </a:extLst>
          </p:cNvPr>
          <p:cNvSpPr txBox="1">
            <a:spLocks/>
          </p:cNvSpPr>
          <p:nvPr/>
        </p:nvSpPr>
        <p:spPr>
          <a:xfrm>
            <a:off x="3163126" y="21890"/>
            <a:ext cx="1365661" cy="34323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October</a:t>
            </a:r>
            <a:endParaRPr lang="en-NL" sz="1800" i="1" dirty="0"/>
          </a:p>
        </p:txBody>
      </p:sp>
    </p:spTree>
    <p:extLst>
      <p:ext uri="{BB962C8B-B14F-4D97-AF65-F5344CB8AC3E}">
        <p14:creationId xmlns:p14="http://schemas.microsoft.com/office/powerpoint/2010/main" val="2817248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579C-7E7A-0DEE-A546-EF0EA250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</a:t>
            </a:r>
            <a:r>
              <a:rPr lang="en-NL" b="1" dirty="0"/>
              <a:t>ssessment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3C5D2-FCC4-F221-87B1-508B9215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The grade is an average of the two assignments you hand in on Canvas.</a:t>
            </a:r>
          </a:p>
          <a:p>
            <a:r>
              <a:rPr lang="en-NL" dirty="0"/>
              <a:t>Both need to be</a:t>
            </a:r>
            <a:r>
              <a:rPr lang="en-NL" b="1" dirty="0"/>
              <a:t> at least 5.5 to pass</a:t>
            </a:r>
          </a:p>
          <a:p>
            <a:r>
              <a:rPr lang="en-NL" dirty="0"/>
              <a:t>You need to </a:t>
            </a:r>
            <a:r>
              <a:rPr lang="en-NL" b="1" dirty="0"/>
              <a:t>pass </a:t>
            </a:r>
            <a:r>
              <a:rPr lang="en-NL" dirty="0"/>
              <a:t>the mini oral test</a:t>
            </a:r>
          </a:p>
          <a:p>
            <a:r>
              <a:rPr lang="en-NL" dirty="0"/>
              <a:t>You need to be present at all tutorials to get a grade</a:t>
            </a:r>
          </a:p>
          <a:p>
            <a:r>
              <a:rPr lang="en-NL" dirty="0"/>
              <a:t>Resits are only possible in emergency situations; make an appointment with the respective teacher. </a:t>
            </a:r>
          </a:p>
        </p:txBody>
      </p:sp>
    </p:spTree>
    <p:extLst>
      <p:ext uri="{BB962C8B-B14F-4D97-AF65-F5344CB8AC3E}">
        <p14:creationId xmlns:p14="http://schemas.microsoft.com/office/powerpoint/2010/main" val="197020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Lectures: </a:t>
            </a:r>
            <a:r>
              <a:rPr lang="en-NL" dirty="0"/>
              <a:t>Canvas</a:t>
            </a:r>
          </a:p>
          <a:p>
            <a:r>
              <a:rPr lang="en-NL" b="1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49" y="222870"/>
            <a:ext cx="117729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b="1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b="1" dirty="0"/>
              <a:t>Working on a command line &amp;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28992"/>
            <a:ext cx="4690096" cy="2638179"/>
          </a:xfrm>
          <a:prstGeom prst="rect">
            <a:avLst/>
          </a:prstGeom>
        </p:spPr>
      </p:pic>
      <p:pic>
        <p:nvPicPr>
          <p:cNvPr id="6" name="Picture 5" descr="R Studio Server – Information Technology Services">
            <a:extLst>
              <a:ext uri="{FF2B5EF4-FFF2-40B4-BE49-F238E27FC236}">
                <a16:creationId xmlns:a16="http://schemas.microsoft.com/office/drawing/2014/main" id="{59C10D81-FE2B-B314-919C-C117B6392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839" b="27691"/>
          <a:stretch>
            <a:fillRect/>
          </a:stretch>
        </p:blipFill>
        <p:spPr>
          <a:xfrm>
            <a:off x="6058523" y="1128992"/>
            <a:ext cx="5295277" cy="246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8EE-B27F-C1ED-AB45-9321F562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Q1: what is your experience level with coding?</a:t>
            </a:r>
          </a:p>
        </p:txBody>
      </p:sp>
      <p:pic>
        <p:nvPicPr>
          <p:cNvPr id="4" name="Picture 6" descr="A Novice→Expert Model of Learning – David Didau">
            <a:extLst>
              <a:ext uri="{FF2B5EF4-FFF2-40B4-BE49-F238E27FC236}">
                <a16:creationId xmlns:a16="http://schemas.microsoft.com/office/drawing/2014/main" id="{74257259-E5D2-513B-6792-786818972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877" y="1690688"/>
            <a:ext cx="9168246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080E1-430A-E9CA-CC12-2A5739FAC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9887" y="5740811"/>
            <a:ext cx="593992" cy="602428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F9C4B3-D242-263C-D633-4CCE7C1F1635}"/>
              </a:ext>
            </a:extLst>
          </p:cNvPr>
          <p:cNvSpPr txBox="1">
            <a:spLocks/>
          </p:cNvSpPr>
          <p:nvPr/>
        </p:nvSpPr>
        <p:spPr>
          <a:xfrm>
            <a:off x="3207556" y="5740811"/>
            <a:ext cx="593992" cy="602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2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2043F6-0DCF-7A86-F0A9-E7AF3D24B131}"/>
              </a:ext>
            </a:extLst>
          </p:cNvPr>
          <p:cNvSpPr txBox="1">
            <a:spLocks/>
          </p:cNvSpPr>
          <p:nvPr/>
        </p:nvSpPr>
        <p:spPr>
          <a:xfrm>
            <a:off x="4704014" y="5740811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F65DCC-4626-0583-1406-9948833C47A8}"/>
              </a:ext>
            </a:extLst>
          </p:cNvPr>
          <p:cNvSpPr txBox="1">
            <a:spLocks/>
          </p:cNvSpPr>
          <p:nvPr/>
        </p:nvSpPr>
        <p:spPr>
          <a:xfrm>
            <a:off x="6597000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D3F14-39E4-CE17-2E90-905B4CD96CC5}"/>
              </a:ext>
            </a:extLst>
          </p:cNvPr>
          <p:cNvSpPr txBox="1">
            <a:spLocks/>
          </p:cNvSpPr>
          <p:nvPr/>
        </p:nvSpPr>
        <p:spPr>
          <a:xfrm>
            <a:off x="8134503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5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0B30F-111A-277D-0A30-D14D45E7B31D}"/>
              </a:ext>
            </a:extLst>
          </p:cNvPr>
          <p:cNvSpPr txBox="1">
            <a:spLocks/>
          </p:cNvSpPr>
          <p:nvPr/>
        </p:nvSpPr>
        <p:spPr>
          <a:xfrm>
            <a:off x="9697176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8924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5C326-EA0E-42A0-9AC5-9ADF044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6B7ED8-50C5-2AEE-FEC7-A72EBC70E47E}"/>
              </a:ext>
            </a:extLst>
          </p:cNvPr>
          <p:cNvGrpSpPr/>
          <p:nvPr/>
        </p:nvGrpSpPr>
        <p:grpSpPr>
          <a:xfrm>
            <a:off x="2497246" y="1122724"/>
            <a:ext cx="8652965" cy="5757139"/>
            <a:chOff x="2639585" y="2879124"/>
            <a:chExt cx="5882486" cy="3921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A2ACB5-E36D-0B76-78CD-F6B973FB5167}"/>
                </a:ext>
              </a:extLst>
            </p:cNvPr>
            <p:cNvGrpSpPr/>
            <p:nvPr/>
          </p:nvGrpSpPr>
          <p:grpSpPr>
            <a:xfrm>
              <a:off x="2639585" y="2879124"/>
              <a:ext cx="5882486" cy="3921657"/>
              <a:chOff x="2639585" y="2879124"/>
              <a:chExt cx="5882486" cy="3921657"/>
            </a:xfrm>
          </p:grpSpPr>
          <p:pic>
            <p:nvPicPr>
              <p:cNvPr id="9" name="Picture 8" descr="How scary is Us? Scarier than Get Out? Jordan Peele's new movie rated on  the Scaredy Scale.">
                <a:extLst>
                  <a:ext uri="{FF2B5EF4-FFF2-40B4-BE49-F238E27FC236}">
                    <a16:creationId xmlns:a16="http://schemas.microsoft.com/office/drawing/2014/main" id="{356127EB-7A2A-7186-DA41-CECACB511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39585" y="2879124"/>
                <a:ext cx="5882486" cy="39216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1B44F8-CB28-EB45-9AAA-2DCBA611CC45}"/>
                  </a:ext>
                </a:extLst>
              </p:cNvPr>
              <p:cNvSpPr/>
              <p:nvPr/>
            </p:nvSpPr>
            <p:spPr>
              <a:xfrm>
                <a:off x="6907427" y="4337222"/>
                <a:ext cx="1285103" cy="20635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32C5092-9DCC-2247-F527-C41A2A5773D8}"/>
                </a:ext>
              </a:extLst>
            </p:cNvPr>
            <p:cNvGrpSpPr/>
            <p:nvPr/>
          </p:nvGrpSpPr>
          <p:grpSpPr>
            <a:xfrm>
              <a:off x="5224890" y="5270157"/>
              <a:ext cx="1352996" cy="765312"/>
              <a:chOff x="5224890" y="5270157"/>
              <a:chExt cx="1352996" cy="76531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F044494-BA6A-EF64-BB34-68B1FB062F83}"/>
                  </a:ext>
                </a:extLst>
              </p:cNvPr>
              <p:cNvSpPr/>
              <p:nvPr/>
            </p:nvSpPr>
            <p:spPr>
              <a:xfrm>
                <a:off x="5292783" y="5270157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F64AA85-6850-C84C-F374-2BF30058F468}"/>
                  </a:ext>
                </a:extLst>
              </p:cNvPr>
              <p:cNvSpPr/>
              <p:nvPr/>
            </p:nvSpPr>
            <p:spPr>
              <a:xfrm>
                <a:off x="5224890" y="5609161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56A8AE-B4A4-5E55-205A-C4051426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11"/>
            <a:ext cx="105156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Q2: what is your suspense level regarding coding?</a:t>
            </a:r>
          </a:p>
        </p:txBody>
      </p:sp>
    </p:spTree>
    <p:extLst>
      <p:ext uri="{BB962C8B-B14F-4D97-AF65-F5344CB8AC3E}">
        <p14:creationId xmlns:p14="http://schemas.microsoft.com/office/powerpoint/2010/main" val="282647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7" y="-10464"/>
            <a:ext cx="10927737" cy="1325563"/>
          </a:xfrm>
        </p:spPr>
        <p:txBody>
          <a:bodyPr>
            <a:normAutofit/>
          </a:bodyPr>
          <a:lstStyle/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11150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NL" b="1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59"/>
            <a:ext cx="11093970" cy="523741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genAI is super useful and powerful for bioinformatics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pPr>
              <a:lnSpc>
                <a:spcPct val="150000"/>
              </a:lnSpc>
            </a:pPr>
            <a:endParaRPr lang="en-NL" b="1" dirty="0"/>
          </a:p>
          <a:p>
            <a:pPr>
              <a:lnSpc>
                <a:spcPct val="150000"/>
              </a:lnSpc>
            </a:pPr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pPr>
              <a:lnSpc>
                <a:spcPct val="150000"/>
              </a:lnSpc>
            </a:pPr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that nobody wrote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7E15-9A4D-86A9-935E-766162C99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C6D6-F2A0-7AE5-3000-022FEB5A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56FD-409C-97C4-1E00-0591349D8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</a:t>
            </a:r>
            <a:r>
              <a:rPr lang="en-NL" i="1" dirty="0"/>
              <a:t> </a:t>
            </a:r>
            <a:r>
              <a:rPr lang="en-NL" dirty="0"/>
              <a:t>allowed to use genAI tools to support your learning and understanding of the course materials</a:t>
            </a:r>
          </a:p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 not </a:t>
            </a:r>
            <a:r>
              <a:rPr lang="en-NL" dirty="0"/>
              <a:t>allowed to use genAI to replace your work and critical thinking, and to generate full solutions to assignment. .</a:t>
            </a:r>
          </a:p>
        </p:txBody>
      </p:sp>
    </p:spTree>
    <p:extLst>
      <p:ext uri="{BB962C8B-B14F-4D97-AF65-F5344CB8AC3E}">
        <p14:creationId xmlns:p14="http://schemas.microsoft.com/office/powerpoint/2010/main" val="3197813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F1BB-AB1C-5610-707F-C48E527F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Today: introduction to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42E1D-9921-52F0-5EF8-DAB909ED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42" y="5547479"/>
            <a:ext cx="10932515" cy="945396"/>
          </a:xfrm>
        </p:spPr>
        <p:txBody>
          <a:bodyPr>
            <a:normAutofit lnSpcReduction="10000"/>
          </a:bodyPr>
          <a:lstStyle/>
          <a:p>
            <a:r>
              <a:rPr lang="en-GB" dirty="0">
                <a:hlinkClick r:id="rId2"/>
              </a:rPr>
              <a:t>https://mishapaauw.github.io/molecular-data-analysis/part0-setup/</a:t>
            </a:r>
            <a:endParaRPr lang="en-GB" dirty="0"/>
          </a:p>
          <a:p>
            <a:r>
              <a:rPr lang="en-GB" dirty="0"/>
              <a:t>(link available on Canvas)</a:t>
            </a:r>
          </a:p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E737D-86B9-8ECA-B437-2461EC37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4" y="1825625"/>
            <a:ext cx="5352252" cy="301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8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3612</TotalTime>
  <Words>655</Words>
  <Application>Microsoft Macintosh PowerPoint</Application>
  <PresentationFormat>Widescreen</PresentationFormat>
  <Paragraphs>109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PowerPoint Presentation</vt:lpstr>
      <vt:lpstr>Schedule &amp; assessment</vt:lpstr>
      <vt:lpstr>Assessment </vt:lpstr>
      <vt:lpstr>Teaching materials</vt:lpstr>
      <vt:lpstr>We will work on a High Performance Computer (HPC)</vt:lpstr>
      <vt:lpstr>Working on a command line &amp; RStudio</vt:lpstr>
      <vt:lpstr>Q1: what is your experience level with coding?</vt:lpstr>
      <vt:lpstr>Q2: what is your suspense level regarding coding?</vt:lpstr>
      <vt:lpstr>Tutorials will be partly in “Carpentries” style</vt:lpstr>
      <vt:lpstr>PowerPoint Presentation</vt:lpstr>
      <vt:lpstr>A note on genAI #1</vt:lpstr>
      <vt:lpstr>A note on genAI #2</vt:lpstr>
      <vt:lpstr>A note on genAI #3</vt:lpstr>
      <vt:lpstr>Today: introduction to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12</cp:revision>
  <dcterms:created xsi:type="dcterms:W3CDTF">2026-07-31T13:58:53Z</dcterms:created>
  <dcterms:modified xsi:type="dcterms:W3CDTF">2026-09-01T09:32:44Z</dcterms:modified>
</cp:coreProperties>
</file>