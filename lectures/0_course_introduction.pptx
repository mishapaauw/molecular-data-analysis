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992" r:id="rId3"/>
    <p:sldId id="260" r:id="rId4"/>
    <p:sldId id="258" r:id="rId5"/>
    <p:sldId id="1004" r:id="rId6"/>
    <p:sldId id="1006" r:id="rId7"/>
    <p:sldId id="1007" r:id="rId8"/>
    <p:sldId id="1000" r:id="rId9"/>
    <p:sldId id="995" r:id="rId10"/>
    <p:sldId id="261" r:id="rId11"/>
    <p:sldId id="259" r:id="rId12"/>
    <p:sldId id="998" r:id="rId13"/>
    <p:sldId id="999" r:id="rId14"/>
    <p:sldId id="308" r:id="rId15"/>
    <p:sldId id="991" r:id="rId16"/>
    <p:sldId id="996" r:id="rId17"/>
    <p:sldId id="997" r:id="rId18"/>
    <p:sldId id="1003" r:id="rId19"/>
    <p:sldId id="1001" r:id="rId20"/>
    <p:sldId id="1008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70"/>
    <p:restoredTop sz="94681"/>
  </p:normalViewPr>
  <p:slideViewPr>
    <p:cSldViewPr snapToGrid="0">
      <p:cViewPr varScale="1">
        <p:scale>
          <a:sx n="116" d="100"/>
          <a:sy n="116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BE7C-1E0B-0D83-B947-0F4D9C529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22247-F3DB-5F3C-A2A0-CDC481808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2867C-3A90-BC97-08ED-8968EC9C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5A19-3015-6FEA-561E-0B2F4354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930A8-7CEA-EDA8-4F68-C60C6080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340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20C3-FA23-36CB-EB7D-C1413FCF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9ADB-6504-561A-A686-D4EA0B9AA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9518-B019-8C39-7C28-5F04627D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750F2-0D66-BA24-823A-923C78D1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8166-EAB5-6CB8-09CA-17131FDC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020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9E24-2EB6-DFFA-0DB8-45066A3C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7FD95-A86E-2067-7CBA-91D387EBB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07FAE-2E80-E4BD-17FB-1371B75D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8A72-E892-5FD9-0A69-1B8DFA74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4BCCC-ECD0-95F7-FFB2-A0E79D5A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904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2DB9-1FDE-9337-4013-D87BD8A2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141D-D755-0C88-0AB6-69A117999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78253-1266-4FA3-6974-A22F5E54B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4D743-2DED-8171-20A8-6A594594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74D37-835E-1FEE-7687-332A2E21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EB47C-4D61-7E91-29E0-65A258EC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859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8C30-D904-5A0B-F067-30BD78795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5829-5829-1FEA-256E-C36CCDD8E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1182-AE00-4EE7-A742-7161D20C4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4123D-8447-0370-F1E2-9440F0F14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993F7-1AF6-5B03-3684-C82606F7B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8B80F-B65E-63FD-52D3-6D4A371AD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026AC-3789-D853-35B1-DF3F076E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0B810-E854-2698-8B9C-CEC3A84D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070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6555-E652-715E-4B26-C996114E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6D9E0-76AB-67D0-B998-19EE2DBF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EB12A-180E-8A24-D799-953E77BF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5BD7E-1E45-E46D-D90B-FA416F6C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979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5C411-E37E-6D72-EB2C-5E201C867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FD3DE-20AB-F38F-1580-770097828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61250-2D5B-FCAA-057B-6711442A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0542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7A39-48E9-FA5F-A178-2EA350D1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E01D-82F8-68C2-4BD4-34DDD8C3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6B1B9-CC16-D24E-7674-6AAE61394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13082-8A40-0568-6FB7-8F04D07F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33458-84FE-540D-A7D1-584E1344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E524A-C2AA-8EDD-C4EA-97EE25F6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87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DCB0-8265-442E-6229-8DA8989E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583B3-D957-9EF2-3B73-66327A6ED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B0E43-4D00-3EB0-FCC8-C97D64958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BA32A-3A6E-4B30-0D15-B09F8B17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39227-15E4-37F8-7EA8-D52A0962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C4A96-29F4-751E-DFA5-122117DA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850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8A70-1EF6-F4A0-AFC3-0F6B9A4D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997AC-68B1-9D93-FA0C-585627A74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9B9C-DD01-C799-9CA6-FE72E0CE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6B66B-C1CD-96E6-D41C-72FDE047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42A0-DD0F-0261-598B-F3BA1EF2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0009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91D75-3D98-F0DB-D1BF-CC65DBECA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0240A-8B2C-0D44-1ED1-3D9CD793E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E571D-313C-6AEB-CF57-09600BB5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5275-29D2-99F6-4916-5C42D96A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8D95-86E5-ACF3-C33C-DC8B8E2C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630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2F0BB-7815-135F-2472-C2002F96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D27F-1C71-5E1A-80F4-C0A6DEF0D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B9189-B421-2D60-FBC9-1E4B66841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5D9CD-A6C7-AE4E-875B-351995A2D2A0}" type="datetimeFigureOut">
              <a:rPr lang="en-NL" smtClean="0"/>
              <a:t>28/09/2026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0B002-A05A-3897-5064-7C94A7DF5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601E-7CD4-088B-95A3-A31D3D8FD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7DA52-B611-494E-8AED-F445CB1ADA2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2218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hyperlink" Target="mailto:a.d.j.vandijk@uva.nl" TargetMode="External"/><Relationship Id="rId7" Type="http://schemas.openxmlformats.org/officeDocument/2006/relationships/hyperlink" Target="mailto:m.bliek@uva.n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mailto:m.m.paauw@uva.nl" TargetMode="External"/><Relationship Id="rId4" Type="http://schemas.openxmlformats.org/officeDocument/2006/relationships/image" Target="../media/image4.jpg"/><Relationship Id="rId9" Type="http://schemas.openxmlformats.org/officeDocument/2006/relationships/hyperlink" Target="mailto:k.wissink@uva.n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s://mishapaauw.github.io/molecular-data-analysis/part0-setup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960C9-7ED4-B061-72D6-97EB69EB1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665" y="2858757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NL" sz="4000" b="1" dirty="0">
                <a:solidFill>
                  <a:schemeClr val="tx2"/>
                </a:solidFill>
              </a:rPr>
              <a:t>Module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7D945-AD8E-2A52-DCFC-CBF3CC373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665" y="2019924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NL" sz="2000">
                <a:solidFill>
                  <a:schemeClr val="tx2"/>
                </a:solidFill>
              </a:rPr>
              <a:t>Molecular Data Analysis &amp; Bioinformatics</a:t>
            </a:r>
          </a:p>
          <a:p>
            <a:pPr algn="l"/>
            <a:r>
              <a:rPr lang="en-NL" sz="2000">
                <a:solidFill>
                  <a:schemeClr val="tx2"/>
                </a:solidFill>
              </a:rPr>
              <a:t>Lecture 28 sept 2026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170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CE6CE1-96FC-C870-E3D0-88FAC4E81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228" t="10203" r="4130" b="22398"/>
          <a:stretch>
            <a:fillRect/>
          </a:stretch>
        </p:blipFill>
        <p:spPr>
          <a:xfrm rot="5400000">
            <a:off x="8484642" y="2870534"/>
            <a:ext cx="3117307" cy="1353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80338E-292F-EDA2-AE02-CCDACA87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89" y="300447"/>
            <a:ext cx="10825976" cy="1325563"/>
          </a:xfrm>
        </p:spPr>
        <p:txBody>
          <a:bodyPr>
            <a:normAutofit/>
          </a:bodyPr>
          <a:lstStyle/>
          <a:p>
            <a:r>
              <a:rPr lang="en-NL" sz="4000" b="1" dirty="0"/>
              <a:t>You will learn how to answer questions like…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74255-EA45-387B-5880-2F9047E19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893107"/>
            <a:ext cx="973417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NL" dirty="0"/>
              <a:t>What is the molecular mechanism of </a:t>
            </a:r>
            <a:r>
              <a:rPr lang="en-NL" u="sng" dirty="0"/>
              <a:t>color polymorphisms </a:t>
            </a:r>
            <a:r>
              <a:rPr lang="en-NL" dirty="0"/>
              <a:t>in </a:t>
            </a:r>
            <a:r>
              <a:rPr lang="en-NL" u="sng" dirty="0"/>
              <a:t>stick insects</a:t>
            </a:r>
            <a:r>
              <a:rPr lang="en-NL" dirty="0"/>
              <a:t>?</a:t>
            </a:r>
          </a:p>
          <a:p>
            <a:pPr>
              <a:lnSpc>
                <a:spcPct val="150000"/>
              </a:lnSpc>
            </a:pPr>
            <a:r>
              <a:rPr lang="en-NL" dirty="0"/>
              <a:t>Fill in your favourite phenotype and favourite organism</a:t>
            </a:r>
          </a:p>
          <a:p>
            <a:pPr>
              <a:lnSpc>
                <a:spcPct val="150000"/>
              </a:lnSpc>
            </a:pPr>
            <a:r>
              <a:rPr lang="en-NL" dirty="0"/>
              <a:t>Bioinformatics tool you learn here will be useful in almost all fields in biology, but also in industry.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B4409-CF09-7565-EA8B-911B934B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" t="11631" r="52777" b="20970"/>
          <a:stretch>
            <a:fillRect/>
          </a:stretch>
        </p:blipFill>
        <p:spPr>
          <a:xfrm rot="5400000">
            <a:off x="9795812" y="2378842"/>
            <a:ext cx="3117307" cy="126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9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implified schematic of central dogma, showing the sequences of the molecules involved.&#10;&#10;The two strands of DNA have the following sequences:&#10;&#10;5'-ATGATCTCGTAA-3'&#10;3'-TACTAGAGCATT-5'&#10;&#10;Transcription of one of the strands of DNA produces an mRNA that nearly matches the other strand of DNA in sequence. However, due to a biochemical difference between DNA and RNA, the Ts of DNA are replaced with Us in the mRNA. The mRNA sequence is:&#10;&#10;5'-AUGAUCUCGUAA-5'&#10;&#10;Translation involves reading the mRNA nucleotides in groups of three; each group specifies an amino acid (or provides a stop signal indicating that translation is finished).&#10;&#10;3'-AUG AUC UCG UAA-5'&#10;&#10;AUG $\rightarrow$ Methionine&#10;AUC $\rightarrow$ Isoleucine&#10;UCG $\rightarrow$ Serine&#10;UAA $\rightarrow$ &quot;Stop&quot;&#10;&#10;Polypeptide sequence: (N-terminus) Methionine-Isoleucine-Serine (C-terminus)">
            <a:extLst>
              <a:ext uri="{FF2B5EF4-FFF2-40B4-BE49-F238E27FC236}">
                <a16:creationId xmlns:a16="http://schemas.microsoft.com/office/drawing/2014/main" id="{719FEBA0-A75A-9F29-7F53-86B28DF32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47" y="2095634"/>
            <a:ext cx="6479195" cy="2641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727049-617A-ACE0-E332-4DC8F1107E96}"/>
              </a:ext>
            </a:extLst>
          </p:cNvPr>
          <p:cNvSpPr txBox="1"/>
          <p:nvPr/>
        </p:nvSpPr>
        <p:spPr>
          <a:xfrm>
            <a:off x="739588" y="2221656"/>
            <a:ext cx="5910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" pitchFamily="2" charset="0"/>
              </a:rPr>
              <a:t>Genome assembly &amp; annotation</a:t>
            </a:r>
          </a:p>
          <a:p>
            <a:pPr algn="r"/>
            <a:r>
              <a:rPr lang="en-US" i="1" dirty="0">
                <a:latin typeface="Helvetica" pitchFamily="2" charset="0"/>
              </a:rPr>
              <a:t>Which genetic features does this organism have?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2DB94A-4724-7E45-F1FB-34A673ACD9A2}"/>
              </a:ext>
            </a:extLst>
          </p:cNvPr>
          <p:cNvCxnSpPr>
            <a:cxnSpLocks/>
          </p:cNvCxnSpPr>
          <p:nvPr/>
        </p:nvCxnSpPr>
        <p:spPr>
          <a:xfrm>
            <a:off x="6905544" y="2644267"/>
            <a:ext cx="484909" cy="213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A99D68-8DBB-7042-78DB-EFE189549892}"/>
              </a:ext>
            </a:extLst>
          </p:cNvPr>
          <p:cNvCxnSpPr>
            <a:cxnSpLocks/>
          </p:cNvCxnSpPr>
          <p:nvPr/>
        </p:nvCxnSpPr>
        <p:spPr>
          <a:xfrm>
            <a:off x="9253844" y="4873301"/>
            <a:ext cx="0" cy="3486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C90352-46FD-3068-F209-7FCB22F1734A}"/>
              </a:ext>
            </a:extLst>
          </p:cNvPr>
          <p:cNvSpPr txBox="1"/>
          <p:nvPr/>
        </p:nvSpPr>
        <p:spPr>
          <a:xfrm>
            <a:off x="7841669" y="5317141"/>
            <a:ext cx="282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Helvetica" pitchFamily="2" charset="0"/>
              </a:rPr>
              <a:t>Phenotype of interest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F91070-2E7D-D99A-1A91-9A31803E14FF}"/>
              </a:ext>
            </a:extLst>
          </p:cNvPr>
          <p:cNvCxnSpPr>
            <a:cxnSpLocks/>
          </p:cNvCxnSpPr>
          <p:nvPr/>
        </p:nvCxnSpPr>
        <p:spPr>
          <a:xfrm>
            <a:off x="6905545" y="3505756"/>
            <a:ext cx="484909" cy="1820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FCFF9C-3B16-26C3-5E39-DEAAE122BF7A}"/>
              </a:ext>
            </a:extLst>
          </p:cNvPr>
          <p:cNvSpPr txBox="1"/>
          <p:nvPr/>
        </p:nvSpPr>
        <p:spPr>
          <a:xfrm>
            <a:off x="167391" y="3042501"/>
            <a:ext cx="647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" pitchFamily="2" charset="0"/>
              </a:rPr>
              <a:t>RNA-seq</a:t>
            </a:r>
          </a:p>
          <a:p>
            <a:pPr algn="r"/>
            <a:r>
              <a:rPr lang="en-US" i="1" dirty="0">
                <a:latin typeface="Helvetica" pitchFamily="2" charset="0"/>
              </a:rPr>
              <a:t>Which genes are affected by a certain treatment or mutation?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EFB45-F265-F65D-0CA2-62BA57FFB2D9}"/>
              </a:ext>
            </a:extLst>
          </p:cNvPr>
          <p:cNvSpPr txBox="1"/>
          <p:nvPr/>
        </p:nvSpPr>
        <p:spPr>
          <a:xfrm>
            <a:off x="167391" y="3835730"/>
            <a:ext cx="6479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" pitchFamily="2" charset="0"/>
              </a:rPr>
              <a:t>Single-cell RNA-seq</a:t>
            </a:r>
          </a:p>
          <a:p>
            <a:pPr algn="r"/>
            <a:r>
              <a:rPr lang="en-US" i="1" dirty="0">
                <a:latin typeface="Helvetica" pitchFamily="2" charset="0"/>
              </a:rPr>
              <a:t>Specialized cell types perform specialized functions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13DD3A-9F4D-0DED-C96B-458F41E16664}"/>
              </a:ext>
            </a:extLst>
          </p:cNvPr>
          <p:cNvCxnSpPr>
            <a:cxnSpLocks/>
          </p:cNvCxnSpPr>
          <p:nvPr/>
        </p:nvCxnSpPr>
        <p:spPr>
          <a:xfrm flipV="1">
            <a:off x="6905545" y="3926756"/>
            <a:ext cx="484909" cy="2321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AB05D4-A3C2-0F00-31FF-047EB6B44964}"/>
              </a:ext>
            </a:extLst>
          </p:cNvPr>
          <p:cNvSpPr txBox="1"/>
          <p:nvPr/>
        </p:nvSpPr>
        <p:spPr>
          <a:xfrm>
            <a:off x="497810" y="695604"/>
            <a:ext cx="11196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Helvetica" pitchFamily="2" charset="0"/>
              </a:rPr>
              <a:t>Module: Molecular Data Analysis &amp;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68797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72A7-5B03-9780-56BF-8EE954C4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88" y="0"/>
            <a:ext cx="10515600" cy="1325563"/>
          </a:xfrm>
        </p:spPr>
        <p:txBody>
          <a:bodyPr/>
          <a:lstStyle/>
          <a:p>
            <a:r>
              <a:rPr lang="en-NL" b="1" dirty="0"/>
              <a:t>Teacher team</a:t>
            </a:r>
          </a:p>
        </p:txBody>
      </p:sp>
      <p:pic>
        <p:nvPicPr>
          <p:cNvPr id="4" name="Content Placeholder 3" descr="Inaugural lecture by Aalt-Jan van Dijk - SILS - University of Amsterdam">
            <a:extLst>
              <a:ext uri="{FF2B5EF4-FFF2-40B4-BE49-F238E27FC236}">
                <a16:creationId xmlns:a16="http://schemas.microsoft.com/office/drawing/2014/main" id="{E646BB66-8CF2-4C56-1140-0437C84B4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698" t="5908" r="13797" b="9355"/>
          <a:stretch>
            <a:fillRect/>
          </a:stretch>
        </p:blipFill>
        <p:spPr>
          <a:xfrm>
            <a:off x="6302998" y="1476501"/>
            <a:ext cx="2226246" cy="2075626"/>
          </a:xfrm>
          <a:prstGeom prst="ellipse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49074C-CC45-7F24-77EA-0D457FB224C0}"/>
              </a:ext>
            </a:extLst>
          </p:cNvPr>
          <p:cNvSpPr txBox="1">
            <a:spLocks/>
          </p:cNvSpPr>
          <p:nvPr/>
        </p:nvSpPr>
        <p:spPr>
          <a:xfrm>
            <a:off x="6488055" y="4069351"/>
            <a:ext cx="3375213" cy="185339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b="1" dirty="0"/>
              <a:t>Prof. Aalt-Jan van Dijk</a:t>
            </a:r>
          </a:p>
          <a:p>
            <a:pPr marL="0" indent="0">
              <a:buNone/>
            </a:pPr>
            <a:r>
              <a:rPr lang="en-NL" sz="1800" dirty="0">
                <a:hlinkClick r:id="rId3"/>
              </a:rPr>
              <a:t>a.d.j.vandijk@uva.nl</a:t>
            </a:r>
            <a:endParaRPr lang="en-NL" sz="1800" b="1" dirty="0"/>
          </a:p>
          <a:p>
            <a:pPr marL="0" indent="0">
              <a:buNone/>
            </a:pPr>
            <a:r>
              <a:rPr lang="en-NL" sz="1800" dirty="0"/>
              <a:t>Biosystems Data Analysis</a:t>
            </a:r>
          </a:p>
          <a:p>
            <a:pPr marL="0" indent="0">
              <a:buNone/>
            </a:pPr>
            <a:r>
              <a:rPr lang="en-NL" sz="1800" i="1" dirty="0"/>
              <a:t>Single-cell transcriptomics</a:t>
            </a:r>
          </a:p>
          <a:p>
            <a:pPr marL="0" indent="0">
              <a:buNone/>
            </a:pPr>
            <a:r>
              <a:rPr lang="en-NL" sz="1800" i="1" dirty="0"/>
              <a:t>Gene regulatory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69C72-C745-A4D3-C7EF-3665EF5EA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77" y="1480457"/>
            <a:ext cx="2071670" cy="2071670"/>
          </a:xfrm>
          <a:prstGeom prst="ellipse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8D2A5C-2C01-57D2-2680-4514AC35601C}"/>
              </a:ext>
            </a:extLst>
          </p:cNvPr>
          <p:cNvSpPr txBox="1">
            <a:spLocks/>
          </p:cNvSpPr>
          <p:nvPr/>
        </p:nvSpPr>
        <p:spPr>
          <a:xfrm>
            <a:off x="206188" y="4043044"/>
            <a:ext cx="3375213" cy="26084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b="1" dirty="0"/>
              <a:t>Misha Paauw (coordinator)</a:t>
            </a:r>
          </a:p>
          <a:p>
            <a:pPr marL="0" indent="0">
              <a:buNone/>
            </a:pPr>
            <a:r>
              <a:rPr lang="en-NL" sz="1800" dirty="0">
                <a:hlinkClick r:id="rId5"/>
              </a:rPr>
              <a:t>m.m.paauw@uva.nl</a:t>
            </a:r>
            <a:endParaRPr lang="en-NL" sz="1800" b="1" dirty="0"/>
          </a:p>
          <a:p>
            <a:pPr marL="0" indent="0">
              <a:buNone/>
            </a:pPr>
            <a:r>
              <a:rPr lang="en-NL" sz="1800" dirty="0"/>
              <a:t>Plant Physiology</a:t>
            </a:r>
          </a:p>
          <a:p>
            <a:pPr marL="0" indent="0">
              <a:buNone/>
            </a:pPr>
            <a:r>
              <a:rPr lang="en-NL" sz="1800" i="1" dirty="0"/>
              <a:t>Intro to command line</a:t>
            </a:r>
          </a:p>
          <a:p>
            <a:pPr marL="0" indent="0">
              <a:buNone/>
            </a:pPr>
            <a:r>
              <a:rPr lang="en-NL" sz="1800" i="1" dirty="0"/>
              <a:t>Data visualization</a:t>
            </a:r>
          </a:p>
          <a:p>
            <a:pPr marL="0" indent="0">
              <a:buNone/>
            </a:pPr>
            <a:r>
              <a:rPr lang="en-NL" sz="1800" i="1" dirty="0"/>
              <a:t>RNA-seq</a:t>
            </a:r>
          </a:p>
          <a:p>
            <a:pPr marL="0" indent="0">
              <a:buNone/>
            </a:pPr>
            <a:r>
              <a:rPr lang="en-NL" sz="1800" i="1" dirty="0"/>
              <a:t>Genome assembly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38A73F-DA12-D56F-71C6-92DCBA2CAC7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144" b="7351"/>
          <a:stretch>
            <a:fillRect/>
          </a:stretch>
        </p:blipFill>
        <p:spPr>
          <a:xfrm>
            <a:off x="3254593" y="1480457"/>
            <a:ext cx="2071670" cy="2075626"/>
          </a:xfrm>
          <a:prstGeom prst="ellipse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CA1EFA0-103D-9556-94B8-93154C835133}"/>
              </a:ext>
            </a:extLst>
          </p:cNvPr>
          <p:cNvSpPr txBox="1">
            <a:spLocks/>
          </p:cNvSpPr>
          <p:nvPr/>
        </p:nvSpPr>
        <p:spPr>
          <a:xfrm>
            <a:off x="3254593" y="4073307"/>
            <a:ext cx="3375213" cy="26084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b="1" dirty="0"/>
              <a:t>Tijs Bliek</a:t>
            </a:r>
          </a:p>
          <a:p>
            <a:pPr marL="0" indent="0">
              <a:buNone/>
            </a:pPr>
            <a:r>
              <a:rPr lang="en-NL" sz="1800" dirty="0">
                <a:hlinkClick r:id="rId7"/>
              </a:rPr>
              <a:t>m.bliek@uva.nl</a:t>
            </a:r>
            <a:endParaRPr lang="en-NL" sz="1800" dirty="0"/>
          </a:p>
          <a:p>
            <a:pPr marL="0" indent="0">
              <a:buNone/>
            </a:pPr>
            <a:r>
              <a:rPr lang="en-NL" sz="1800" dirty="0"/>
              <a:t>Plant Development &amp; Genetics</a:t>
            </a:r>
          </a:p>
          <a:p>
            <a:pPr marL="0" indent="0">
              <a:buNone/>
            </a:pPr>
            <a:r>
              <a:rPr lang="en-NL" sz="1800" i="1" dirty="0"/>
              <a:t>Intro to command line</a:t>
            </a:r>
          </a:p>
          <a:p>
            <a:pPr marL="0" indent="0">
              <a:buNone/>
            </a:pPr>
            <a:r>
              <a:rPr lang="en-NL" sz="1800" i="1" dirty="0"/>
              <a:t>Data visualization</a:t>
            </a:r>
          </a:p>
          <a:p>
            <a:pPr marL="0" indent="0">
              <a:buNone/>
            </a:pPr>
            <a:r>
              <a:rPr lang="en-NL" sz="1800" i="1" dirty="0"/>
              <a:t>RNA-seq</a:t>
            </a:r>
          </a:p>
          <a:p>
            <a:pPr marL="0" indent="0">
              <a:buNone/>
            </a:pPr>
            <a:r>
              <a:rPr lang="en-NL" sz="1800" i="1" dirty="0"/>
              <a:t>Genome assembly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97450B-A81B-53EF-2788-1845304D3C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5722" y="1389132"/>
            <a:ext cx="1564792" cy="2162995"/>
          </a:xfrm>
          <a:prstGeom prst="ellipse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860B63-7616-6952-CC33-6EB3C5A17FD8}"/>
              </a:ext>
            </a:extLst>
          </p:cNvPr>
          <p:cNvSpPr txBox="1">
            <a:spLocks/>
          </p:cNvSpPr>
          <p:nvPr/>
        </p:nvSpPr>
        <p:spPr>
          <a:xfrm>
            <a:off x="9394709" y="4043044"/>
            <a:ext cx="3375213" cy="185339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L" sz="1800" b="1" dirty="0"/>
              <a:t>Kyran Wissink</a:t>
            </a:r>
          </a:p>
          <a:p>
            <a:pPr marL="0" indent="0">
              <a:buNone/>
            </a:pPr>
            <a:r>
              <a:rPr lang="en-GB" sz="1800" dirty="0">
                <a:hlinkClick r:id="rId9"/>
              </a:rPr>
              <a:t>k.wissink@uva.nl</a:t>
            </a:r>
            <a:endParaRPr lang="en-GB" sz="1800" dirty="0"/>
          </a:p>
          <a:p>
            <a:pPr marL="0" indent="0">
              <a:buNone/>
            </a:pPr>
            <a:r>
              <a:rPr lang="en-NL" sz="1800" dirty="0"/>
              <a:t>Biosystems Data Analysis</a:t>
            </a:r>
          </a:p>
          <a:p>
            <a:pPr marL="0" indent="0">
              <a:buNone/>
            </a:pPr>
            <a:r>
              <a:rPr lang="en-NL" sz="1800" i="1" dirty="0"/>
              <a:t>Single-cell transcriptomics</a:t>
            </a:r>
          </a:p>
          <a:p>
            <a:pPr marL="0" indent="0">
              <a:buNone/>
            </a:pPr>
            <a:r>
              <a:rPr lang="en-NL" sz="1800" i="1" dirty="0"/>
              <a:t>Gene regulatory networks</a:t>
            </a:r>
          </a:p>
        </p:txBody>
      </p:sp>
    </p:spTree>
    <p:extLst>
      <p:ext uri="{BB962C8B-B14F-4D97-AF65-F5344CB8AC3E}">
        <p14:creationId xmlns:p14="http://schemas.microsoft.com/office/powerpoint/2010/main" val="197496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AF7A-6868-515E-589A-1ADC8B72A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7E53-9AD3-257A-D033-513A719F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EACC0-D024-802D-422C-355806E2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0" y="233234"/>
            <a:ext cx="5801650" cy="491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43AF36-4051-0648-6B72-F901499B2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51354"/>
            <a:ext cx="6045252" cy="47948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24D6A7-BAB2-F40A-E6B3-219C7B0EB751}"/>
              </a:ext>
            </a:extLst>
          </p:cNvPr>
          <p:cNvSpPr/>
          <p:nvPr/>
        </p:nvSpPr>
        <p:spPr>
          <a:xfrm>
            <a:off x="7385417" y="2071011"/>
            <a:ext cx="4483865" cy="4935894"/>
          </a:xfrm>
          <a:prstGeom prst="rect">
            <a:avLst/>
          </a:prstGeom>
          <a:solidFill>
            <a:srgbClr val="FFFFFF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C5841-858C-80C1-83ED-90E69B683194}"/>
              </a:ext>
            </a:extLst>
          </p:cNvPr>
          <p:cNvSpPr/>
          <p:nvPr/>
        </p:nvSpPr>
        <p:spPr>
          <a:xfrm>
            <a:off x="6004640" y="4804318"/>
            <a:ext cx="1380778" cy="2147746"/>
          </a:xfrm>
          <a:prstGeom prst="rect">
            <a:avLst/>
          </a:prstGeom>
          <a:solidFill>
            <a:srgbClr val="FFFFFF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B355F6-AA1F-B14C-505C-69C185176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534" y="2549123"/>
            <a:ext cx="1506894" cy="1506894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79A98-3354-ABA8-47FE-597BAF7929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44" b="7351"/>
          <a:stretch>
            <a:fillRect/>
          </a:stretch>
        </p:blipFill>
        <p:spPr>
          <a:xfrm>
            <a:off x="4320008" y="2549123"/>
            <a:ext cx="1504022" cy="150689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7822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DDDE-F91B-6144-4672-09FD94A5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E065-21B4-7F9E-90BE-3D653094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10A0C-0808-34FC-BF23-582621844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72223-93DF-FBE2-809E-092A4CD86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0" y="233234"/>
            <a:ext cx="5801650" cy="491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FC5982-73EC-4C19-B56F-2B322038B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51354"/>
            <a:ext cx="6045252" cy="47948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077AEB-10F1-B076-F31F-33F9BBD46A35}"/>
              </a:ext>
            </a:extLst>
          </p:cNvPr>
          <p:cNvSpPr/>
          <p:nvPr/>
        </p:nvSpPr>
        <p:spPr>
          <a:xfrm>
            <a:off x="0" y="306484"/>
            <a:ext cx="5930537" cy="4935894"/>
          </a:xfrm>
          <a:prstGeom prst="rect">
            <a:avLst/>
          </a:prstGeom>
          <a:solidFill>
            <a:srgbClr val="FFFFFF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7E0103-C3AE-3147-92B1-FE9A7D859218}"/>
              </a:ext>
            </a:extLst>
          </p:cNvPr>
          <p:cNvSpPr/>
          <p:nvPr/>
        </p:nvSpPr>
        <p:spPr>
          <a:xfrm>
            <a:off x="6021897" y="2838994"/>
            <a:ext cx="1380778" cy="1430830"/>
          </a:xfrm>
          <a:prstGeom prst="rect">
            <a:avLst/>
          </a:prstGeom>
          <a:solidFill>
            <a:srgbClr val="FFFFFF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8" name="Content Placeholder 3" descr="Inaugural lecture by Aalt-Jan van Dijk - SILS - University of Amsterdam">
            <a:extLst>
              <a:ext uri="{FF2B5EF4-FFF2-40B4-BE49-F238E27FC236}">
                <a16:creationId xmlns:a16="http://schemas.microsoft.com/office/drawing/2014/main" id="{3F3C7A12-8034-6826-5D7F-AC31AF50FF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98" t="5908" r="13797" b="9355"/>
          <a:stretch>
            <a:fillRect/>
          </a:stretch>
        </p:blipFill>
        <p:spPr>
          <a:xfrm>
            <a:off x="8656576" y="4686635"/>
            <a:ext cx="1733328" cy="1616057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3DC47C-C4D6-36AF-731F-3275986F3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687" y="4629848"/>
            <a:ext cx="1251279" cy="172963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9203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947C-898F-F3BA-58B5-45EE5E9D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AEB53C-95A4-DBE1-35EA-59DB6E969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0" y="233234"/>
            <a:ext cx="5801650" cy="4917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75276-DDB1-C0E2-3C9E-C7856E903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51354"/>
            <a:ext cx="6045252" cy="479488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99A06A1-9420-BCD8-F0B8-5988845A5C4F}"/>
              </a:ext>
            </a:extLst>
          </p:cNvPr>
          <p:cNvSpPr txBox="1">
            <a:spLocks/>
          </p:cNvSpPr>
          <p:nvPr/>
        </p:nvSpPr>
        <p:spPr>
          <a:xfrm>
            <a:off x="7184281" y="455334"/>
            <a:ext cx="51547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b="1" dirty="0"/>
              <a:t>Schedule &amp; assessment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9DBC0-51F1-D669-32AF-90C352B18290}"/>
              </a:ext>
            </a:extLst>
          </p:cNvPr>
          <p:cNvSpPr txBox="1"/>
          <p:nvPr/>
        </p:nvSpPr>
        <p:spPr>
          <a:xfrm>
            <a:off x="3462606" y="5187244"/>
            <a:ext cx="1647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Assessment</a:t>
            </a:r>
            <a:endParaRPr lang="en-US" i="1" dirty="0">
              <a:latin typeface="Helvetica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0C19FA-22C2-D935-385F-F7AFAF437788}"/>
              </a:ext>
            </a:extLst>
          </p:cNvPr>
          <p:cNvCxnSpPr>
            <a:cxnSpLocks/>
          </p:cNvCxnSpPr>
          <p:nvPr/>
        </p:nvCxnSpPr>
        <p:spPr>
          <a:xfrm flipH="1" flipV="1">
            <a:off x="2508069" y="5077097"/>
            <a:ext cx="954537" cy="294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7CB10E-9ED8-88B6-68F8-220BACD0F19B}"/>
              </a:ext>
            </a:extLst>
          </p:cNvPr>
          <p:cNvSpPr/>
          <p:nvPr/>
        </p:nvSpPr>
        <p:spPr>
          <a:xfrm>
            <a:off x="1205725" y="3989026"/>
            <a:ext cx="1434352" cy="1234529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180557-5659-19E6-B7E4-2A7FC8975FFE}"/>
              </a:ext>
            </a:extLst>
          </p:cNvPr>
          <p:cNvSpPr/>
          <p:nvPr/>
        </p:nvSpPr>
        <p:spPr>
          <a:xfrm>
            <a:off x="7184281" y="5587178"/>
            <a:ext cx="1434352" cy="113912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BEAE34-8114-5722-9505-1F845833437F}"/>
              </a:ext>
            </a:extLst>
          </p:cNvPr>
          <p:cNvCxnSpPr>
            <a:cxnSpLocks/>
          </p:cNvCxnSpPr>
          <p:nvPr/>
        </p:nvCxnSpPr>
        <p:spPr>
          <a:xfrm>
            <a:off x="5029214" y="5484141"/>
            <a:ext cx="1989895" cy="47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CB7697-B7A8-B91A-CC15-2E77180C6124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995558" y="4348797"/>
            <a:ext cx="1100442" cy="897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227BA31-70FF-E00E-5E42-269E0C02925A}"/>
              </a:ext>
            </a:extLst>
          </p:cNvPr>
          <p:cNvSpPr/>
          <p:nvPr/>
        </p:nvSpPr>
        <p:spPr>
          <a:xfrm>
            <a:off x="6004641" y="3770935"/>
            <a:ext cx="1434352" cy="46071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E67A3D-FDCC-27E4-C9AA-DAA02979795A}"/>
              </a:ext>
            </a:extLst>
          </p:cNvPr>
          <p:cNvSpPr txBox="1"/>
          <p:nvPr/>
        </p:nvSpPr>
        <p:spPr>
          <a:xfrm>
            <a:off x="769820" y="5556576"/>
            <a:ext cx="4609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2x analyzing a new dataset; </a:t>
            </a:r>
            <a:r>
              <a:rPr lang="en-US" dirty="0">
                <a:latin typeface="Helvetica" pitchFamily="2" charset="0"/>
              </a:rPr>
              <a:t>hand in code + interpretations</a:t>
            </a:r>
          </a:p>
          <a:p>
            <a:r>
              <a:rPr lang="en-US" b="1" dirty="0">
                <a:latin typeface="Helvetica" pitchFamily="2" charset="0"/>
              </a:rPr>
              <a:t>1x mini (5min) oral exam</a:t>
            </a:r>
            <a:r>
              <a:rPr lang="en-US" dirty="0">
                <a:latin typeface="Helvetica" pitchFamily="2" charset="0"/>
              </a:rPr>
              <a:t>; pass or fail (and try again)</a:t>
            </a:r>
            <a:endParaRPr lang="en-US" i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02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579C-7E7A-0DEE-A546-EF0EA250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</a:t>
            </a:r>
            <a:r>
              <a:rPr lang="en-NL" b="1" dirty="0"/>
              <a:t>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3C5D2-FCC4-F221-87B1-508B9215D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NL" sz="2400" dirty="0"/>
              <a:t>The grade is an average of the two assignments you hand in on Canvas.</a:t>
            </a:r>
          </a:p>
          <a:p>
            <a:pPr>
              <a:lnSpc>
                <a:spcPct val="150000"/>
              </a:lnSpc>
            </a:pPr>
            <a:r>
              <a:rPr lang="en-NL" sz="2400" dirty="0"/>
              <a:t>You work in pairs; different pair in each assignment. </a:t>
            </a:r>
          </a:p>
          <a:p>
            <a:pPr>
              <a:lnSpc>
                <a:spcPct val="150000"/>
              </a:lnSpc>
            </a:pPr>
            <a:r>
              <a:rPr lang="en-NL" sz="2400" dirty="0"/>
              <a:t>Both assignments need to be</a:t>
            </a:r>
            <a:r>
              <a:rPr lang="en-NL" sz="2400" b="1" dirty="0"/>
              <a:t> at least 5.5 to pass</a:t>
            </a:r>
          </a:p>
          <a:p>
            <a:pPr>
              <a:lnSpc>
                <a:spcPct val="150000"/>
              </a:lnSpc>
            </a:pPr>
            <a:r>
              <a:rPr lang="en-NL" sz="2400" dirty="0"/>
              <a:t>You need to </a:t>
            </a:r>
            <a:r>
              <a:rPr lang="en-NL" sz="2400" b="1" dirty="0"/>
              <a:t>pass </a:t>
            </a:r>
            <a:r>
              <a:rPr lang="en-NL" sz="2400" dirty="0"/>
              <a:t>the mini oral test</a:t>
            </a:r>
          </a:p>
          <a:p>
            <a:pPr>
              <a:lnSpc>
                <a:spcPct val="150000"/>
              </a:lnSpc>
            </a:pPr>
            <a:r>
              <a:rPr lang="en-NL" sz="2400" dirty="0"/>
              <a:t>You need to be present at all tutorials to get a grade</a:t>
            </a:r>
          </a:p>
          <a:p>
            <a:pPr>
              <a:lnSpc>
                <a:spcPct val="150000"/>
              </a:lnSpc>
            </a:pPr>
            <a:r>
              <a:rPr lang="en-NL" sz="2400" dirty="0"/>
              <a:t>Resits are only possible in emergency situations; make an appointment with the respective teacher. </a:t>
            </a:r>
          </a:p>
        </p:txBody>
      </p:sp>
    </p:spTree>
    <p:extLst>
      <p:ext uri="{BB962C8B-B14F-4D97-AF65-F5344CB8AC3E}">
        <p14:creationId xmlns:p14="http://schemas.microsoft.com/office/powerpoint/2010/main" val="197020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3CBA-1FD1-BEEC-B69A-21A384C1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Teaching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4E1A-1607-6D3C-9D74-80825DB01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b="1" dirty="0"/>
              <a:t>Lectures: </a:t>
            </a:r>
            <a:r>
              <a:rPr lang="en-NL" dirty="0"/>
              <a:t>Canvas</a:t>
            </a:r>
          </a:p>
          <a:p>
            <a:r>
              <a:rPr lang="en-NL" b="1" dirty="0"/>
              <a:t>Tutorial materials:</a:t>
            </a:r>
          </a:p>
          <a:p>
            <a:pPr lvl="1"/>
            <a:r>
              <a:rPr lang="en-NL" dirty="0"/>
              <a:t>Online (for my tutorials): </a:t>
            </a:r>
            <a:r>
              <a:rPr lang="en-GB" dirty="0"/>
              <a:t>https://</a:t>
            </a:r>
            <a:r>
              <a:rPr lang="en-GB" dirty="0" err="1"/>
              <a:t>mishapaauw.github.io</a:t>
            </a:r>
            <a:r>
              <a:rPr lang="en-GB" dirty="0"/>
              <a:t>/molecular-data-analysis/</a:t>
            </a:r>
            <a:endParaRPr lang="en-NL" dirty="0"/>
          </a:p>
          <a:p>
            <a:pPr lvl="1"/>
            <a:r>
              <a:rPr lang="en-NL" dirty="0"/>
              <a:t>Canvas (For Aalt-Jan’s tutorials)</a:t>
            </a:r>
          </a:p>
        </p:txBody>
      </p:sp>
    </p:spTree>
    <p:extLst>
      <p:ext uri="{BB962C8B-B14F-4D97-AF65-F5344CB8AC3E}">
        <p14:creationId xmlns:p14="http://schemas.microsoft.com/office/powerpoint/2010/main" val="521639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0CBB-9366-A531-C9B0-B8EE8802A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9" y="222870"/>
            <a:ext cx="11772900" cy="1325563"/>
          </a:xfrm>
        </p:spPr>
        <p:txBody>
          <a:bodyPr>
            <a:normAutofit/>
          </a:bodyPr>
          <a:lstStyle/>
          <a:p>
            <a:pPr algn="ctr"/>
            <a:r>
              <a:rPr lang="en-NL" sz="4000" b="1" dirty="0"/>
              <a:t>We will work on a High Performance Computer (HPC)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D082-B29A-4E89-5E21-26FFB28E0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433"/>
            <a:ext cx="10515600" cy="1038599"/>
          </a:xfrm>
        </p:spPr>
        <p:txBody>
          <a:bodyPr/>
          <a:lstStyle/>
          <a:p>
            <a:pPr marL="0" indent="0">
              <a:buNone/>
            </a:pPr>
            <a:r>
              <a:rPr lang="en-NL" dirty="0"/>
              <a:t>Crunchomics: a shared computer system that provides more memory, CPUs, and storage space than your laptop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226EB2-FD93-9AAC-E1E8-B66B9C5F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0" t="-9159" r="1767" b="27328"/>
          <a:stretch>
            <a:fillRect/>
          </a:stretch>
        </p:blipFill>
        <p:spPr>
          <a:xfrm>
            <a:off x="697702" y="2729677"/>
            <a:ext cx="10796595" cy="308258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7B2A52-C776-7591-A26B-D3C95BD8DCD6}"/>
              </a:ext>
            </a:extLst>
          </p:cNvPr>
          <p:cNvSpPr txBox="1">
            <a:spLocks/>
          </p:cNvSpPr>
          <p:nvPr/>
        </p:nvSpPr>
        <p:spPr>
          <a:xfrm>
            <a:off x="8050306" y="6512419"/>
            <a:ext cx="10515600" cy="103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solidFill>
                  <a:schemeClr val="bg1">
                    <a:lumMod val="75000"/>
                  </a:schemeClr>
                </a:solidFill>
              </a:rPr>
              <a:t>Image by: Nina Dombrowski (IBED, </a:t>
            </a:r>
            <a:r>
              <a:rPr lang="en-GB" sz="1800" dirty="0" err="1">
                <a:solidFill>
                  <a:schemeClr val="bg1">
                    <a:lumMod val="75000"/>
                  </a:schemeClr>
                </a:solidFill>
              </a:rPr>
              <a:t>UvA</a:t>
            </a:r>
            <a:r>
              <a:rPr lang="en-GB" sz="18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en-NL" sz="1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74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4C4F-659D-08E9-3E87-DDAAC8196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6571"/>
            <a:ext cx="10515600" cy="1325563"/>
          </a:xfrm>
        </p:spPr>
        <p:txBody>
          <a:bodyPr/>
          <a:lstStyle/>
          <a:p>
            <a:pPr algn="ctr"/>
            <a:r>
              <a:rPr lang="en-NL" b="1" dirty="0"/>
              <a:t>Working on a command line &amp; 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0B02-E26E-04D6-8B04-0170C8A28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21" y="4019655"/>
            <a:ext cx="10515600" cy="2418483"/>
          </a:xfrm>
        </p:spPr>
        <p:txBody>
          <a:bodyPr>
            <a:spAutoFit/>
          </a:bodyPr>
          <a:lstStyle/>
          <a:p>
            <a:r>
              <a:rPr lang="en-NL" dirty="0"/>
              <a:t>Enables us to work with big datasets efficiently</a:t>
            </a:r>
          </a:p>
          <a:p>
            <a:r>
              <a:rPr lang="en-NL" dirty="0"/>
              <a:t>Gives us access to many bioinformatics tools</a:t>
            </a:r>
          </a:p>
          <a:p>
            <a:r>
              <a:rPr lang="en-NL" dirty="0"/>
              <a:t>Allows us to document and reproduce our workflows (in contrast to point-and-click workflows!)</a:t>
            </a:r>
          </a:p>
          <a:p>
            <a:r>
              <a:rPr lang="en-NL" dirty="0"/>
              <a:t>Is actually really fun </a:t>
            </a:r>
            <a:r>
              <a:rPr lang="en-NL" dirty="0">
                <a:sym typeface="Wingdings" pitchFamily="2" charset="2"/>
              </a:rPr>
              <a:t>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9BC68-1A13-932E-47E1-6B033757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8992"/>
            <a:ext cx="4690096" cy="2638179"/>
          </a:xfrm>
          <a:prstGeom prst="rect">
            <a:avLst/>
          </a:prstGeom>
        </p:spPr>
      </p:pic>
      <p:pic>
        <p:nvPicPr>
          <p:cNvPr id="6" name="Picture 5" descr="R Studio Server – Information Technology Services">
            <a:extLst>
              <a:ext uri="{FF2B5EF4-FFF2-40B4-BE49-F238E27FC236}">
                <a16:creationId xmlns:a16="http://schemas.microsoft.com/office/drawing/2014/main" id="{59C10D81-FE2B-B314-919C-C117B6392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839" b="27691"/>
          <a:stretch>
            <a:fillRect/>
          </a:stretch>
        </p:blipFill>
        <p:spPr>
          <a:xfrm>
            <a:off x="6058523" y="1128992"/>
            <a:ext cx="5295277" cy="246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7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08EE-B27F-C1ED-AB45-9321F562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sz="4000" b="1" dirty="0"/>
              <a:t>Q1: what is your experience level with coding?</a:t>
            </a:r>
          </a:p>
        </p:txBody>
      </p:sp>
      <p:pic>
        <p:nvPicPr>
          <p:cNvPr id="4" name="Picture 6" descr="A Novice→Expert Model of Learning – David Didau">
            <a:extLst>
              <a:ext uri="{FF2B5EF4-FFF2-40B4-BE49-F238E27FC236}">
                <a16:creationId xmlns:a16="http://schemas.microsoft.com/office/drawing/2014/main" id="{74257259-E5D2-513B-6792-786818972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877" y="1690688"/>
            <a:ext cx="9168246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080E1-430A-E9CA-CC12-2A5739FAC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887" y="5740811"/>
            <a:ext cx="593992" cy="602428"/>
          </a:xfrm>
        </p:spPr>
        <p:txBody>
          <a:bodyPr/>
          <a:lstStyle/>
          <a:p>
            <a:pPr marL="0" indent="0">
              <a:buNone/>
            </a:pPr>
            <a:r>
              <a:rPr lang="en-NL" dirty="0"/>
              <a:t>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F9C4B3-D242-263C-D633-4CCE7C1F1635}"/>
              </a:ext>
            </a:extLst>
          </p:cNvPr>
          <p:cNvSpPr txBox="1">
            <a:spLocks/>
          </p:cNvSpPr>
          <p:nvPr/>
        </p:nvSpPr>
        <p:spPr>
          <a:xfrm>
            <a:off x="3207556" y="5740811"/>
            <a:ext cx="593992" cy="602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dirty="0"/>
              <a:t>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2043F6-0DCF-7A86-F0A9-E7AF3D24B131}"/>
              </a:ext>
            </a:extLst>
          </p:cNvPr>
          <p:cNvSpPr txBox="1">
            <a:spLocks/>
          </p:cNvSpPr>
          <p:nvPr/>
        </p:nvSpPr>
        <p:spPr>
          <a:xfrm>
            <a:off x="4704014" y="5740811"/>
            <a:ext cx="593992" cy="75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dirty="0"/>
              <a:t>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F65DCC-4626-0583-1406-9948833C47A8}"/>
              </a:ext>
            </a:extLst>
          </p:cNvPr>
          <p:cNvSpPr txBox="1">
            <a:spLocks/>
          </p:cNvSpPr>
          <p:nvPr/>
        </p:nvSpPr>
        <p:spPr>
          <a:xfrm>
            <a:off x="6597000" y="5738047"/>
            <a:ext cx="593992" cy="75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dirty="0"/>
              <a:t>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BD3F14-39E4-CE17-2E90-905B4CD96CC5}"/>
              </a:ext>
            </a:extLst>
          </p:cNvPr>
          <p:cNvSpPr txBox="1">
            <a:spLocks/>
          </p:cNvSpPr>
          <p:nvPr/>
        </p:nvSpPr>
        <p:spPr>
          <a:xfrm>
            <a:off x="8134503" y="5738047"/>
            <a:ext cx="593992" cy="75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dirty="0"/>
              <a:t>5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40B30F-111A-277D-0A30-D14D45E7B31D}"/>
              </a:ext>
            </a:extLst>
          </p:cNvPr>
          <p:cNvSpPr txBox="1">
            <a:spLocks/>
          </p:cNvSpPr>
          <p:nvPr/>
        </p:nvSpPr>
        <p:spPr>
          <a:xfrm>
            <a:off x="9697176" y="5738047"/>
            <a:ext cx="593992" cy="75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8924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5C326-EA0E-42A0-9AC5-9ADF04432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B6B7ED8-50C5-2AEE-FEC7-A72EBC70E47E}"/>
              </a:ext>
            </a:extLst>
          </p:cNvPr>
          <p:cNvGrpSpPr/>
          <p:nvPr/>
        </p:nvGrpSpPr>
        <p:grpSpPr>
          <a:xfrm>
            <a:off x="2497246" y="1122724"/>
            <a:ext cx="8652965" cy="5757139"/>
            <a:chOff x="2639585" y="2879124"/>
            <a:chExt cx="5882486" cy="392165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A2ACB5-E36D-0B76-78CD-F6B973FB5167}"/>
                </a:ext>
              </a:extLst>
            </p:cNvPr>
            <p:cNvGrpSpPr/>
            <p:nvPr/>
          </p:nvGrpSpPr>
          <p:grpSpPr>
            <a:xfrm>
              <a:off x="2639585" y="2879124"/>
              <a:ext cx="5882486" cy="3921657"/>
              <a:chOff x="2639585" y="2879124"/>
              <a:chExt cx="5882486" cy="3921657"/>
            </a:xfrm>
          </p:grpSpPr>
          <p:pic>
            <p:nvPicPr>
              <p:cNvPr id="9" name="Picture 8" descr="How scary is Us? Scarier than Get Out? Jordan Peele's new movie rated on  the Scaredy Scale.">
                <a:extLst>
                  <a:ext uri="{FF2B5EF4-FFF2-40B4-BE49-F238E27FC236}">
                    <a16:creationId xmlns:a16="http://schemas.microsoft.com/office/drawing/2014/main" id="{356127EB-7A2A-7186-DA41-CECACB511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9585" y="2879124"/>
                <a:ext cx="5882486" cy="39216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1B44F8-CB28-EB45-9AAA-2DCBA611CC45}"/>
                  </a:ext>
                </a:extLst>
              </p:cNvPr>
              <p:cNvSpPr/>
              <p:nvPr/>
            </p:nvSpPr>
            <p:spPr>
              <a:xfrm>
                <a:off x="6907427" y="4337222"/>
                <a:ext cx="1285103" cy="20635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32C5092-9DCC-2247-F527-C41A2A5773D8}"/>
                </a:ext>
              </a:extLst>
            </p:cNvPr>
            <p:cNvGrpSpPr/>
            <p:nvPr/>
          </p:nvGrpSpPr>
          <p:grpSpPr>
            <a:xfrm>
              <a:off x="5224890" y="5270157"/>
              <a:ext cx="1352996" cy="765312"/>
              <a:chOff x="5224890" y="5270157"/>
              <a:chExt cx="1352996" cy="76531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044494-BA6A-EF64-BB34-68B1FB062F83}"/>
                  </a:ext>
                </a:extLst>
              </p:cNvPr>
              <p:cNvSpPr/>
              <p:nvPr/>
            </p:nvSpPr>
            <p:spPr>
              <a:xfrm>
                <a:off x="5292783" y="5270157"/>
                <a:ext cx="1285103" cy="4263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F64AA85-6850-C84C-F374-2BF30058F468}"/>
                  </a:ext>
                </a:extLst>
              </p:cNvPr>
              <p:cNvSpPr/>
              <p:nvPr/>
            </p:nvSpPr>
            <p:spPr>
              <a:xfrm>
                <a:off x="5224890" y="5609161"/>
                <a:ext cx="1285103" cy="4263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56A8AE-B4A4-5E55-205A-C4051426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611"/>
            <a:ext cx="10515600" cy="1325563"/>
          </a:xfrm>
        </p:spPr>
        <p:txBody>
          <a:bodyPr>
            <a:normAutofit/>
          </a:bodyPr>
          <a:lstStyle/>
          <a:p>
            <a:r>
              <a:rPr lang="en-NL" sz="3600" b="1" dirty="0"/>
              <a:t>Q2: what is your suspense level regarding coding?</a:t>
            </a:r>
          </a:p>
        </p:txBody>
      </p:sp>
    </p:spTree>
    <p:extLst>
      <p:ext uri="{BB962C8B-B14F-4D97-AF65-F5344CB8AC3E}">
        <p14:creationId xmlns:p14="http://schemas.microsoft.com/office/powerpoint/2010/main" val="282647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096B49-D2BC-5C25-F777-DBAEE6A43D38}"/>
              </a:ext>
            </a:extLst>
          </p:cNvPr>
          <p:cNvSpPr txBox="1">
            <a:spLocks/>
          </p:cNvSpPr>
          <p:nvPr/>
        </p:nvSpPr>
        <p:spPr>
          <a:xfrm>
            <a:off x="309468" y="2750951"/>
            <a:ext cx="6484410" cy="2910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L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Carpentries:</a:t>
            </a: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carpentries.org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Evidence based teaching practices</a:t>
            </a:r>
          </a:p>
          <a:p>
            <a:r>
              <a:rPr lang="en-NL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Live coding, </a:t>
            </a:r>
            <a:r>
              <a:rPr lang="en-NL" b="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type along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lvl="1" indent="0">
              <a:buNone/>
            </a:pP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26A02-03BC-40D7-940A-51F63ACCE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274" b="27120"/>
          <a:stretch/>
        </p:blipFill>
        <p:spPr>
          <a:xfrm>
            <a:off x="6821335" y="3022087"/>
            <a:ext cx="5061197" cy="1183994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15152D9-A977-58BE-4145-55DDF8CD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67" y="-10464"/>
            <a:ext cx="10927737" cy="1325563"/>
          </a:xfrm>
        </p:spPr>
        <p:txBody>
          <a:bodyPr>
            <a:normAutofit/>
          </a:bodyPr>
          <a:lstStyle/>
          <a:p>
            <a:r>
              <a:rPr lang="en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Tutorials will be partly in “Carpentries” style</a:t>
            </a:r>
          </a:p>
        </p:txBody>
      </p:sp>
    </p:spTree>
    <p:extLst>
      <p:ext uri="{BB962C8B-B14F-4D97-AF65-F5344CB8AC3E}">
        <p14:creationId xmlns:p14="http://schemas.microsoft.com/office/powerpoint/2010/main" val="2006356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A3E726-6391-692E-1E66-892E5127F1FC}"/>
              </a:ext>
            </a:extLst>
          </p:cNvPr>
          <p:cNvSpPr txBox="1">
            <a:spLocks/>
          </p:cNvSpPr>
          <p:nvPr/>
        </p:nvSpPr>
        <p:spPr>
          <a:xfrm>
            <a:off x="530124" y="1325563"/>
            <a:ext cx="4997839" cy="5398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Carpentries Code of conduct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mindset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 respectful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Here to learn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Mistakes are to learn from</a:t>
            </a:r>
          </a:p>
          <a:p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Stickies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Blue = done</a:t>
            </a:r>
          </a:p>
          <a:p>
            <a:pPr lvl="1"/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Yellow = help needed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>
              <a:buNone/>
            </a:pPr>
            <a:endParaRPr lang="en-NL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Picture 2" descr="Image of action figures in a workshop with Instructor, Co-Instructor, Helper, and Sticky Notes labeled">
            <a:extLst>
              <a:ext uri="{FF2B5EF4-FFF2-40B4-BE49-F238E27FC236}">
                <a16:creationId xmlns:a16="http://schemas.microsoft.com/office/drawing/2014/main" id="{B1BCAAC5-E1C2-F899-ABE3-98F86C63D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882" y="1325563"/>
            <a:ext cx="5881648" cy="481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2">
            <a:extLst>
              <a:ext uri="{FF2B5EF4-FFF2-40B4-BE49-F238E27FC236}">
                <a16:creationId xmlns:a16="http://schemas.microsoft.com/office/drawing/2014/main" id="{B4C3BCB6-0A7C-BEC6-B577-AC5CBC43FEAC}"/>
              </a:ext>
            </a:extLst>
          </p:cNvPr>
          <p:cNvSpPr txBox="1">
            <a:spLocks/>
          </p:cNvSpPr>
          <p:nvPr/>
        </p:nvSpPr>
        <p:spPr>
          <a:xfrm>
            <a:off x="309468" y="-10464"/>
            <a:ext cx="111150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L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Tutorials will be partly in “Carpentries” style</a:t>
            </a:r>
          </a:p>
        </p:txBody>
      </p:sp>
    </p:spTree>
    <p:extLst>
      <p:ext uri="{BB962C8B-B14F-4D97-AF65-F5344CB8AC3E}">
        <p14:creationId xmlns:p14="http://schemas.microsoft.com/office/powerpoint/2010/main" val="3727594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EDDA-575A-52B4-4C84-2AF6F7A6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NL" b="1" dirty="0"/>
              <a:t>A note on genAI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4BC3-D7A9-7634-E78E-6CF6967E0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459"/>
            <a:ext cx="11093970" cy="52374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NL" dirty="0"/>
              <a:t>genAI is super useful and powerful for bioinformatics</a:t>
            </a:r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B</a:t>
            </a:r>
            <a:r>
              <a:rPr lang="en-NL" b="1" dirty="0"/>
              <a:t>ut</a:t>
            </a:r>
          </a:p>
          <a:p>
            <a:pPr>
              <a:lnSpc>
                <a:spcPct val="150000"/>
              </a:lnSpc>
            </a:pPr>
            <a:endParaRPr lang="en-NL" b="1" dirty="0"/>
          </a:p>
          <a:p>
            <a:pPr>
              <a:lnSpc>
                <a:spcPct val="150000"/>
              </a:lnSpc>
            </a:pPr>
            <a:r>
              <a:rPr lang="en-GB" dirty="0"/>
              <a:t>Y</a:t>
            </a:r>
            <a:r>
              <a:rPr lang="en-NL" dirty="0"/>
              <a:t>ou need a solid basic understanding of the tools and way of bioinformatics thinking, before you can harness the power of genAI</a:t>
            </a:r>
          </a:p>
          <a:p>
            <a:pPr>
              <a:lnSpc>
                <a:spcPct val="150000"/>
              </a:lnSpc>
            </a:pPr>
            <a:r>
              <a:rPr lang="en-NL" dirty="0"/>
              <a:t>Use this module to get that understanding!</a:t>
            </a:r>
          </a:p>
        </p:txBody>
      </p:sp>
    </p:spTree>
    <p:extLst>
      <p:ext uri="{BB962C8B-B14F-4D97-AF65-F5344CB8AC3E}">
        <p14:creationId xmlns:p14="http://schemas.microsoft.com/office/powerpoint/2010/main" val="374196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F343-6B23-5319-17CC-DC7A74AE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A note on genAI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540B-B505-FFB6-FC16-7536F6348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861" y="1825625"/>
            <a:ext cx="10848278" cy="46672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NL" dirty="0"/>
              <a:t>I care about you learning bioinformatics; not about receiving flawless and smooth assignments</a:t>
            </a:r>
          </a:p>
          <a:p>
            <a:pPr>
              <a:lnSpc>
                <a:spcPct val="150000"/>
              </a:lnSpc>
            </a:pPr>
            <a:r>
              <a:rPr lang="en-NL" dirty="0"/>
              <a:t>I don’t want to spend time reading, much less providing feedback on, something written by a machine</a:t>
            </a:r>
          </a:p>
          <a:p>
            <a:pPr>
              <a:lnSpc>
                <a:spcPct val="150000"/>
              </a:lnSpc>
            </a:pPr>
            <a:r>
              <a:rPr lang="en-NL" dirty="0"/>
              <a:t>Doing bioinformatics ‘by hand’ </a:t>
            </a:r>
            <a:r>
              <a:rPr lang="en-NL" i="1" dirty="0"/>
              <a:t>is the learning process. </a:t>
            </a:r>
            <a:r>
              <a:rPr lang="en-NL" dirty="0"/>
              <a:t>Don’t bypass this with AI, we have seen examples of this over the last years.</a:t>
            </a:r>
          </a:p>
        </p:txBody>
      </p:sp>
    </p:spTree>
    <p:extLst>
      <p:ext uri="{BB962C8B-B14F-4D97-AF65-F5344CB8AC3E}">
        <p14:creationId xmlns:p14="http://schemas.microsoft.com/office/powerpoint/2010/main" val="3116568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7E15-9A4D-86A9-935E-766162C9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C6D6-F2A0-7AE5-3000-022FEB5A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A note on genAI #3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B56FD-409C-97C4-1E00-0591349D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NL" dirty="0"/>
              <a:t>You </a:t>
            </a:r>
            <a:r>
              <a:rPr lang="en-NL" b="1" i="1" dirty="0"/>
              <a:t>are</a:t>
            </a:r>
            <a:r>
              <a:rPr lang="en-NL" i="1" dirty="0"/>
              <a:t> </a:t>
            </a:r>
            <a:r>
              <a:rPr lang="en-NL" dirty="0"/>
              <a:t>allowed to use genAI tools to support your learning and understanding of the course materials</a:t>
            </a:r>
          </a:p>
          <a:p>
            <a:pPr>
              <a:lnSpc>
                <a:spcPct val="150000"/>
              </a:lnSpc>
            </a:pPr>
            <a:r>
              <a:rPr lang="en-NL" dirty="0"/>
              <a:t>You </a:t>
            </a:r>
            <a:r>
              <a:rPr lang="en-NL" b="1" i="1" dirty="0"/>
              <a:t>are not </a:t>
            </a:r>
            <a:r>
              <a:rPr lang="en-NL" dirty="0"/>
              <a:t>allowed to use genAI to replace your work and critical thinking, and to generate full solutions to assignment. </a:t>
            </a:r>
          </a:p>
          <a:p>
            <a:pPr marL="0" indent="0">
              <a:buNone/>
            </a:pPr>
            <a:endParaRPr lang="en-NL" dirty="0"/>
          </a:p>
          <a:p>
            <a:pPr marL="0" indent="0">
              <a:lnSpc>
                <a:spcPct val="160000"/>
              </a:lnSpc>
              <a:buNone/>
            </a:pPr>
            <a:r>
              <a:rPr lang="en-NL" i="1" dirty="0">
                <a:solidFill>
                  <a:schemeClr val="bg1">
                    <a:lumMod val="65000"/>
                  </a:schemeClr>
                </a:solidFill>
              </a:rPr>
              <a:t>“If we view assignments as a critical tool for learning, both the instructor and the student need to invest their own thoughts and efforts in the process.” (MIT AI and Education report, august 2026)</a:t>
            </a:r>
          </a:p>
        </p:txBody>
      </p:sp>
    </p:spTree>
    <p:extLst>
      <p:ext uri="{BB962C8B-B14F-4D97-AF65-F5344CB8AC3E}">
        <p14:creationId xmlns:p14="http://schemas.microsoft.com/office/powerpoint/2010/main" val="3197813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F1BB-AB1C-5610-707F-C48E527F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Today: introduction to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2E1D-9921-52F0-5EF8-DAB909ED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42" y="5547479"/>
            <a:ext cx="10932515" cy="945396"/>
          </a:xfrm>
        </p:spPr>
        <p:txBody>
          <a:bodyPr>
            <a:normAutofit lnSpcReduction="10000"/>
          </a:bodyPr>
          <a:lstStyle/>
          <a:p>
            <a:r>
              <a:rPr lang="en-GB" dirty="0">
                <a:hlinkClick r:id="rId2"/>
              </a:rPr>
              <a:t>https://mishapaauw.github.io/molecular-data-analysis/part0-setup/</a:t>
            </a:r>
            <a:endParaRPr lang="en-GB" dirty="0"/>
          </a:p>
          <a:p>
            <a:r>
              <a:rPr lang="en-GB" dirty="0"/>
              <a:t>(link available on Canvas)</a:t>
            </a:r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5E737D-86B9-8ECA-B437-2461EC370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4" y="1825625"/>
            <a:ext cx="5352252" cy="301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8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234B-5EEF-DD97-C419-4A132611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095F2-61B3-F9DC-767C-CAF1897E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57" y="1631950"/>
            <a:ext cx="11240443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2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4097</TotalTime>
  <Words>719</Words>
  <Application>Microsoft Macintosh PowerPoint</Application>
  <PresentationFormat>Widescreen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Helvetica</vt:lpstr>
      <vt:lpstr>Helvetica Neue</vt:lpstr>
      <vt:lpstr>Wingdings</vt:lpstr>
      <vt:lpstr>Office Theme</vt:lpstr>
      <vt:lpstr>Module introduction</vt:lpstr>
      <vt:lpstr>You will learn how to answer questions like…</vt:lpstr>
      <vt:lpstr>PowerPoint Presentation</vt:lpstr>
      <vt:lpstr>Teacher team</vt:lpstr>
      <vt:lpstr>PowerPoint Presentation</vt:lpstr>
      <vt:lpstr>PowerPoint Presentation</vt:lpstr>
      <vt:lpstr>PowerPoint Presentation</vt:lpstr>
      <vt:lpstr>Assessment </vt:lpstr>
      <vt:lpstr>Teaching materials</vt:lpstr>
      <vt:lpstr>We will work on a High Performance Computer (HPC)</vt:lpstr>
      <vt:lpstr>Working on a command line &amp; RStudio</vt:lpstr>
      <vt:lpstr>Q1: what is your experience level with coding?</vt:lpstr>
      <vt:lpstr>Q2: what is your suspense level regarding coding?</vt:lpstr>
      <vt:lpstr>Tutorials will be partly in “Carpentries” style</vt:lpstr>
      <vt:lpstr>PowerPoint Presentation</vt:lpstr>
      <vt:lpstr>A note on genAI #1</vt:lpstr>
      <vt:lpstr>A note on genAI #2</vt:lpstr>
      <vt:lpstr>A note on genAI #3</vt:lpstr>
      <vt:lpstr>Today: introduction to command 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Paauw</dc:creator>
  <cp:lastModifiedBy>Misha Paauw</cp:lastModifiedBy>
  <cp:revision>18</cp:revision>
  <dcterms:created xsi:type="dcterms:W3CDTF">2026-07-31T13:58:53Z</dcterms:created>
  <dcterms:modified xsi:type="dcterms:W3CDTF">2026-09-28T14:37:10Z</dcterms:modified>
</cp:coreProperties>
</file>