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89" r:id="rId3"/>
    <p:sldId id="258" r:id="rId4"/>
    <p:sldId id="272" r:id="rId5"/>
    <p:sldId id="279" r:id="rId6"/>
    <p:sldId id="273" r:id="rId7"/>
    <p:sldId id="274" r:id="rId8"/>
    <p:sldId id="275" r:id="rId9"/>
    <p:sldId id="276" r:id="rId10"/>
    <p:sldId id="277" r:id="rId11"/>
    <p:sldId id="286" r:id="rId12"/>
    <p:sldId id="280" r:id="rId13"/>
    <p:sldId id="281" r:id="rId14"/>
    <p:sldId id="257" r:id="rId15"/>
    <p:sldId id="259" r:id="rId16"/>
    <p:sldId id="260" r:id="rId17"/>
    <p:sldId id="261" r:id="rId18"/>
    <p:sldId id="282" r:id="rId19"/>
    <p:sldId id="266" r:id="rId20"/>
    <p:sldId id="267" r:id="rId21"/>
    <p:sldId id="264" r:id="rId22"/>
    <p:sldId id="268" r:id="rId23"/>
    <p:sldId id="269" r:id="rId24"/>
    <p:sldId id="270" r:id="rId25"/>
    <p:sldId id="283" r:id="rId26"/>
    <p:sldId id="284" r:id="rId27"/>
    <p:sldId id="285" r:id="rId2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45"/>
    <p:restoredTop sz="94681"/>
  </p:normalViewPr>
  <p:slideViewPr>
    <p:cSldViewPr snapToGrid="0">
      <p:cViewPr varScale="1">
        <p:scale>
          <a:sx n="111" d="100"/>
          <a:sy n="111" d="100"/>
        </p:scale>
        <p:origin x="248"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613254-CA7D-504B-9093-518DB2EC2930}" type="datetimeFigureOut">
              <a:rPr lang="en-NL" smtClean="0"/>
              <a:t>29/09/2026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E0B864-0670-0844-9C1B-332E5FB6B9FB}" type="slidenum">
              <a:rPr lang="en-NL" smtClean="0"/>
              <a:t>‹#›</a:t>
            </a:fld>
            <a:endParaRPr lang="en-NL"/>
          </a:p>
        </p:txBody>
      </p:sp>
    </p:spTree>
    <p:extLst>
      <p:ext uri="{BB962C8B-B14F-4D97-AF65-F5344CB8AC3E}">
        <p14:creationId xmlns:p14="http://schemas.microsoft.com/office/powerpoint/2010/main" val="152875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clauswilke.com/dataviz/proportional-ink.html"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towardsdatascience.com/data-visualization-theory-an-introduction-a077c0d80498/"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towardsdatascience.com</a:t>
            </a:r>
            <a:r>
              <a:rPr lang="en-GB" dirty="0"/>
              <a:t>/data-visualization-theory-an-introduction-a077c0d80498/</a:t>
            </a:r>
            <a:endParaRPr lang="en-NL" dirty="0"/>
          </a:p>
        </p:txBody>
      </p:sp>
      <p:sp>
        <p:nvSpPr>
          <p:cNvPr id="4" name="Slide Number Placeholder 3"/>
          <p:cNvSpPr>
            <a:spLocks noGrp="1"/>
          </p:cNvSpPr>
          <p:nvPr>
            <p:ph type="sldNum" sz="quarter" idx="5"/>
          </p:nvPr>
        </p:nvSpPr>
        <p:spPr/>
        <p:txBody>
          <a:bodyPr/>
          <a:lstStyle/>
          <a:p>
            <a:fld id="{50E0B864-0670-0844-9C1B-332E5FB6B9FB}" type="slidenum">
              <a:rPr lang="en-NL" smtClean="0"/>
              <a:t>17</a:t>
            </a:fld>
            <a:endParaRPr lang="en-NL"/>
          </a:p>
        </p:txBody>
      </p:sp>
    </p:spTree>
    <p:extLst>
      <p:ext uri="{BB962C8B-B14F-4D97-AF65-F5344CB8AC3E}">
        <p14:creationId xmlns:p14="http://schemas.microsoft.com/office/powerpoint/2010/main" val="207182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callingbullshit.org</a:t>
            </a:r>
            <a:r>
              <a:rPr lang="en-GB" dirty="0"/>
              <a:t>/tools/</a:t>
            </a:r>
            <a:r>
              <a:rPr lang="en-GB" dirty="0" err="1"/>
              <a:t>tools_proportional_ink.html</a:t>
            </a:r>
            <a:endParaRPr lang="en-GB" dirty="0"/>
          </a:p>
          <a:p>
            <a:r>
              <a:rPr lang="en-GB" dirty="0"/>
              <a:t>https://</a:t>
            </a:r>
            <a:r>
              <a:rPr lang="en-GB" dirty="0" err="1"/>
              <a:t>clauswilke.com</a:t>
            </a:r>
            <a:r>
              <a:rPr lang="en-GB" dirty="0"/>
              <a:t>/</a:t>
            </a:r>
            <a:r>
              <a:rPr lang="en-GB" dirty="0" err="1"/>
              <a:t>dataviz</a:t>
            </a:r>
            <a:r>
              <a:rPr lang="en-GB" dirty="0"/>
              <a:t>/proportional-ink.html#ref-BergstromWest2016</a:t>
            </a:r>
          </a:p>
          <a:p>
            <a:endParaRPr lang="en-NL" dirty="0"/>
          </a:p>
        </p:txBody>
      </p:sp>
      <p:sp>
        <p:nvSpPr>
          <p:cNvPr id="4" name="Slide Number Placeholder 3"/>
          <p:cNvSpPr>
            <a:spLocks noGrp="1"/>
          </p:cNvSpPr>
          <p:nvPr>
            <p:ph type="sldNum" sz="quarter" idx="5"/>
          </p:nvPr>
        </p:nvSpPr>
        <p:spPr/>
        <p:txBody>
          <a:bodyPr/>
          <a:lstStyle/>
          <a:p>
            <a:fld id="{50E0B864-0670-0844-9C1B-332E5FB6B9FB}" type="slidenum">
              <a:rPr lang="en-NL" smtClean="0"/>
              <a:t>18</a:t>
            </a:fld>
            <a:endParaRPr lang="en-NL"/>
          </a:p>
        </p:txBody>
      </p:sp>
    </p:spTree>
    <p:extLst>
      <p:ext uri="{BB962C8B-B14F-4D97-AF65-F5344CB8AC3E}">
        <p14:creationId xmlns:p14="http://schemas.microsoft.com/office/powerpoint/2010/main" val="1399387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https://clauswilke.com/dataviz/proportional-ink.html</a:t>
            </a:r>
            <a:endParaRPr lang="en-GB" dirty="0"/>
          </a:p>
          <a:p>
            <a:endParaRPr lang="en-GB" dirty="0"/>
          </a:p>
          <a:p>
            <a:r>
              <a:rPr lang="en-GB" dirty="0"/>
              <a:t>Also add some graphics from points of view</a:t>
            </a:r>
          </a:p>
          <a:p>
            <a:r>
              <a:rPr lang="en-GB" dirty="0">
                <a:hlinkClick r:id="rId4"/>
              </a:rPr>
              <a:t>https://towardsdatascience.com/data-visualization-theory-an-introduction-a077c0d80498/</a:t>
            </a:r>
            <a:endParaRPr lang="en-GB" dirty="0"/>
          </a:p>
          <a:p>
            <a:r>
              <a:rPr lang="en-GB" dirty="0"/>
              <a:t>https://</a:t>
            </a:r>
            <a:r>
              <a:rPr lang="en-GB" dirty="0" err="1"/>
              <a:t>www.nature.com</a:t>
            </a:r>
            <a:r>
              <a:rPr lang="en-GB" dirty="0"/>
              <a:t>/articles/nmeth0910-665/figures/1</a:t>
            </a:r>
            <a:endParaRPr lang="en-NL" dirty="0"/>
          </a:p>
          <a:p>
            <a:endParaRPr lang="en-NL" dirty="0"/>
          </a:p>
        </p:txBody>
      </p:sp>
      <p:sp>
        <p:nvSpPr>
          <p:cNvPr id="4" name="Slide Number Placeholder 3"/>
          <p:cNvSpPr>
            <a:spLocks noGrp="1"/>
          </p:cNvSpPr>
          <p:nvPr>
            <p:ph type="sldNum" sz="quarter" idx="5"/>
          </p:nvPr>
        </p:nvSpPr>
        <p:spPr/>
        <p:txBody>
          <a:bodyPr/>
          <a:lstStyle/>
          <a:p>
            <a:fld id="{50E0B864-0670-0844-9C1B-332E5FB6B9FB}" type="slidenum">
              <a:rPr lang="en-NL" smtClean="0"/>
              <a:t>19</a:t>
            </a:fld>
            <a:endParaRPr lang="en-NL"/>
          </a:p>
        </p:txBody>
      </p:sp>
    </p:spTree>
    <p:extLst>
      <p:ext uri="{BB962C8B-B14F-4D97-AF65-F5344CB8AC3E}">
        <p14:creationId xmlns:p14="http://schemas.microsoft.com/office/powerpoint/2010/main" val="1680732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thenode.biologists.com</a:t>
            </a:r>
            <a:r>
              <a:rPr lang="en-GB" dirty="0"/>
              <a:t>/visualizing-heterogeneity-of-imaging-data/research/</a:t>
            </a:r>
            <a:endParaRPr lang="en-NL" dirty="0"/>
          </a:p>
        </p:txBody>
      </p:sp>
      <p:sp>
        <p:nvSpPr>
          <p:cNvPr id="4" name="Slide Number Placeholder 3"/>
          <p:cNvSpPr>
            <a:spLocks noGrp="1"/>
          </p:cNvSpPr>
          <p:nvPr>
            <p:ph type="sldNum" sz="quarter" idx="5"/>
          </p:nvPr>
        </p:nvSpPr>
        <p:spPr/>
        <p:txBody>
          <a:bodyPr/>
          <a:lstStyle/>
          <a:p>
            <a:fld id="{50E0B864-0670-0844-9C1B-332E5FB6B9FB}" type="slidenum">
              <a:rPr lang="en-NL" smtClean="0"/>
              <a:t>22</a:t>
            </a:fld>
            <a:endParaRPr lang="en-NL"/>
          </a:p>
        </p:txBody>
      </p:sp>
    </p:spTree>
    <p:extLst>
      <p:ext uri="{BB962C8B-B14F-4D97-AF65-F5344CB8AC3E}">
        <p14:creationId xmlns:p14="http://schemas.microsoft.com/office/powerpoint/2010/main" val="1087367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6BE7C-1E0B-0D83-B947-0F4D9C5294E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L"/>
          </a:p>
        </p:txBody>
      </p:sp>
      <p:sp>
        <p:nvSpPr>
          <p:cNvPr id="3" name="Subtitle 2">
            <a:extLst>
              <a:ext uri="{FF2B5EF4-FFF2-40B4-BE49-F238E27FC236}">
                <a16:creationId xmlns:a16="http://schemas.microsoft.com/office/drawing/2014/main" id="{02722247-F3DB-5F3C-A2A0-CDC481808A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L"/>
          </a:p>
        </p:txBody>
      </p:sp>
      <p:sp>
        <p:nvSpPr>
          <p:cNvPr id="4" name="Date Placeholder 3">
            <a:extLst>
              <a:ext uri="{FF2B5EF4-FFF2-40B4-BE49-F238E27FC236}">
                <a16:creationId xmlns:a16="http://schemas.microsoft.com/office/drawing/2014/main" id="{0532867C-3A90-BC97-08ED-8968EC9C8D38}"/>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5" name="Footer Placeholder 4">
            <a:extLst>
              <a:ext uri="{FF2B5EF4-FFF2-40B4-BE49-F238E27FC236}">
                <a16:creationId xmlns:a16="http://schemas.microsoft.com/office/drawing/2014/main" id="{83F15A19-3015-6FEA-561E-0B2F4354102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ED930A8-7CEA-EDA8-4F68-C60C6080084C}"/>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703405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D20C3-FA23-36CB-EB7D-C1413FCFCDB7}"/>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02DD9ADB-6504-561A-A686-D4EA0B9AA99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74A29518-B019-8C39-7C28-5F04627D5C13}"/>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5" name="Footer Placeholder 4">
            <a:extLst>
              <a:ext uri="{FF2B5EF4-FFF2-40B4-BE49-F238E27FC236}">
                <a16:creationId xmlns:a16="http://schemas.microsoft.com/office/drawing/2014/main" id="{994750F2-0D66-BA24-823A-923C78D13E9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8488166-EAB5-6CB8-09CA-17131FDC4591}"/>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680207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29E24-2EB6-DFFA-0DB8-45066A3C2DC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L"/>
          </a:p>
        </p:txBody>
      </p:sp>
      <p:sp>
        <p:nvSpPr>
          <p:cNvPr id="3" name="Text Placeholder 2">
            <a:extLst>
              <a:ext uri="{FF2B5EF4-FFF2-40B4-BE49-F238E27FC236}">
                <a16:creationId xmlns:a16="http://schemas.microsoft.com/office/drawing/2014/main" id="{6F77FD95-A86E-2067-7CBA-91D387EBB1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6207FAE-2E80-E4BD-17FB-1371B75DCEA0}"/>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5" name="Footer Placeholder 4">
            <a:extLst>
              <a:ext uri="{FF2B5EF4-FFF2-40B4-BE49-F238E27FC236}">
                <a16:creationId xmlns:a16="http://schemas.microsoft.com/office/drawing/2014/main" id="{6DA38A72-E892-5FD9-0A69-1B8DFA74850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BF4BCCC-ECD0-95F7-FFB2-A0E79D5A3321}"/>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2949048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B2DB9-1FDE-9337-4013-D87BD8A21F2D}"/>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80B5141D-D755-0C88-0AB6-69A11799908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Content Placeholder 3">
            <a:extLst>
              <a:ext uri="{FF2B5EF4-FFF2-40B4-BE49-F238E27FC236}">
                <a16:creationId xmlns:a16="http://schemas.microsoft.com/office/drawing/2014/main" id="{8BA78253-1266-4FA3-6974-A22F5E54BEA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Date Placeholder 4">
            <a:extLst>
              <a:ext uri="{FF2B5EF4-FFF2-40B4-BE49-F238E27FC236}">
                <a16:creationId xmlns:a16="http://schemas.microsoft.com/office/drawing/2014/main" id="{63E4D743-2DED-8171-20A8-6A59459444EC}"/>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6" name="Footer Placeholder 5">
            <a:extLst>
              <a:ext uri="{FF2B5EF4-FFF2-40B4-BE49-F238E27FC236}">
                <a16:creationId xmlns:a16="http://schemas.microsoft.com/office/drawing/2014/main" id="{A8274D37-835E-1FEE-7687-332A2E21869D}"/>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47EB47C-4D61-7E91-29E0-65A258ECA562}"/>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253859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28C30-D904-5A0B-F067-30BD78795171}"/>
              </a:ext>
            </a:extLst>
          </p:cNvPr>
          <p:cNvSpPr>
            <a:spLocks noGrp="1"/>
          </p:cNvSpPr>
          <p:nvPr>
            <p:ph type="title"/>
          </p:nvPr>
        </p:nvSpPr>
        <p:spPr>
          <a:xfrm>
            <a:off x="839788" y="365125"/>
            <a:ext cx="10515600" cy="1325563"/>
          </a:xfrm>
        </p:spPr>
        <p:txBody>
          <a:bodyPr/>
          <a:lstStyle/>
          <a:p>
            <a:r>
              <a:rPr lang="en-GB"/>
              <a:t>Click to edit Master title style</a:t>
            </a:r>
            <a:endParaRPr lang="en-NL"/>
          </a:p>
        </p:txBody>
      </p:sp>
      <p:sp>
        <p:nvSpPr>
          <p:cNvPr id="3" name="Text Placeholder 2">
            <a:extLst>
              <a:ext uri="{FF2B5EF4-FFF2-40B4-BE49-F238E27FC236}">
                <a16:creationId xmlns:a16="http://schemas.microsoft.com/office/drawing/2014/main" id="{C56F5829-5829-1FEA-256E-C36CCDD8E6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0A01182-AE00-4EE7-A742-7161D20C419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Text Placeholder 4">
            <a:extLst>
              <a:ext uri="{FF2B5EF4-FFF2-40B4-BE49-F238E27FC236}">
                <a16:creationId xmlns:a16="http://schemas.microsoft.com/office/drawing/2014/main" id="{9684123D-8447-0370-F1E2-9440F0F14C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AB993F7-1AF6-5B03-3684-C82606F7B17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7" name="Date Placeholder 6">
            <a:extLst>
              <a:ext uri="{FF2B5EF4-FFF2-40B4-BE49-F238E27FC236}">
                <a16:creationId xmlns:a16="http://schemas.microsoft.com/office/drawing/2014/main" id="{10B8B80F-B65E-63FD-52D3-6D4A371AD19E}"/>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8" name="Footer Placeholder 7">
            <a:extLst>
              <a:ext uri="{FF2B5EF4-FFF2-40B4-BE49-F238E27FC236}">
                <a16:creationId xmlns:a16="http://schemas.microsoft.com/office/drawing/2014/main" id="{0E6026AC-3789-D853-35B1-DF3F076E6AC2}"/>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23F0B810-E854-2698-8B9C-CEC3A84DA68F}"/>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3660700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96555-E652-715E-4B26-C996114EF446}"/>
              </a:ext>
            </a:extLst>
          </p:cNvPr>
          <p:cNvSpPr>
            <a:spLocks noGrp="1"/>
          </p:cNvSpPr>
          <p:nvPr>
            <p:ph type="title"/>
          </p:nvPr>
        </p:nvSpPr>
        <p:spPr/>
        <p:txBody>
          <a:bodyPr/>
          <a:lstStyle/>
          <a:p>
            <a:r>
              <a:rPr lang="en-GB"/>
              <a:t>Click to edit Master title style</a:t>
            </a:r>
            <a:endParaRPr lang="en-NL"/>
          </a:p>
        </p:txBody>
      </p:sp>
      <p:sp>
        <p:nvSpPr>
          <p:cNvPr id="3" name="Date Placeholder 2">
            <a:extLst>
              <a:ext uri="{FF2B5EF4-FFF2-40B4-BE49-F238E27FC236}">
                <a16:creationId xmlns:a16="http://schemas.microsoft.com/office/drawing/2014/main" id="{9906D9E0-76AB-67D0-B998-19EE2DBF8D8A}"/>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4" name="Footer Placeholder 3">
            <a:extLst>
              <a:ext uri="{FF2B5EF4-FFF2-40B4-BE49-F238E27FC236}">
                <a16:creationId xmlns:a16="http://schemas.microsoft.com/office/drawing/2014/main" id="{722EB12A-180E-8A24-D799-953E77BF84DA}"/>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54D5BD7E-1E45-E46D-D90B-FA416F6C49DE}"/>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1039794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45C411-E37E-6D72-EB2C-5E201C867208}"/>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3" name="Footer Placeholder 2">
            <a:extLst>
              <a:ext uri="{FF2B5EF4-FFF2-40B4-BE49-F238E27FC236}">
                <a16:creationId xmlns:a16="http://schemas.microsoft.com/office/drawing/2014/main" id="{A64FD3DE-20AB-F38F-1580-7700978285AD}"/>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F5B61250-2D5B-FCAA-057B-6711442AA04D}"/>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3605422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B7A39-48E9-FA5F-A178-2EA350D166D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Content Placeholder 2">
            <a:extLst>
              <a:ext uri="{FF2B5EF4-FFF2-40B4-BE49-F238E27FC236}">
                <a16:creationId xmlns:a16="http://schemas.microsoft.com/office/drawing/2014/main" id="{0736E01D-82F8-68C2-4BD4-34DDD8C36E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Text Placeholder 3">
            <a:extLst>
              <a:ext uri="{FF2B5EF4-FFF2-40B4-BE49-F238E27FC236}">
                <a16:creationId xmlns:a16="http://schemas.microsoft.com/office/drawing/2014/main" id="{4786B1B9-CC16-D24E-7674-6AAE61394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313082-8A40-0568-6FB7-8F04D07FAFBA}"/>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6" name="Footer Placeholder 5">
            <a:extLst>
              <a:ext uri="{FF2B5EF4-FFF2-40B4-BE49-F238E27FC236}">
                <a16:creationId xmlns:a16="http://schemas.microsoft.com/office/drawing/2014/main" id="{58E33458-84FE-540D-A7D1-584E134435D4}"/>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9EE524A-C2AA-8EDD-C4EA-97EE25F6CE35}"/>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411870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0DCB0-8265-442E-6229-8DA8989EF44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Picture Placeholder 2">
            <a:extLst>
              <a:ext uri="{FF2B5EF4-FFF2-40B4-BE49-F238E27FC236}">
                <a16:creationId xmlns:a16="http://schemas.microsoft.com/office/drawing/2014/main" id="{145583B3-D957-9EF2-3B73-66327A6EDC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39B0E43-4D00-3EB0-FCC8-C97D64958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63BA32A-3A6E-4B30-0D15-B09F8B174BEF}"/>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6" name="Footer Placeholder 5">
            <a:extLst>
              <a:ext uri="{FF2B5EF4-FFF2-40B4-BE49-F238E27FC236}">
                <a16:creationId xmlns:a16="http://schemas.microsoft.com/office/drawing/2014/main" id="{0D439227-15E4-37F8-7EA8-D52A09627735}"/>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231C4A96-29F4-751E-DFA5-122117DA22C7}"/>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1738504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A8A70-1EF6-F4A0-AFC3-0F6B9A4DB815}"/>
              </a:ext>
            </a:extLst>
          </p:cNvPr>
          <p:cNvSpPr>
            <a:spLocks noGrp="1"/>
          </p:cNvSpPr>
          <p:nvPr>
            <p:ph type="title"/>
          </p:nvPr>
        </p:nvSpPr>
        <p:spPr/>
        <p:txBody>
          <a:bodyPr/>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3C2997AC-68B1-9D93-FA0C-585627A74C0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B8339B9C-DD01-C799-9CA6-FE72E0CE6057}"/>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5" name="Footer Placeholder 4">
            <a:extLst>
              <a:ext uri="{FF2B5EF4-FFF2-40B4-BE49-F238E27FC236}">
                <a16:creationId xmlns:a16="http://schemas.microsoft.com/office/drawing/2014/main" id="{CC86B66B-C1CD-96E6-D41C-72FDE04795D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22442A0-DD0F-0261-598B-F3BA1EF203D3}"/>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250009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D91D75-3D98-F0DB-D1BF-CC65DBECA2D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1F50240A-8B2C-0D44-1ED1-3D9CD793EC1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D74E571D-313C-6AEB-CF57-09600BB568C8}"/>
              </a:ext>
            </a:extLst>
          </p:cNvPr>
          <p:cNvSpPr>
            <a:spLocks noGrp="1"/>
          </p:cNvSpPr>
          <p:nvPr>
            <p:ph type="dt" sz="half" idx="10"/>
          </p:nvPr>
        </p:nvSpPr>
        <p:spPr/>
        <p:txBody>
          <a:bodyPr/>
          <a:lstStyle/>
          <a:p>
            <a:fld id="{7315D9CD-A6C7-AE4E-875B-351995A2D2A0}" type="datetimeFigureOut">
              <a:rPr lang="en-NL" smtClean="0"/>
              <a:t>29/09/2026</a:t>
            </a:fld>
            <a:endParaRPr lang="en-NL"/>
          </a:p>
        </p:txBody>
      </p:sp>
      <p:sp>
        <p:nvSpPr>
          <p:cNvPr id="5" name="Footer Placeholder 4">
            <a:extLst>
              <a:ext uri="{FF2B5EF4-FFF2-40B4-BE49-F238E27FC236}">
                <a16:creationId xmlns:a16="http://schemas.microsoft.com/office/drawing/2014/main" id="{AA2F5275-29D2-99F6-4916-5C42D96A3B6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D6F8D95-86E5-ACF3-C33C-DC8B8E2CE5A7}"/>
              </a:ext>
            </a:extLst>
          </p:cNvPr>
          <p:cNvSpPr>
            <a:spLocks noGrp="1"/>
          </p:cNvSpPr>
          <p:nvPr>
            <p:ph type="sldNum" sz="quarter" idx="12"/>
          </p:nvPr>
        </p:nvSpPr>
        <p:spPr/>
        <p:txBody>
          <a:bodyPr/>
          <a:lstStyle/>
          <a:p>
            <a:fld id="{6527DA52-B611-494E-8AED-F445CB1ADA22}" type="slidenum">
              <a:rPr lang="en-NL" smtClean="0"/>
              <a:t>‹#›</a:t>
            </a:fld>
            <a:endParaRPr lang="en-NL"/>
          </a:p>
        </p:txBody>
      </p:sp>
    </p:spTree>
    <p:extLst>
      <p:ext uri="{BB962C8B-B14F-4D97-AF65-F5344CB8AC3E}">
        <p14:creationId xmlns:p14="http://schemas.microsoft.com/office/powerpoint/2010/main" val="2826305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32F0BB-7815-135F-2472-C2002F96DB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L"/>
          </a:p>
        </p:txBody>
      </p:sp>
      <p:sp>
        <p:nvSpPr>
          <p:cNvPr id="3" name="Text Placeholder 2">
            <a:extLst>
              <a:ext uri="{FF2B5EF4-FFF2-40B4-BE49-F238E27FC236}">
                <a16:creationId xmlns:a16="http://schemas.microsoft.com/office/drawing/2014/main" id="{9599D27F-1C71-5E1A-80F4-C0A6DEF0D9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8BDB9189-B421-2D60-FBC9-1E4B668413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15D9CD-A6C7-AE4E-875B-351995A2D2A0}" type="datetimeFigureOut">
              <a:rPr lang="en-NL" smtClean="0"/>
              <a:t>29/09/2026</a:t>
            </a:fld>
            <a:endParaRPr lang="en-NL"/>
          </a:p>
        </p:txBody>
      </p:sp>
      <p:sp>
        <p:nvSpPr>
          <p:cNvPr id="5" name="Footer Placeholder 4">
            <a:extLst>
              <a:ext uri="{FF2B5EF4-FFF2-40B4-BE49-F238E27FC236}">
                <a16:creationId xmlns:a16="http://schemas.microsoft.com/office/drawing/2014/main" id="{7700B002-A05A-3897-5064-7C94A7DF55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4464601E-7CD4-088B-95A3-A31D3D8FDD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27DA52-B611-494E-8AED-F445CB1ADA22}" type="slidenum">
              <a:rPr lang="en-NL" smtClean="0"/>
              <a:t>‹#›</a:t>
            </a:fld>
            <a:endParaRPr lang="en-NL"/>
          </a:p>
        </p:txBody>
      </p:sp>
    </p:spTree>
    <p:extLst>
      <p:ext uri="{BB962C8B-B14F-4D97-AF65-F5344CB8AC3E}">
        <p14:creationId xmlns:p14="http://schemas.microsoft.com/office/powerpoint/2010/main" val="332218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BleekerLab/Riboflavin" TargetMode="External"/><Relationship Id="rId2" Type="http://schemas.openxmlformats.org/officeDocument/2006/relationships/hyperlink" Target="https://github.com/mishapaauw/PPPlasmid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60C9-7ED4-B061-72D6-97EB69EB1EBE}"/>
              </a:ext>
            </a:extLst>
          </p:cNvPr>
          <p:cNvSpPr>
            <a:spLocks noGrp="1"/>
          </p:cNvSpPr>
          <p:nvPr>
            <p:ph type="ctrTitle"/>
          </p:nvPr>
        </p:nvSpPr>
        <p:spPr/>
        <p:txBody>
          <a:bodyPr/>
          <a:lstStyle/>
          <a:p>
            <a:r>
              <a:rPr lang="en-NL" b="1" dirty="0"/>
              <a:t>Reproducible science &amp; data visualization theory </a:t>
            </a:r>
          </a:p>
        </p:txBody>
      </p:sp>
      <p:sp>
        <p:nvSpPr>
          <p:cNvPr id="3" name="Subtitle 2">
            <a:extLst>
              <a:ext uri="{FF2B5EF4-FFF2-40B4-BE49-F238E27FC236}">
                <a16:creationId xmlns:a16="http://schemas.microsoft.com/office/drawing/2014/main" id="{2A97D945-AD8E-2A52-DCFC-CBF3CC37368F}"/>
              </a:ext>
            </a:extLst>
          </p:cNvPr>
          <p:cNvSpPr>
            <a:spLocks noGrp="1"/>
          </p:cNvSpPr>
          <p:nvPr>
            <p:ph type="subTitle" idx="1"/>
          </p:nvPr>
        </p:nvSpPr>
        <p:spPr/>
        <p:txBody>
          <a:bodyPr/>
          <a:lstStyle/>
          <a:p>
            <a:r>
              <a:rPr lang="en-NL" dirty="0"/>
              <a:t>Molecular Data Analysis &amp; Bioinformatics</a:t>
            </a:r>
          </a:p>
          <a:p>
            <a:r>
              <a:rPr lang="en-NL" dirty="0"/>
              <a:t>Lecture 29 september 2026</a:t>
            </a:r>
          </a:p>
        </p:txBody>
      </p:sp>
    </p:spTree>
    <p:extLst>
      <p:ext uri="{BB962C8B-B14F-4D97-AF65-F5344CB8AC3E}">
        <p14:creationId xmlns:p14="http://schemas.microsoft.com/office/powerpoint/2010/main" val="3001707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EF13E4-F2D7-3AE9-C353-82051BBE91B1}"/>
              </a:ext>
            </a:extLst>
          </p:cNvPr>
          <p:cNvSpPr>
            <a:spLocks noGrp="1"/>
          </p:cNvSpPr>
          <p:nvPr>
            <p:ph type="title"/>
          </p:nvPr>
        </p:nvSpPr>
        <p:spPr/>
        <p:txBody>
          <a:bodyPr/>
          <a:lstStyle/>
          <a:p>
            <a:r>
              <a:rPr lang="en-US" b="1" dirty="0"/>
              <a:t>Next lecture </a:t>
            </a:r>
            <a:endParaRPr lang="nl-NL" b="1" dirty="0"/>
          </a:p>
        </p:txBody>
      </p:sp>
      <p:sp>
        <p:nvSpPr>
          <p:cNvPr id="3" name="Tijdelijke aanduiding voor inhoud 2">
            <a:extLst>
              <a:ext uri="{FF2B5EF4-FFF2-40B4-BE49-F238E27FC236}">
                <a16:creationId xmlns:a16="http://schemas.microsoft.com/office/drawing/2014/main" id="{C63EAE76-0811-8635-AD9E-C5B0F445F600}"/>
              </a:ext>
            </a:extLst>
          </p:cNvPr>
          <p:cNvSpPr>
            <a:spLocks noGrp="1"/>
          </p:cNvSpPr>
          <p:nvPr>
            <p:ph idx="1"/>
          </p:nvPr>
        </p:nvSpPr>
        <p:spPr/>
        <p:txBody>
          <a:bodyPr vert="horz" lIns="91440" tIns="45720" rIns="91440" bIns="45720" rtlCol="0" anchor="t">
            <a:normAutofit lnSpcReduction="10000"/>
          </a:bodyPr>
          <a:lstStyle/>
          <a:p>
            <a:pPr marL="228600" indent="-228600"/>
            <a:r>
              <a:rPr lang="en-US" dirty="0">
                <a:latin typeface="Arial"/>
                <a:cs typeface="Arial"/>
              </a:rPr>
              <a:t>Next lecture (tomorrow) will be recorded with a 360-degree camera as part of my BKO qualification to reflect on my teaching competence. An important part of this, is the interaction with students.</a:t>
            </a:r>
            <a:endParaRPr lang="nl-NL" dirty="0"/>
          </a:p>
          <a:p>
            <a:pPr marL="228600" indent="-228600"/>
            <a:r>
              <a:rPr lang="en-US" dirty="0"/>
              <a:t>This video will:</a:t>
            </a:r>
          </a:p>
          <a:p>
            <a:pPr marL="685800" lvl="1" indent="-228600"/>
            <a:r>
              <a:rPr lang="en-US" dirty="0" err="1">
                <a:latin typeface="Arial"/>
                <a:cs typeface="Arial"/>
              </a:rPr>
              <a:t>ónly</a:t>
            </a:r>
            <a:r>
              <a:rPr lang="en-US" dirty="0">
                <a:latin typeface="Arial"/>
                <a:cs typeface="Arial"/>
              </a:rPr>
              <a:t> be viewed by me, my BKO-peer, my BKO-coach and the assessors.</a:t>
            </a:r>
          </a:p>
          <a:p>
            <a:pPr marL="685800" lvl="1" indent="-228600"/>
            <a:r>
              <a:rPr lang="en-US" u="sng" dirty="0">
                <a:latin typeface="Arial"/>
                <a:cs typeface="Arial"/>
              </a:rPr>
              <a:t>not be used</a:t>
            </a:r>
            <a:r>
              <a:rPr lang="en-US" dirty="0">
                <a:latin typeface="Arial"/>
                <a:cs typeface="Arial"/>
              </a:rPr>
              <a:t> for any other purposes.</a:t>
            </a:r>
          </a:p>
          <a:p>
            <a:pPr marL="685800" lvl="1" indent="-228600"/>
            <a:r>
              <a:rPr lang="en-US" dirty="0">
                <a:latin typeface="Arial"/>
                <a:cs typeface="Arial"/>
              </a:rPr>
              <a:t>archived in accordance with the UvA retention periods.</a:t>
            </a:r>
          </a:p>
          <a:p>
            <a:pPr marL="228600" indent="-228600"/>
            <a:r>
              <a:rPr lang="en-US" dirty="0">
                <a:latin typeface="Arial"/>
                <a:cs typeface="Arial"/>
              </a:rPr>
              <a:t>If you don't want to be on camera, please tell me before the class, and we can arrange the seating so you can be blurred.</a:t>
            </a:r>
          </a:p>
        </p:txBody>
      </p:sp>
      <p:pic>
        <p:nvPicPr>
          <p:cNvPr id="5" name="Graphic 4" descr="Videocamera silhouet">
            <a:extLst>
              <a:ext uri="{FF2B5EF4-FFF2-40B4-BE49-F238E27FC236}">
                <a16:creationId xmlns:a16="http://schemas.microsoft.com/office/drawing/2014/main" id="{AF005F22-0D4D-BD4E-C764-186E4E6850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11512" y="315849"/>
            <a:ext cx="1645158" cy="1645158"/>
          </a:xfrm>
          <a:prstGeom prst="rect">
            <a:avLst/>
          </a:prstGeom>
        </p:spPr>
      </p:pic>
    </p:spTree>
    <p:extLst>
      <p:ext uri="{BB962C8B-B14F-4D97-AF65-F5344CB8AC3E}">
        <p14:creationId xmlns:p14="http://schemas.microsoft.com/office/powerpoint/2010/main" val="2794602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F75338-3809-7E43-24B5-E0404F76356F}"/>
              </a:ext>
            </a:extLst>
          </p:cNvPr>
          <p:cNvSpPr>
            <a:spLocks noGrp="1"/>
          </p:cNvSpPr>
          <p:nvPr>
            <p:ph idx="1"/>
          </p:nvPr>
        </p:nvSpPr>
        <p:spPr/>
        <p:txBody>
          <a:bodyPr/>
          <a:lstStyle/>
          <a:p>
            <a:endParaRPr lang="en-NL"/>
          </a:p>
        </p:txBody>
      </p:sp>
      <p:pic>
        <p:nvPicPr>
          <p:cNvPr id="4" name="Picture 3">
            <a:extLst>
              <a:ext uri="{FF2B5EF4-FFF2-40B4-BE49-F238E27FC236}">
                <a16:creationId xmlns:a16="http://schemas.microsoft.com/office/drawing/2014/main" id="{074D3A7E-36B1-5476-A95F-733E6166949F}"/>
              </a:ext>
            </a:extLst>
          </p:cNvPr>
          <p:cNvPicPr>
            <a:picLocks noChangeAspect="1"/>
          </p:cNvPicPr>
          <p:nvPr/>
        </p:nvPicPr>
        <p:blipFill>
          <a:blip r:embed="rId2"/>
          <a:stretch>
            <a:fillRect/>
          </a:stretch>
        </p:blipFill>
        <p:spPr>
          <a:xfrm>
            <a:off x="261939" y="1204023"/>
            <a:ext cx="11327159" cy="4449954"/>
          </a:xfrm>
          <a:prstGeom prst="rect">
            <a:avLst/>
          </a:prstGeom>
        </p:spPr>
      </p:pic>
      <p:sp>
        <p:nvSpPr>
          <p:cNvPr id="6" name="Title 5">
            <a:extLst>
              <a:ext uri="{FF2B5EF4-FFF2-40B4-BE49-F238E27FC236}">
                <a16:creationId xmlns:a16="http://schemas.microsoft.com/office/drawing/2014/main" id="{7310B7B4-B1B4-DC10-5E61-DF5811968C7A}"/>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00105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356F8-6F90-CA0A-33A0-B44BF76DBC4E}"/>
              </a:ext>
            </a:extLst>
          </p:cNvPr>
          <p:cNvSpPr>
            <a:spLocks noGrp="1"/>
          </p:cNvSpPr>
          <p:nvPr>
            <p:ph type="title"/>
          </p:nvPr>
        </p:nvSpPr>
        <p:spPr>
          <a:xfrm>
            <a:off x="838200" y="0"/>
            <a:ext cx="10515600" cy="1325563"/>
          </a:xfrm>
        </p:spPr>
        <p:txBody>
          <a:bodyPr/>
          <a:lstStyle/>
          <a:p>
            <a:r>
              <a:rPr lang="en-NL" b="1" dirty="0"/>
              <a:t>Timetable</a:t>
            </a:r>
          </a:p>
        </p:txBody>
      </p:sp>
      <p:sp>
        <p:nvSpPr>
          <p:cNvPr id="3" name="Content Placeholder 2">
            <a:extLst>
              <a:ext uri="{FF2B5EF4-FFF2-40B4-BE49-F238E27FC236}">
                <a16:creationId xmlns:a16="http://schemas.microsoft.com/office/drawing/2014/main" id="{FA70F968-519E-41D3-0BDE-7683D02C6381}"/>
              </a:ext>
            </a:extLst>
          </p:cNvPr>
          <p:cNvSpPr>
            <a:spLocks noGrp="1"/>
          </p:cNvSpPr>
          <p:nvPr>
            <p:ph idx="1"/>
          </p:nvPr>
        </p:nvSpPr>
        <p:spPr>
          <a:xfrm>
            <a:off x="838200" y="1253331"/>
            <a:ext cx="10515600" cy="4652794"/>
          </a:xfrm>
        </p:spPr>
        <p:txBody>
          <a:bodyPr>
            <a:normAutofit fontScale="92500" lnSpcReduction="20000"/>
          </a:bodyPr>
          <a:lstStyle/>
          <a:p>
            <a:r>
              <a:rPr lang="en-NL" b="1" dirty="0"/>
              <a:t>13:00 – 13:15:</a:t>
            </a:r>
            <a:r>
              <a:rPr lang="en-NL" dirty="0"/>
              <a:t> Mini lecture on reproducible science &amp; Github</a:t>
            </a:r>
          </a:p>
          <a:p>
            <a:r>
              <a:rPr lang="en-NL" b="1" dirty="0"/>
              <a:t>13:15 – 13:50:</a:t>
            </a:r>
            <a:r>
              <a:rPr lang="en-NL" dirty="0"/>
              <a:t> Setting up a Github repository on Crunchomics</a:t>
            </a:r>
          </a:p>
          <a:p>
            <a:endParaRPr lang="en-NL" dirty="0"/>
          </a:p>
          <a:p>
            <a:r>
              <a:rPr lang="en-NL" b="1" dirty="0"/>
              <a:t>14:00 – 14:20:</a:t>
            </a:r>
            <a:r>
              <a:rPr lang="en-NL" dirty="0"/>
              <a:t> mini lecture on data visualisation theory</a:t>
            </a:r>
          </a:p>
          <a:p>
            <a:r>
              <a:rPr lang="en-NL" b="1" dirty="0"/>
              <a:t>14:20 – 14:50:</a:t>
            </a:r>
            <a:r>
              <a:rPr lang="en-NL" dirty="0"/>
              <a:t> coding in R, data visualisation</a:t>
            </a:r>
          </a:p>
          <a:p>
            <a:endParaRPr lang="en-NL" dirty="0"/>
          </a:p>
          <a:p>
            <a:r>
              <a:rPr lang="en-NL" b="1" dirty="0"/>
              <a:t>15:00 </a:t>
            </a:r>
            <a:r>
              <a:rPr lang="en-NL" dirty="0"/>
              <a:t>– </a:t>
            </a:r>
            <a:r>
              <a:rPr lang="en-NL" b="1" dirty="0"/>
              <a:t>15:30: </a:t>
            </a:r>
            <a:r>
              <a:rPr lang="en-NL" dirty="0"/>
              <a:t>more coding and data visualization</a:t>
            </a:r>
          </a:p>
          <a:p>
            <a:r>
              <a:rPr lang="en-NL" b="1" dirty="0"/>
              <a:t>15:20 – 15:50:</a:t>
            </a:r>
            <a:r>
              <a:rPr lang="en-NL" dirty="0"/>
              <a:t> explanation &amp; start assignment</a:t>
            </a:r>
          </a:p>
          <a:p>
            <a:endParaRPr lang="en-NL" b="1" dirty="0"/>
          </a:p>
          <a:p>
            <a:r>
              <a:rPr lang="en-NL" b="1" dirty="0"/>
              <a:t>16:00 – 16:50: </a:t>
            </a:r>
            <a:r>
              <a:rPr lang="en-NL" dirty="0"/>
              <a:t>Create the ugliest plot with palmerpenguins dataset, submit to Google Sheets, short presentations. </a:t>
            </a:r>
            <a:endParaRPr lang="en-NL" b="1" dirty="0"/>
          </a:p>
          <a:p>
            <a:endParaRPr lang="en-NL" dirty="0"/>
          </a:p>
        </p:txBody>
      </p:sp>
    </p:spTree>
    <p:extLst>
      <p:ext uri="{BB962C8B-B14F-4D97-AF65-F5344CB8AC3E}">
        <p14:creationId xmlns:p14="http://schemas.microsoft.com/office/powerpoint/2010/main" val="3748780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E340-B708-35F5-E25A-275E10309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13A04-A6F0-83F4-0871-71951B3FFDB3}"/>
              </a:ext>
            </a:extLst>
          </p:cNvPr>
          <p:cNvSpPr>
            <a:spLocks noGrp="1"/>
          </p:cNvSpPr>
          <p:nvPr>
            <p:ph type="title"/>
          </p:nvPr>
        </p:nvSpPr>
        <p:spPr>
          <a:xfrm>
            <a:off x="838200" y="0"/>
            <a:ext cx="10515600" cy="1325563"/>
          </a:xfrm>
        </p:spPr>
        <p:txBody>
          <a:bodyPr/>
          <a:lstStyle/>
          <a:p>
            <a:r>
              <a:rPr lang="en-NL" b="1" dirty="0"/>
              <a:t>Timetable</a:t>
            </a:r>
          </a:p>
        </p:txBody>
      </p:sp>
      <p:sp>
        <p:nvSpPr>
          <p:cNvPr id="3" name="Content Placeholder 2">
            <a:extLst>
              <a:ext uri="{FF2B5EF4-FFF2-40B4-BE49-F238E27FC236}">
                <a16:creationId xmlns:a16="http://schemas.microsoft.com/office/drawing/2014/main" id="{411DB3B8-6181-6A24-5A27-533489CD0B23}"/>
              </a:ext>
            </a:extLst>
          </p:cNvPr>
          <p:cNvSpPr>
            <a:spLocks noGrp="1"/>
          </p:cNvSpPr>
          <p:nvPr>
            <p:ph idx="1"/>
          </p:nvPr>
        </p:nvSpPr>
        <p:spPr>
          <a:xfrm>
            <a:off x="838200" y="1253331"/>
            <a:ext cx="10515600" cy="4652794"/>
          </a:xfrm>
        </p:spPr>
        <p:txBody>
          <a:bodyPr>
            <a:normAutofit fontScale="92500" lnSpcReduction="20000"/>
          </a:bodyPr>
          <a:lstStyle/>
          <a:p>
            <a:r>
              <a:rPr lang="en-NL" b="1" dirty="0"/>
              <a:t>13:00 – 13:15:</a:t>
            </a:r>
            <a:r>
              <a:rPr lang="en-NL" dirty="0"/>
              <a:t> Mini lecture on reproducible science &amp; Github</a:t>
            </a:r>
          </a:p>
          <a:p>
            <a:r>
              <a:rPr lang="en-NL" b="1" dirty="0"/>
              <a:t>13:15 – 13:50:</a:t>
            </a:r>
            <a:r>
              <a:rPr lang="en-NL" dirty="0"/>
              <a:t> Setting up a github repository on Crunchomics</a:t>
            </a:r>
          </a:p>
          <a:p>
            <a:endParaRPr lang="en-NL" dirty="0"/>
          </a:p>
          <a:p>
            <a:r>
              <a:rPr lang="en-NL" b="1" dirty="0">
                <a:solidFill>
                  <a:schemeClr val="bg1">
                    <a:lumMod val="75000"/>
                  </a:schemeClr>
                </a:solidFill>
              </a:rPr>
              <a:t>14:00 – 14:20:</a:t>
            </a:r>
            <a:r>
              <a:rPr lang="en-NL" dirty="0">
                <a:solidFill>
                  <a:schemeClr val="bg1">
                    <a:lumMod val="75000"/>
                  </a:schemeClr>
                </a:solidFill>
              </a:rPr>
              <a:t> mini lecture on data visualisation theory</a:t>
            </a:r>
          </a:p>
          <a:p>
            <a:r>
              <a:rPr lang="en-NL" b="1" dirty="0">
                <a:solidFill>
                  <a:schemeClr val="bg1">
                    <a:lumMod val="75000"/>
                  </a:schemeClr>
                </a:solidFill>
              </a:rPr>
              <a:t>14:20 – 14:50:</a:t>
            </a:r>
            <a:r>
              <a:rPr lang="en-NL" dirty="0">
                <a:solidFill>
                  <a:schemeClr val="bg1">
                    <a:lumMod val="75000"/>
                  </a:schemeClr>
                </a:solidFill>
              </a:rPr>
              <a:t> coding in R, data visualisation</a:t>
            </a:r>
          </a:p>
          <a:p>
            <a:endParaRPr lang="en-NL" dirty="0">
              <a:solidFill>
                <a:schemeClr val="bg1">
                  <a:lumMod val="75000"/>
                </a:schemeClr>
              </a:solidFill>
            </a:endParaRPr>
          </a:p>
          <a:p>
            <a:r>
              <a:rPr lang="en-NL" b="1" dirty="0">
                <a:solidFill>
                  <a:schemeClr val="bg1">
                    <a:lumMod val="75000"/>
                  </a:schemeClr>
                </a:solidFill>
              </a:rPr>
              <a:t>15:00 </a:t>
            </a:r>
            <a:r>
              <a:rPr lang="en-NL" dirty="0">
                <a:solidFill>
                  <a:schemeClr val="bg1">
                    <a:lumMod val="75000"/>
                  </a:schemeClr>
                </a:solidFill>
              </a:rPr>
              <a:t>– </a:t>
            </a:r>
            <a:r>
              <a:rPr lang="en-NL" b="1" dirty="0">
                <a:solidFill>
                  <a:schemeClr val="bg1">
                    <a:lumMod val="75000"/>
                  </a:schemeClr>
                </a:solidFill>
              </a:rPr>
              <a:t>15:30: </a:t>
            </a:r>
            <a:r>
              <a:rPr lang="en-NL" dirty="0">
                <a:solidFill>
                  <a:schemeClr val="bg1">
                    <a:lumMod val="75000"/>
                  </a:schemeClr>
                </a:solidFill>
              </a:rPr>
              <a:t>more coding and data visualization</a:t>
            </a:r>
          </a:p>
          <a:p>
            <a:r>
              <a:rPr lang="en-NL" b="1" dirty="0">
                <a:solidFill>
                  <a:schemeClr val="bg1">
                    <a:lumMod val="75000"/>
                  </a:schemeClr>
                </a:solidFill>
              </a:rPr>
              <a:t>15:20 – 15:50:</a:t>
            </a:r>
            <a:r>
              <a:rPr lang="en-NL" dirty="0">
                <a:solidFill>
                  <a:schemeClr val="bg1">
                    <a:lumMod val="75000"/>
                  </a:schemeClr>
                </a:solidFill>
              </a:rPr>
              <a:t> explanation &amp; start assignment</a:t>
            </a:r>
          </a:p>
          <a:p>
            <a:endParaRPr lang="en-NL" b="1" dirty="0">
              <a:solidFill>
                <a:schemeClr val="bg1">
                  <a:lumMod val="75000"/>
                </a:schemeClr>
              </a:solidFill>
            </a:endParaRPr>
          </a:p>
          <a:p>
            <a:r>
              <a:rPr lang="en-NL" b="1" dirty="0">
                <a:solidFill>
                  <a:schemeClr val="bg1">
                    <a:lumMod val="75000"/>
                  </a:schemeClr>
                </a:solidFill>
              </a:rPr>
              <a:t>16:00 – 16:50: </a:t>
            </a:r>
            <a:r>
              <a:rPr lang="en-NL" dirty="0">
                <a:solidFill>
                  <a:schemeClr val="bg1">
                    <a:lumMod val="75000"/>
                  </a:schemeClr>
                </a:solidFill>
              </a:rPr>
              <a:t>Create the ugliest plot with palmerpenguins dataset, submit to Google Sheets, short presentations. </a:t>
            </a:r>
            <a:endParaRPr lang="en-NL" b="1" dirty="0">
              <a:solidFill>
                <a:schemeClr val="bg1">
                  <a:lumMod val="75000"/>
                </a:schemeClr>
              </a:solidFill>
            </a:endParaRPr>
          </a:p>
          <a:p>
            <a:endParaRPr lang="en-NL" dirty="0"/>
          </a:p>
        </p:txBody>
      </p:sp>
    </p:spTree>
    <p:extLst>
      <p:ext uri="{BB962C8B-B14F-4D97-AF65-F5344CB8AC3E}">
        <p14:creationId xmlns:p14="http://schemas.microsoft.com/office/powerpoint/2010/main" val="2762625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AC3DD-1ABE-861E-B8F5-F8C5A98B4218}"/>
              </a:ext>
            </a:extLst>
          </p:cNvPr>
          <p:cNvSpPr>
            <a:spLocks noGrp="1"/>
          </p:cNvSpPr>
          <p:nvPr>
            <p:ph type="title"/>
          </p:nvPr>
        </p:nvSpPr>
        <p:spPr>
          <a:xfrm>
            <a:off x="403485" y="234043"/>
            <a:ext cx="10515600" cy="1325563"/>
          </a:xfrm>
        </p:spPr>
        <p:txBody>
          <a:bodyPr/>
          <a:lstStyle/>
          <a:p>
            <a:r>
              <a:rPr lang="en-NL" b="1" dirty="0"/>
              <a:t>Reproducible science: why?</a:t>
            </a:r>
          </a:p>
        </p:txBody>
      </p:sp>
      <p:sp>
        <p:nvSpPr>
          <p:cNvPr id="3" name="Content Placeholder 2">
            <a:extLst>
              <a:ext uri="{FF2B5EF4-FFF2-40B4-BE49-F238E27FC236}">
                <a16:creationId xmlns:a16="http://schemas.microsoft.com/office/drawing/2014/main" id="{EF6C7AE9-15CB-03FD-C23C-C72E281F0F9A}"/>
              </a:ext>
            </a:extLst>
          </p:cNvPr>
          <p:cNvSpPr>
            <a:spLocks noGrp="1"/>
          </p:cNvSpPr>
          <p:nvPr>
            <p:ph idx="1"/>
          </p:nvPr>
        </p:nvSpPr>
        <p:spPr>
          <a:xfrm>
            <a:off x="126269" y="1690687"/>
            <a:ext cx="5957340" cy="4351338"/>
          </a:xfrm>
        </p:spPr>
        <p:txBody>
          <a:bodyPr/>
          <a:lstStyle/>
          <a:p>
            <a:r>
              <a:rPr lang="en-NL" dirty="0"/>
              <a:t>Strive to make it easy </a:t>
            </a:r>
            <a:r>
              <a:rPr lang="en-NL" b="1" dirty="0"/>
              <a:t>to reproduce </a:t>
            </a:r>
            <a:r>
              <a:rPr lang="en-NL" dirty="0"/>
              <a:t>your computational analysis.</a:t>
            </a:r>
          </a:p>
          <a:p>
            <a:r>
              <a:rPr lang="en-NL" dirty="0"/>
              <a:t>For others, incuding:</a:t>
            </a:r>
          </a:p>
          <a:p>
            <a:pPr lvl="1"/>
            <a:r>
              <a:rPr lang="en-GB" dirty="0"/>
              <a:t>Y</a:t>
            </a:r>
            <a:r>
              <a:rPr lang="en-NL" dirty="0"/>
              <a:t>our colleagues</a:t>
            </a:r>
          </a:p>
          <a:p>
            <a:pPr lvl="1"/>
            <a:r>
              <a:rPr lang="en-GB" dirty="0"/>
              <a:t>Your supervisor</a:t>
            </a:r>
          </a:p>
          <a:p>
            <a:pPr lvl="1"/>
            <a:r>
              <a:rPr lang="en-GB" dirty="0"/>
              <a:t>Other scientists in the field</a:t>
            </a:r>
          </a:p>
          <a:p>
            <a:pPr lvl="1"/>
            <a:r>
              <a:rPr lang="en-NL" dirty="0"/>
              <a:t>… yourself in six months from now!</a:t>
            </a:r>
          </a:p>
        </p:txBody>
      </p:sp>
      <p:pic>
        <p:nvPicPr>
          <p:cNvPr id="5" name="Picture 4" descr="10. Version Control Systems — Professional Software Development 2021.03">
            <a:extLst>
              <a:ext uri="{FF2B5EF4-FFF2-40B4-BE49-F238E27FC236}">
                <a16:creationId xmlns:a16="http://schemas.microsoft.com/office/drawing/2014/main" id="{876567CE-68B1-C0F0-2F2F-B3E047DA023C}"/>
              </a:ext>
            </a:extLst>
          </p:cNvPr>
          <p:cNvPicPr>
            <a:picLocks noChangeAspect="1"/>
          </p:cNvPicPr>
          <p:nvPr/>
        </p:nvPicPr>
        <p:blipFill>
          <a:blip r:embed="rId2"/>
          <a:srcRect b="36411"/>
          <a:stretch>
            <a:fillRect/>
          </a:stretch>
        </p:blipFill>
        <p:spPr>
          <a:xfrm>
            <a:off x="6274734" y="1399708"/>
            <a:ext cx="5818581" cy="4933296"/>
          </a:xfrm>
          <a:prstGeom prst="rect">
            <a:avLst/>
          </a:prstGeom>
        </p:spPr>
      </p:pic>
    </p:spTree>
    <p:extLst>
      <p:ext uri="{BB962C8B-B14F-4D97-AF65-F5344CB8AC3E}">
        <p14:creationId xmlns:p14="http://schemas.microsoft.com/office/powerpoint/2010/main" val="2007299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C254-278D-1CF2-C30B-DBC72842B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0A95B-EE4F-C635-DA76-9CC3F6E73F8B}"/>
              </a:ext>
            </a:extLst>
          </p:cNvPr>
          <p:cNvSpPr>
            <a:spLocks noGrp="1"/>
          </p:cNvSpPr>
          <p:nvPr>
            <p:ph type="title"/>
          </p:nvPr>
        </p:nvSpPr>
        <p:spPr/>
        <p:txBody>
          <a:bodyPr/>
          <a:lstStyle/>
          <a:p>
            <a:r>
              <a:rPr lang="en-NL" b="1" dirty="0"/>
              <a:t>Reproducible science is FAIR</a:t>
            </a:r>
          </a:p>
        </p:txBody>
      </p:sp>
      <p:sp>
        <p:nvSpPr>
          <p:cNvPr id="3" name="Content Placeholder 2">
            <a:extLst>
              <a:ext uri="{FF2B5EF4-FFF2-40B4-BE49-F238E27FC236}">
                <a16:creationId xmlns:a16="http://schemas.microsoft.com/office/drawing/2014/main" id="{DFD1C138-C827-CFAB-9044-A7476ABDCCFB}"/>
              </a:ext>
            </a:extLst>
          </p:cNvPr>
          <p:cNvSpPr>
            <a:spLocks noGrp="1"/>
          </p:cNvSpPr>
          <p:nvPr>
            <p:ph idx="1"/>
          </p:nvPr>
        </p:nvSpPr>
        <p:spPr>
          <a:xfrm>
            <a:off x="5396459" y="2141537"/>
            <a:ext cx="6550701" cy="4351338"/>
          </a:xfrm>
        </p:spPr>
        <p:txBody>
          <a:bodyPr/>
          <a:lstStyle/>
          <a:p>
            <a:r>
              <a:rPr lang="en-NL" dirty="0"/>
              <a:t>Others should be able to </a:t>
            </a:r>
            <a:r>
              <a:rPr lang="en-NL" b="1" dirty="0"/>
              <a:t>find </a:t>
            </a:r>
            <a:r>
              <a:rPr lang="en-NL" dirty="0"/>
              <a:t>your scripts.</a:t>
            </a:r>
          </a:p>
          <a:p>
            <a:r>
              <a:rPr lang="en-NL" dirty="0"/>
              <a:t>The raw data of a project should become </a:t>
            </a:r>
            <a:r>
              <a:rPr lang="en-NL" b="1" dirty="0"/>
              <a:t>accessible </a:t>
            </a:r>
            <a:r>
              <a:rPr lang="en-NL" dirty="0"/>
              <a:t>at some point</a:t>
            </a:r>
          </a:p>
          <a:p>
            <a:r>
              <a:rPr lang="en-NL" dirty="0"/>
              <a:t>Others should be able to </a:t>
            </a:r>
            <a:r>
              <a:rPr lang="en-NL" b="1" dirty="0"/>
              <a:t>operate/run </a:t>
            </a:r>
            <a:r>
              <a:rPr lang="en-NL" dirty="0"/>
              <a:t>the scripts on another computer system</a:t>
            </a:r>
          </a:p>
          <a:p>
            <a:r>
              <a:rPr lang="en-NL" dirty="0"/>
              <a:t>Others should be able to </a:t>
            </a:r>
            <a:r>
              <a:rPr lang="en-NL" b="1" dirty="0"/>
              <a:t>reuse </a:t>
            </a:r>
            <a:r>
              <a:rPr lang="en-NL" dirty="0"/>
              <a:t>your scripts for similar purposes</a:t>
            </a:r>
          </a:p>
        </p:txBody>
      </p:sp>
      <p:pic>
        <p:nvPicPr>
          <p:cNvPr id="4" name="Picture 3" descr="Common Data Elements: Standardizing Data Collection">
            <a:extLst>
              <a:ext uri="{FF2B5EF4-FFF2-40B4-BE49-F238E27FC236}">
                <a16:creationId xmlns:a16="http://schemas.microsoft.com/office/drawing/2014/main" id="{61A28FF7-76C2-1022-1400-E3F2DA48B794}"/>
              </a:ext>
            </a:extLst>
          </p:cNvPr>
          <p:cNvPicPr>
            <a:picLocks noChangeAspect="1"/>
          </p:cNvPicPr>
          <p:nvPr/>
        </p:nvPicPr>
        <p:blipFill>
          <a:blip r:embed="rId2"/>
          <a:stretch>
            <a:fillRect/>
          </a:stretch>
        </p:blipFill>
        <p:spPr>
          <a:xfrm>
            <a:off x="838200" y="1690688"/>
            <a:ext cx="4220582" cy="4473428"/>
          </a:xfrm>
          <a:prstGeom prst="rect">
            <a:avLst/>
          </a:prstGeom>
        </p:spPr>
      </p:pic>
    </p:spTree>
    <p:extLst>
      <p:ext uri="{BB962C8B-B14F-4D97-AF65-F5344CB8AC3E}">
        <p14:creationId xmlns:p14="http://schemas.microsoft.com/office/powerpoint/2010/main" val="1818415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E008B-0799-4893-6578-AE413F46937D}"/>
              </a:ext>
            </a:extLst>
          </p:cNvPr>
          <p:cNvSpPr>
            <a:spLocks noGrp="1"/>
          </p:cNvSpPr>
          <p:nvPr>
            <p:ph type="title"/>
          </p:nvPr>
        </p:nvSpPr>
        <p:spPr/>
        <p:txBody>
          <a:bodyPr/>
          <a:lstStyle/>
          <a:p>
            <a:r>
              <a:rPr lang="en-NL" dirty="0"/>
              <a:t>	</a:t>
            </a:r>
          </a:p>
        </p:txBody>
      </p:sp>
      <p:sp>
        <p:nvSpPr>
          <p:cNvPr id="3" name="Content Placeholder 2">
            <a:extLst>
              <a:ext uri="{FF2B5EF4-FFF2-40B4-BE49-F238E27FC236}">
                <a16:creationId xmlns:a16="http://schemas.microsoft.com/office/drawing/2014/main" id="{AF4F8FF6-613E-4A2B-EAE1-32A4B0C8C963}"/>
              </a:ext>
            </a:extLst>
          </p:cNvPr>
          <p:cNvSpPr>
            <a:spLocks noGrp="1"/>
          </p:cNvSpPr>
          <p:nvPr>
            <p:ph idx="1"/>
          </p:nvPr>
        </p:nvSpPr>
        <p:spPr/>
        <p:txBody>
          <a:bodyPr/>
          <a:lstStyle/>
          <a:p>
            <a:endParaRPr lang="en-NL" dirty="0"/>
          </a:p>
        </p:txBody>
      </p:sp>
      <p:pic>
        <p:nvPicPr>
          <p:cNvPr id="4" name="Picture 3">
            <a:extLst>
              <a:ext uri="{FF2B5EF4-FFF2-40B4-BE49-F238E27FC236}">
                <a16:creationId xmlns:a16="http://schemas.microsoft.com/office/drawing/2014/main" id="{39A99B51-EA32-2143-138B-A245DF33736E}"/>
              </a:ext>
            </a:extLst>
          </p:cNvPr>
          <p:cNvPicPr>
            <a:picLocks noChangeAspect="1"/>
          </p:cNvPicPr>
          <p:nvPr/>
        </p:nvPicPr>
        <p:blipFill>
          <a:blip r:embed="rId2"/>
          <a:srcRect l="3215"/>
          <a:stretch>
            <a:fillRect/>
          </a:stretch>
        </p:blipFill>
        <p:spPr>
          <a:xfrm>
            <a:off x="5877331" y="2254250"/>
            <a:ext cx="5924595" cy="2349500"/>
          </a:xfrm>
          <a:prstGeom prst="rect">
            <a:avLst/>
          </a:prstGeom>
        </p:spPr>
      </p:pic>
      <p:pic>
        <p:nvPicPr>
          <p:cNvPr id="5" name="Picture 4">
            <a:extLst>
              <a:ext uri="{FF2B5EF4-FFF2-40B4-BE49-F238E27FC236}">
                <a16:creationId xmlns:a16="http://schemas.microsoft.com/office/drawing/2014/main" id="{577F6E6B-4288-D4AF-1D0D-45C3160194D9}"/>
              </a:ext>
            </a:extLst>
          </p:cNvPr>
          <p:cNvPicPr>
            <a:picLocks noChangeAspect="1"/>
          </p:cNvPicPr>
          <p:nvPr/>
        </p:nvPicPr>
        <p:blipFill>
          <a:blip r:embed="rId3"/>
          <a:srcRect l="1368" r="1507"/>
          <a:stretch>
            <a:fillRect/>
          </a:stretch>
        </p:blipFill>
        <p:spPr>
          <a:xfrm>
            <a:off x="205240" y="1371510"/>
            <a:ext cx="5052560" cy="5351929"/>
          </a:xfrm>
          <a:prstGeom prst="rect">
            <a:avLst/>
          </a:prstGeom>
        </p:spPr>
      </p:pic>
      <p:sp>
        <p:nvSpPr>
          <p:cNvPr id="6" name="TextBox 5">
            <a:extLst>
              <a:ext uri="{FF2B5EF4-FFF2-40B4-BE49-F238E27FC236}">
                <a16:creationId xmlns:a16="http://schemas.microsoft.com/office/drawing/2014/main" id="{F38A942A-2A73-D1EC-FE5D-31A3245D7B3F}"/>
              </a:ext>
            </a:extLst>
          </p:cNvPr>
          <p:cNvSpPr txBox="1"/>
          <p:nvPr/>
        </p:nvSpPr>
        <p:spPr>
          <a:xfrm>
            <a:off x="205240" y="848290"/>
            <a:ext cx="4642531" cy="523220"/>
          </a:xfrm>
          <a:prstGeom prst="rect">
            <a:avLst/>
          </a:prstGeom>
          <a:noFill/>
        </p:spPr>
        <p:txBody>
          <a:bodyPr wrap="square" rtlCol="0">
            <a:spAutoFit/>
          </a:bodyPr>
          <a:lstStyle/>
          <a:p>
            <a:r>
              <a:rPr lang="en-NL" sz="2800" b="1" dirty="0">
                <a:latin typeface="Andale Mono" panose="020B0509000000000004" pitchFamily="49" charset="0"/>
              </a:rPr>
              <a:t>Bad:</a:t>
            </a:r>
          </a:p>
        </p:txBody>
      </p:sp>
      <p:sp>
        <p:nvSpPr>
          <p:cNvPr id="7" name="TextBox 6">
            <a:extLst>
              <a:ext uri="{FF2B5EF4-FFF2-40B4-BE49-F238E27FC236}">
                <a16:creationId xmlns:a16="http://schemas.microsoft.com/office/drawing/2014/main" id="{B14482E5-2628-6342-4529-9184ED059039}"/>
              </a:ext>
            </a:extLst>
          </p:cNvPr>
          <p:cNvSpPr txBox="1"/>
          <p:nvPr/>
        </p:nvSpPr>
        <p:spPr>
          <a:xfrm>
            <a:off x="8337001" y="1731030"/>
            <a:ext cx="1688350" cy="523220"/>
          </a:xfrm>
          <a:prstGeom prst="rect">
            <a:avLst/>
          </a:prstGeom>
          <a:noFill/>
        </p:spPr>
        <p:txBody>
          <a:bodyPr wrap="square" rtlCol="0">
            <a:spAutoFit/>
          </a:bodyPr>
          <a:lstStyle/>
          <a:p>
            <a:r>
              <a:rPr lang="en-NL" sz="2800" b="1" dirty="0">
                <a:latin typeface="Andale Mono" panose="020B0509000000000004" pitchFamily="49" charset="0"/>
              </a:rPr>
              <a:t>Good:</a:t>
            </a:r>
          </a:p>
        </p:txBody>
      </p:sp>
      <p:sp>
        <p:nvSpPr>
          <p:cNvPr id="9" name="Title 1">
            <a:extLst>
              <a:ext uri="{FF2B5EF4-FFF2-40B4-BE49-F238E27FC236}">
                <a16:creationId xmlns:a16="http://schemas.microsoft.com/office/drawing/2014/main" id="{EE00E176-172F-3CFF-B96A-5B0A865CB6BA}"/>
              </a:ext>
            </a:extLst>
          </p:cNvPr>
          <p:cNvSpPr txBox="1">
            <a:spLocks/>
          </p:cNvSpPr>
          <p:nvPr/>
        </p:nvSpPr>
        <p:spPr>
          <a:xfrm>
            <a:off x="222931" y="-13367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L" sz="3600" b="1" dirty="0"/>
              <a:t>A clear folder structure helps reusibility</a:t>
            </a:r>
          </a:p>
        </p:txBody>
      </p:sp>
    </p:spTree>
    <p:extLst>
      <p:ext uri="{BB962C8B-B14F-4D97-AF65-F5344CB8AC3E}">
        <p14:creationId xmlns:p14="http://schemas.microsoft.com/office/powerpoint/2010/main" val="4179134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B8076-B663-76F9-0F9E-599694178B14}"/>
              </a:ext>
            </a:extLst>
          </p:cNvPr>
          <p:cNvSpPr>
            <a:spLocks noGrp="1"/>
          </p:cNvSpPr>
          <p:nvPr>
            <p:ph type="title"/>
          </p:nvPr>
        </p:nvSpPr>
        <p:spPr>
          <a:xfrm>
            <a:off x="462708" y="0"/>
            <a:ext cx="10515600" cy="1325563"/>
          </a:xfrm>
        </p:spPr>
        <p:txBody>
          <a:bodyPr>
            <a:normAutofit/>
          </a:bodyPr>
          <a:lstStyle/>
          <a:p>
            <a:r>
              <a:rPr lang="en-NL" sz="4000" b="1" dirty="0"/>
              <a:t>Version control with Git and Github</a:t>
            </a:r>
          </a:p>
        </p:txBody>
      </p:sp>
      <p:pic>
        <p:nvPicPr>
          <p:cNvPr id="4" name="Picture 3">
            <a:extLst>
              <a:ext uri="{FF2B5EF4-FFF2-40B4-BE49-F238E27FC236}">
                <a16:creationId xmlns:a16="http://schemas.microsoft.com/office/drawing/2014/main" id="{7BBB3C84-EC06-EAF9-2649-C0E735B81FDA}"/>
              </a:ext>
            </a:extLst>
          </p:cNvPr>
          <p:cNvPicPr>
            <a:picLocks noChangeAspect="1"/>
          </p:cNvPicPr>
          <p:nvPr/>
        </p:nvPicPr>
        <p:blipFill>
          <a:blip r:embed="rId2"/>
          <a:srcRect b="19948"/>
          <a:stretch>
            <a:fillRect/>
          </a:stretch>
        </p:blipFill>
        <p:spPr>
          <a:xfrm>
            <a:off x="2209800" y="2170398"/>
            <a:ext cx="7772400" cy="3709541"/>
          </a:xfrm>
          <a:prstGeom prst="rect">
            <a:avLst/>
          </a:prstGeom>
        </p:spPr>
      </p:pic>
      <p:sp>
        <p:nvSpPr>
          <p:cNvPr id="5" name="Content Placeholder 2">
            <a:extLst>
              <a:ext uri="{FF2B5EF4-FFF2-40B4-BE49-F238E27FC236}">
                <a16:creationId xmlns:a16="http://schemas.microsoft.com/office/drawing/2014/main" id="{63C8DAAB-2288-8A2E-97FA-CE01E5CDEB00}"/>
              </a:ext>
            </a:extLst>
          </p:cNvPr>
          <p:cNvSpPr>
            <a:spLocks noGrp="1"/>
          </p:cNvSpPr>
          <p:nvPr>
            <p:ph idx="1"/>
          </p:nvPr>
        </p:nvSpPr>
        <p:spPr>
          <a:xfrm>
            <a:off x="3696858" y="1469226"/>
            <a:ext cx="2317128" cy="917602"/>
          </a:xfrm>
        </p:spPr>
        <p:txBody>
          <a:bodyPr>
            <a:normAutofit fontScale="92500"/>
          </a:bodyPr>
          <a:lstStyle/>
          <a:p>
            <a:pPr marL="0" indent="0">
              <a:buNone/>
            </a:pPr>
            <a:r>
              <a:rPr lang="nl-NL" dirty="0" err="1"/>
              <a:t>Your</a:t>
            </a:r>
            <a:r>
              <a:rPr lang="nl-NL" dirty="0"/>
              <a:t> laptop or cluster folder</a:t>
            </a:r>
            <a:endParaRPr lang="en-NL" dirty="0"/>
          </a:p>
        </p:txBody>
      </p:sp>
      <p:pic>
        <p:nvPicPr>
          <p:cNvPr id="7" name="Picture 6" descr="Basic Git &amp; GitHub voor DevOps Engineers">
            <a:extLst>
              <a:ext uri="{FF2B5EF4-FFF2-40B4-BE49-F238E27FC236}">
                <a16:creationId xmlns:a16="http://schemas.microsoft.com/office/drawing/2014/main" id="{BA1997B5-E554-026D-41E1-93F34F1DABCD}"/>
              </a:ext>
            </a:extLst>
          </p:cNvPr>
          <p:cNvPicPr>
            <a:picLocks noChangeAspect="1"/>
          </p:cNvPicPr>
          <p:nvPr/>
        </p:nvPicPr>
        <p:blipFill>
          <a:blip r:embed="rId3"/>
          <a:srcRect l="9779" t="31097" r="47715" b="31529"/>
          <a:stretch>
            <a:fillRect/>
          </a:stretch>
        </p:blipFill>
        <p:spPr>
          <a:xfrm>
            <a:off x="232271" y="5258397"/>
            <a:ext cx="3238959" cy="1599603"/>
          </a:xfrm>
          <a:prstGeom prst="rect">
            <a:avLst/>
          </a:prstGeom>
        </p:spPr>
      </p:pic>
      <p:pic>
        <p:nvPicPr>
          <p:cNvPr id="8" name="Picture 7" descr="Basic Git &amp; GitHub voor DevOps Engineers">
            <a:extLst>
              <a:ext uri="{FF2B5EF4-FFF2-40B4-BE49-F238E27FC236}">
                <a16:creationId xmlns:a16="http://schemas.microsoft.com/office/drawing/2014/main" id="{229B115C-4922-F62D-AB77-BE12F9DC3FDC}"/>
              </a:ext>
            </a:extLst>
          </p:cNvPr>
          <p:cNvPicPr>
            <a:picLocks noChangeAspect="1"/>
          </p:cNvPicPr>
          <p:nvPr/>
        </p:nvPicPr>
        <p:blipFill>
          <a:blip r:embed="rId3"/>
          <a:srcRect l="54230" t="17502" r="11071" b="22007"/>
          <a:stretch>
            <a:fillRect/>
          </a:stretch>
        </p:blipFill>
        <p:spPr>
          <a:xfrm>
            <a:off x="9818171" y="1063228"/>
            <a:ext cx="2042816" cy="2000256"/>
          </a:xfrm>
          <a:prstGeom prst="rect">
            <a:avLst/>
          </a:prstGeom>
        </p:spPr>
      </p:pic>
    </p:spTree>
    <p:extLst>
      <p:ext uri="{BB962C8B-B14F-4D97-AF65-F5344CB8AC3E}">
        <p14:creationId xmlns:p14="http://schemas.microsoft.com/office/powerpoint/2010/main" val="2324639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32548E-C509-2C1F-B0D6-86677416E0C7}"/>
              </a:ext>
            </a:extLst>
          </p:cNvPr>
          <p:cNvSpPr>
            <a:spLocks noGrp="1"/>
          </p:cNvSpPr>
          <p:nvPr>
            <p:ph idx="1"/>
          </p:nvPr>
        </p:nvSpPr>
        <p:spPr/>
        <p:txBody>
          <a:bodyPr/>
          <a:lstStyle/>
          <a:p>
            <a:r>
              <a:rPr lang="en-GB" dirty="0"/>
              <a:t>G</a:t>
            </a:r>
            <a:r>
              <a:rPr lang="en-NL" dirty="0"/>
              <a:t>it helps you track changes of files and datasets via </a:t>
            </a:r>
            <a:r>
              <a:rPr lang="en-NL" i="1" dirty="0"/>
              <a:t>commits </a:t>
            </a:r>
            <a:r>
              <a:rPr lang="en-NL" dirty="0"/>
              <a:t>instead of filenames</a:t>
            </a:r>
          </a:p>
          <a:p>
            <a:endParaRPr lang="en-NL" i="1" dirty="0"/>
          </a:p>
        </p:txBody>
      </p:sp>
      <p:pic>
        <p:nvPicPr>
          <p:cNvPr id="4" name="Picture 3">
            <a:extLst>
              <a:ext uri="{FF2B5EF4-FFF2-40B4-BE49-F238E27FC236}">
                <a16:creationId xmlns:a16="http://schemas.microsoft.com/office/drawing/2014/main" id="{2FFC0713-063B-92E8-A54E-11B52ED459E7}"/>
              </a:ext>
            </a:extLst>
          </p:cNvPr>
          <p:cNvPicPr>
            <a:picLocks noChangeAspect="1"/>
          </p:cNvPicPr>
          <p:nvPr/>
        </p:nvPicPr>
        <p:blipFill>
          <a:blip r:embed="rId2"/>
          <a:stretch>
            <a:fillRect/>
          </a:stretch>
        </p:blipFill>
        <p:spPr>
          <a:xfrm>
            <a:off x="1218942" y="3151188"/>
            <a:ext cx="5369731" cy="2695562"/>
          </a:xfrm>
          <a:prstGeom prst="rect">
            <a:avLst/>
          </a:prstGeom>
        </p:spPr>
      </p:pic>
      <p:pic>
        <p:nvPicPr>
          <p:cNvPr id="5" name="Picture 4">
            <a:extLst>
              <a:ext uri="{FF2B5EF4-FFF2-40B4-BE49-F238E27FC236}">
                <a16:creationId xmlns:a16="http://schemas.microsoft.com/office/drawing/2014/main" id="{70744C77-2335-F09D-F411-3808DC7070A4}"/>
              </a:ext>
            </a:extLst>
          </p:cNvPr>
          <p:cNvPicPr>
            <a:picLocks noChangeAspect="1"/>
          </p:cNvPicPr>
          <p:nvPr/>
        </p:nvPicPr>
        <p:blipFill>
          <a:blip r:embed="rId3"/>
          <a:stretch>
            <a:fillRect/>
          </a:stretch>
        </p:blipFill>
        <p:spPr>
          <a:xfrm>
            <a:off x="7222803" y="3151188"/>
            <a:ext cx="3996866" cy="2695561"/>
          </a:xfrm>
          <a:prstGeom prst="rect">
            <a:avLst/>
          </a:prstGeom>
        </p:spPr>
      </p:pic>
      <p:sp>
        <p:nvSpPr>
          <p:cNvPr id="2" name="Title 1">
            <a:extLst>
              <a:ext uri="{FF2B5EF4-FFF2-40B4-BE49-F238E27FC236}">
                <a16:creationId xmlns:a16="http://schemas.microsoft.com/office/drawing/2014/main" id="{0B245139-D33A-2503-612C-7E603EFAB4EA}"/>
              </a:ext>
            </a:extLst>
          </p:cNvPr>
          <p:cNvSpPr>
            <a:spLocks noGrp="1"/>
          </p:cNvSpPr>
          <p:nvPr>
            <p:ph type="title"/>
          </p:nvPr>
        </p:nvSpPr>
        <p:spPr>
          <a:xfrm>
            <a:off x="462708" y="0"/>
            <a:ext cx="10515600" cy="1325563"/>
          </a:xfrm>
        </p:spPr>
        <p:txBody>
          <a:bodyPr>
            <a:normAutofit/>
          </a:bodyPr>
          <a:lstStyle/>
          <a:p>
            <a:r>
              <a:rPr lang="en-NL" sz="4000" b="1" dirty="0"/>
              <a:t>Version control with Git and Github</a:t>
            </a:r>
          </a:p>
        </p:txBody>
      </p:sp>
    </p:spTree>
    <p:extLst>
      <p:ext uri="{BB962C8B-B14F-4D97-AF65-F5344CB8AC3E}">
        <p14:creationId xmlns:p14="http://schemas.microsoft.com/office/powerpoint/2010/main" val="3365605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705C7-74BF-3F30-2A12-FA63A6BF9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1524E-337A-4E86-8FD3-A9C9A20B8D54}"/>
              </a:ext>
            </a:extLst>
          </p:cNvPr>
          <p:cNvSpPr>
            <a:spLocks noGrp="1"/>
          </p:cNvSpPr>
          <p:nvPr>
            <p:ph type="title"/>
          </p:nvPr>
        </p:nvSpPr>
        <p:spPr>
          <a:xfrm>
            <a:off x="462708" y="0"/>
            <a:ext cx="10515600" cy="1325563"/>
          </a:xfrm>
        </p:spPr>
        <p:txBody>
          <a:bodyPr>
            <a:normAutofit/>
          </a:bodyPr>
          <a:lstStyle/>
          <a:p>
            <a:r>
              <a:rPr lang="en-NL" sz="3200" b="1" dirty="0"/>
              <a:t>Version control with Git and Github for scientific projects</a:t>
            </a:r>
          </a:p>
        </p:txBody>
      </p:sp>
      <p:sp>
        <p:nvSpPr>
          <p:cNvPr id="8" name="Content Placeholder 7">
            <a:extLst>
              <a:ext uri="{FF2B5EF4-FFF2-40B4-BE49-F238E27FC236}">
                <a16:creationId xmlns:a16="http://schemas.microsoft.com/office/drawing/2014/main" id="{842F5229-5D8F-66DD-5915-27B3B02C5364}"/>
              </a:ext>
            </a:extLst>
          </p:cNvPr>
          <p:cNvSpPr>
            <a:spLocks noGrp="1"/>
          </p:cNvSpPr>
          <p:nvPr>
            <p:ph idx="1"/>
          </p:nvPr>
        </p:nvSpPr>
        <p:spPr>
          <a:xfrm>
            <a:off x="838200" y="1435332"/>
            <a:ext cx="10515600" cy="4351338"/>
          </a:xfrm>
        </p:spPr>
        <p:txBody>
          <a:bodyPr/>
          <a:lstStyle/>
          <a:p>
            <a:endParaRPr lang="en-NL" dirty="0"/>
          </a:p>
          <a:p>
            <a:endParaRPr lang="en-NL" dirty="0"/>
          </a:p>
          <a:p>
            <a:r>
              <a:rPr lang="en-NL" dirty="0"/>
              <a:t>Labjournal style, work-in-progress: </a:t>
            </a:r>
            <a:r>
              <a:rPr lang="en-GB" dirty="0">
                <a:hlinkClick r:id="rId2"/>
              </a:rPr>
              <a:t>https://github.com/mishapaauw/PPPlasmids</a:t>
            </a:r>
            <a:endParaRPr lang="en-GB" dirty="0"/>
          </a:p>
          <a:p>
            <a:endParaRPr lang="en-GB" dirty="0"/>
          </a:p>
          <a:p>
            <a:r>
              <a:rPr lang="en-GB" dirty="0"/>
              <a:t>Paper repository:</a:t>
            </a:r>
          </a:p>
          <a:p>
            <a:pPr marL="0" indent="0">
              <a:buNone/>
            </a:pPr>
            <a:r>
              <a:rPr lang="en-GB" dirty="0">
                <a:hlinkClick r:id="rId3"/>
              </a:rPr>
              <a:t>https://github.com/BleekerLab/Riboflavin</a:t>
            </a:r>
            <a:endParaRPr lang="en-GB" dirty="0"/>
          </a:p>
          <a:p>
            <a:endParaRPr lang="en-NL" dirty="0"/>
          </a:p>
        </p:txBody>
      </p:sp>
    </p:spTree>
    <p:extLst>
      <p:ext uri="{BB962C8B-B14F-4D97-AF65-F5344CB8AC3E}">
        <p14:creationId xmlns:p14="http://schemas.microsoft.com/office/powerpoint/2010/main" val="1971107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05334-9BA1-2DC1-366C-2C8986027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3B52B-512D-F8AD-669B-411BC26C7765}"/>
              </a:ext>
            </a:extLst>
          </p:cNvPr>
          <p:cNvSpPr>
            <a:spLocks noGrp="1"/>
          </p:cNvSpPr>
          <p:nvPr>
            <p:ph type="title"/>
          </p:nvPr>
        </p:nvSpPr>
        <p:spPr>
          <a:xfrm>
            <a:off x="838200" y="0"/>
            <a:ext cx="10515600" cy="1325563"/>
          </a:xfrm>
        </p:spPr>
        <p:txBody>
          <a:bodyPr/>
          <a:lstStyle/>
          <a:p>
            <a:r>
              <a:rPr lang="en-NL" b="1" dirty="0"/>
              <a:t>Timetable</a:t>
            </a:r>
          </a:p>
        </p:txBody>
      </p:sp>
      <p:sp>
        <p:nvSpPr>
          <p:cNvPr id="3" name="Content Placeholder 2">
            <a:extLst>
              <a:ext uri="{FF2B5EF4-FFF2-40B4-BE49-F238E27FC236}">
                <a16:creationId xmlns:a16="http://schemas.microsoft.com/office/drawing/2014/main" id="{47DF2D9E-4235-1170-3F9A-E26B290DAD86}"/>
              </a:ext>
            </a:extLst>
          </p:cNvPr>
          <p:cNvSpPr>
            <a:spLocks noGrp="1"/>
          </p:cNvSpPr>
          <p:nvPr>
            <p:ph idx="1"/>
          </p:nvPr>
        </p:nvSpPr>
        <p:spPr>
          <a:xfrm>
            <a:off x="838200" y="1253331"/>
            <a:ext cx="10515600" cy="4652794"/>
          </a:xfrm>
        </p:spPr>
        <p:txBody>
          <a:bodyPr>
            <a:normAutofit fontScale="92500" lnSpcReduction="20000"/>
          </a:bodyPr>
          <a:lstStyle/>
          <a:p>
            <a:r>
              <a:rPr lang="en-NL" b="1" dirty="0"/>
              <a:t>13:00 – 13:15:</a:t>
            </a:r>
            <a:r>
              <a:rPr lang="en-NL" dirty="0"/>
              <a:t> Mini lecture on reproducible science &amp; Github</a:t>
            </a:r>
          </a:p>
          <a:p>
            <a:r>
              <a:rPr lang="en-NL" b="1" dirty="0"/>
              <a:t>13:15 – 13:50:</a:t>
            </a:r>
            <a:r>
              <a:rPr lang="en-NL" dirty="0"/>
              <a:t> Setting up a github repository on Crunchomics</a:t>
            </a:r>
          </a:p>
          <a:p>
            <a:endParaRPr lang="en-NL" dirty="0"/>
          </a:p>
          <a:p>
            <a:r>
              <a:rPr lang="en-NL" b="1" dirty="0">
                <a:solidFill>
                  <a:schemeClr val="bg1">
                    <a:lumMod val="75000"/>
                  </a:schemeClr>
                </a:solidFill>
              </a:rPr>
              <a:t>14:00 – 14:20:</a:t>
            </a:r>
            <a:r>
              <a:rPr lang="en-NL" dirty="0">
                <a:solidFill>
                  <a:schemeClr val="bg1">
                    <a:lumMod val="75000"/>
                  </a:schemeClr>
                </a:solidFill>
              </a:rPr>
              <a:t> mini lecture on data visualisation theory</a:t>
            </a:r>
          </a:p>
          <a:p>
            <a:r>
              <a:rPr lang="en-NL" b="1" dirty="0">
                <a:solidFill>
                  <a:schemeClr val="bg1">
                    <a:lumMod val="75000"/>
                  </a:schemeClr>
                </a:solidFill>
              </a:rPr>
              <a:t>14:20 – 14:50:</a:t>
            </a:r>
            <a:r>
              <a:rPr lang="en-NL" dirty="0">
                <a:solidFill>
                  <a:schemeClr val="bg1">
                    <a:lumMod val="75000"/>
                  </a:schemeClr>
                </a:solidFill>
              </a:rPr>
              <a:t> coding in R, data visualisation</a:t>
            </a:r>
          </a:p>
          <a:p>
            <a:endParaRPr lang="en-NL" dirty="0">
              <a:solidFill>
                <a:schemeClr val="bg1">
                  <a:lumMod val="75000"/>
                </a:schemeClr>
              </a:solidFill>
            </a:endParaRPr>
          </a:p>
          <a:p>
            <a:r>
              <a:rPr lang="en-NL" b="1" dirty="0">
                <a:solidFill>
                  <a:schemeClr val="bg1">
                    <a:lumMod val="75000"/>
                  </a:schemeClr>
                </a:solidFill>
              </a:rPr>
              <a:t>15:00 </a:t>
            </a:r>
            <a:r>
              <a:rPr lang="en-NL" dirty="0">
                <a:solidFill>
                  <a:schemeClr val="bg1">
                    <a:lumMod val="75000"/>
                  </a:schemeClr>
                </a:solidFill>
              </a:rPr>
              <a:t>– </a:t>
            </a:r>
            <a:r>
              <a:rPr lang="en-NL" b="1" dirty="0">
                <a:solidFill>
                  <a:schemeClr val="bg1">
                    <a:lumMod val="75000"/>
                  </a:schemeClr>
                </a:solidFill>
              </a:rPr>
              <a:t>15:30: </a:t>
            </a:r>
            <a:r>
              <a:rPr lang="en-NL" dirty="0">
                <a:solidFill>
                  <a:schemeClr val="bg1">
                    <a:lumMod val="75000"/>
                  </a:schemeClr>
                </a:solidFill>
              </a:rPr>
              <a:t>more coding and data visualization</a:t>
            </a:r>
          </a:p>
          <a:p>
            <a:r>
              <a:rPr lang="en-NL" b="1" dirty="0">
                <a:solidFill>
                  <a:schemeClr val="bg1">
                    <a:lumMod val="75000"/>
                  </a:schemeClr>
                </a:solidFill>
              </a:rPr>
              <a:t>15:20 – 15:50:</a:t>
            </a:r>
            <a:r>
              <a:rPr lang="en-NL" dirty="0">
                <a:solidFill>
                  <a:schemeClr val="bg1">
                    <a:lumMod val="75000"/>
                  </a:schemeClr>
                </a:solidFill>
              </a:rPr>
              <a:t> explanation &amp; start assignment</a:t>
            </a:r>
          </a:p>
          <a:p>
            <a:endParaRPr lang="en-NL" b="1" dirty="0">
              <a:solidFill>
                <a:schemeClr val="bg1">
                  <a:lumMod val="75000"/>
                </a:schemeClr>
              </a:solidFill>
            </a:endParaRPr>
          </a:p>
          <a:p>
            <a:r>
              <a:rPr lang="en-NL" b="1" dirty="0">
                <a:solidFill>
                  <a:schemeClr val="bg1">
                    <a:lumMod val="75000"/>
                  </a:schemeClr>
                </a:solidFill>
              </a:rPr>
              <a:t>16:00 – 16:50: </a:t>
            </a:r>
            <a:r>
              <a:rPr lang="en-NL" dirty="0">
                <a:solidFill>
                  <a:schemeClr val="bg1">
                    <a:lumMod val="75000"/>
                  </a:schemeClr>
                </a:solidFill>
              </a:rPr>
              <a:t>Create the ugliest plot with palmerpenguins dataset, submit to Google Sheets, short presentations. </a:t>
            </a:r>
            <a:endParaRPr lang="en-NL" b="1" dirty="0">
              <a:solidFill>
                <a:schemeClr val="bg1">
                  <a:lumMod val="75000"/>
                </a:schemeClr>
              </a:solidFill>
            </a:endParaRPr>
          </a:p>
          <a:p>
            <a:endParaRPr lang="en-NL" dirty="0"/>
          </a:p>
        </p:txBody>
      </p:sp>
      <p:sp>
        <p:nvSpPr>
          <p:cNvPr id="4" name="TextBox 3">
            <a:extLst>
              <a:ext uri="{FF2B5EF4-FFF2-40B4-BE49-F238E27FC236}">
                <a16:creationId xmlns:a16="http://schemas.microsoft.com/office/drawing/2014/main" id="{CC1F4D2F-9B0B-B4E2-9F35-62D56F3FE1C7}"/>
              </a:ext>
            </a:extLst>
          </p:cNvPr>
          <p:cNvSpPr txBox="1"/>
          <p:nvPr/>
        </p:nvSpPr>
        <p:spPr>
          <a:xfrm>
            <a:off x="0" y="2368626"/>
            <a:ext cx="12191999" cy="830997"/>
          </a:xfrm>
          <a:prstGeom prst="rect">
            <a:avLst/>
          </a:prstGeom>
          <a:solidFill>
            <a:schemeClr val="accent4"/>
          </a:solidFill>
        </p:spPr>
        <p:txBody>
          <a:bodyPr wrap="square" rtlCol="0">
            <a:spAutoFit/>
          </a:bodyPr>
          <a:lstStyle/>
          <a:p>
            <a:pPr algn="ctr"/>
            <a:r>
              <a:rPr lang="en-NL" sz="2400" b="1" dirty="0">
                <a:solidFill>
                  <a:schemeClr val="bg1"/>
                </a:solidFill>
              </a:rPr>
              <a:t>Go to teaching materials website: </a:t>
            </a:r>
          </a:p>
          <a:p>
            <a:pPr algn="ctr"/>
            <a:r>
              <a:rPr lang="en-GB" sz="2400" b="1" dirty="0">
                <a:solidFill>
                  <a:schemeClr val="bg1"/>
                </a:solidFill>
              </a:rPr>
              <a:t>https://</a:t>
            </a:r>
            <a:r>
              <a:rPr lang="en-GB" sz="2400" b="1" dirty="0" err="1">
                <a:solidFill>
                  <a:schemeClr val="bg1"/>
                </a:solidFill>
              </a:rPr>
              <a:t>mishapaauw.github.io</a:t>
            </a:r>
            <a:r>
              <a:rPr lang="en-GB" sz="2400" b="1" dirty="0">
                <a:solidFill>
                  <a:schemeClr val="bg1"/>
                </a:solidFill>
              </a:rPr>
              <a:t>/molecular-data-analysis/part1-dataviz/01-github.html</a:t>
            </a:r>
            <a:endParaRPr lang="en-NL" sz="2400" b="1" dirty="0">
              <a:solidFill>
                <a:schemeClr val="bg1"/>
              </a:solidFill>
            </a:endParaRPr>
          </a:p>
        </p:txBody>
      </p:sp>
    </p:spTree>
    <p:extLst>
      <p:ext uri="{BB962C8B-B14F-4D97-AF65-F5344CB8AC3E}">
        <p14:creationId xmlns:p14="http://schemas.microsoft.com/office/powerpoint/2010/main" val="1163873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93455-1F0C-027D-3D9E-1DC5D002A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4AEB7-A14F-58DF-94F2-CCFA9F9AD2A8}"/>
              </a:ext>
            </a:extLst>
          </p:cNvPr>
          <p:cNvSpPr>
            <a:spLocks noGrp="1"/>
          </p:cNvSpPr>
          <p:nvPr>
            <p:ph type="title"/>
          </p:nvPr>
        </p:nvSpPr>
        <p:spPr>
          <a:xfrm>
            <a:off x="838200" y="0"/>
            <a:ext cx="10515600" cy="1325563"/>
          </a:xfrm>
        </p:spPr>
        <p:txBody>
          <a:bodyPr/>
          <a:lstStyle/>
          <a:p>
            <a:r>
              <a:rPr lang="en-NL" b="1" dirty="0"/>
              <a:t>Timetable</a:t>
            </a:r>
          </a:p>
        </p:txBody>
      </p:sp>
      <p:sp>
        <p:nvSpPr>
          <p:cNvPr id="3" name="Content Placeholder 2">
            <a:extLst>
              <a:ext uri="{FF2B5EF4-FFF2-40B4-BE49-F238E27FC236}">
                <a16:creationId xmlns:a16="http://schemas.microsoft.com/office/drawing/2014/main" id="{95AFB753-4201-8E2B-A26A-B1EDBB5E4978}"/>
              </a:ext>
            </a:extLst>
          </p:cNvPr>
          <p:cNvSpPr>
            <a:spLocks noGrp="1"/>
          </p:cNvSpPr>
          <p:nvPr>
            <p:ph idx="1"/>
          </p:nvPr>
        </p:nvSpPr>
        <p:spPr>
          <a:xfrm>
            <a:off x="838200" y="1253331"/>
            <a:ext cx="10515600" cy="4652794"/>
          </a:xfrm>
        </p:spPr>
        <p:txBody>
          <a:bodyPr>
            <a:normAutofit fontScale="92500" lnSpcReduction="20000"/>
          </a:bodyPr>
          <a:lstStyle/>
          <a:p>
            <a:r>
              <a:rPr lang="en-NL" b="1" dirty="0">
                <a:solidFill>
                  <a:schemeClr val="bg1">
                    <a:lumMod val="75000"/>
                  </a:schemeClr>
                </a:solidFill>
              </a:rPr>
              <a:t>13:00 – 13:15:</a:t>
            </a:r>
            <a:r>
              <a:rPr lang="en-NL" dirty="0">
                <a:solidFill>
                  <a:schemeClr val="bg1">
                    <a:lumMod val="75000"/>
                  </a:schemeClr>
                </a:solidFill>
              </a:rPr>
              <a:t> Mini lecture on reproducible science &amp; Github</a:t>
            </a:r>
          </a:p>
          <a:p>
            <a:r>
              <a:rPr lang="en-NL" b="1" dirty="0">
                <a:solidFill>
                  <a:schemeClr val="bg1">
                    <a:lumMod val="75000"/>
                  </a:schemeClr>
                </a:solidFill>
              </a:rPr>
              <a:t>13:15 – 13:50:</a:t>
            </a:r>
            <a:r>
              <a:rPr lang="en-NL" dirty="0">
                <a:solidFill>
                  <a:schemeClr val="bg1">
                    <a:lumMod val="75000"/>
                  </a:schemeClr>
                </a:solidFill>
              </a:rPr>
              <a:t> Setting up a github repository on Crunchomics</a:t>
            </a:r>
          </a:p>
          <a:p>
            <a:endParaRPr lang="en-NL" dirty="0"/>
          </a:p>
          <a:p>
            <a:r>
              <a:rPr lang="en-NL" b="1" dirty="0"/>
              <a:t>14:00 – 14:20:</a:t>
            </a:r>
            <a:r>
              <a:rPr lang="en-NL" dirty="0"/>
              <a:t> mini lecture on data visualisation theory</a:t>
            </a:r>
          </a:p>
          <a:p>
            <a:r>
              <a:rPr lang="en-NL" b="1" dirty="0"/>
              <a:t>14:20 – 14:50:</a:t>
            </a:r>
            <a:r>
              <a:rPr lang="en-NL" dirty="0"/>
              <a:t> coding in R, data visualisation</a:t>
            </a:r>
          </a:p>
          <a:p>
            <a:endParaRPr lang="en-NL" dirty="0">
              <a:solidFill>
                <a:schemeClr val="bg1">
                  <a:lumMod val="75000"/>
                </a:schemeClr>
              </a:solidFill>
            </a:endParaRPr>
          </a:p>
          <a:p>
            <a:r>
              <a:rPr lang="en-NL" b="1" dirty="0"/>
              <a:t>15:00 </a:t>
            </a:r>
            <a:r>
              <a:rPr lang="en-NL" dirty="0"/>
              <a:t>– </a:t>
            </a:r>
            <a:r>
              <a:rPr lang="en-NL" b="1" dirty="0"/>
              <a:t>15:30: </a:t>
            </a:r>
            <a:r>
              <a:rPr lang="en-NL" dirty="0"/>
              <a:t>more coding and data visualization</a:t>
            </a:r>
          </a:p>
          <a:p>
            <a:r>
              <a:rPr lang="en-NL" b="1" dirty="0">
                <a:solidFill>
                  <a:schemeClr val="bg1">
                    <a:lumMod val="75000"/>
                  </a:schemeClr>
                </a:solidFill>
              </a:rPr>
              <a:t>15:20 – 15:50:</a:t>
            </a:r>
            <a:r>
              <a:rPr lang="en-NL" dirty="0">
                <a:solidFill>
                  <a:schemeClr val="bg1">
                    <a:lumMod val="75000"/>
                  </a:schemeClr>
                </a:solidFill>
              </a:rPr>
              <a:t> explanation &amp; start assignment</a:t>
            </a:r>
          </a:p>
          <a:p>
            <a:endParaRPr lang="en-NL" b="1" dirty="0">
              <a:solidFill>
                <a:schemeClr val="bg1">
                  <a:lumMod val="75000"/>
                </a:schemeClr>
              </a:solidFill>
            </a:endParaRPr>
          </a:p>
          <a:p>
            <a:r>
              <a:rPr lang="en-NL" b="1" dirty="0">
                <a:solidFill>
                  <a:schemeClr val="bg1">
                    <a:lumMod val="75000"/>
                  </a:schemeClr>
                </a:solidFill>
              </a:rPr>
              <a:t>16:00 – 16:50: </a:t>
            </a:r>
            <a:r>
              <a:rPr lang="en-NL" dirty="0">
                <a:solidFill>
                  <a:schemeClr val="bg1">
                    <a:lumMod val="75000"/>
                  </a:schemeClr>
                </a:solidFill>
              </a:rPr>
              <a:t>Create the ugliest plot with palmerpenguins dataset, submit to Google Sheets, short presentations. </a:t>
            </a:r>
            <a:endParaRPr lang="en-NL" b="1" dirty="0">
              <a:solidFill>
                <a:schemeClr val="bg1">
                  <a:lumMod val="75000"/>
                </a:schemeClr>
              </a:solidFill>
            </a:endParaRPr>
          </a:p>
          <a:p>
            <a:endParaRPr lang="en-NL" dirty="0"/>
          </a:p>
        </p:txBody>
      </p:sp>
    </p:spTree>
    <p:extLst>
      <p:ext uri="{BB962C8B-B14F-4D97-AF65-F5344CB8AC3E}">
        <p14:creationId xmlns:p14="http://schemas.microsoft.com/office/powerpoint/2010/main" val="2997966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AF9A60-25C0-99E6-A608-B84BF6097956}"/>
              </a:ext>
            </a:extLst>
          </p:cNvPr>
          <p:cNvPicPr>
            <a:picLocks noChangeAspect="1"/>
          </p:cNvPicPr>
          <p:nvPr/>
        </p:nvPicPr>
        <p:blipFill>
          <a:blip r:embed="rId2"/>
          <a:srcRect t="53522"/>
          <a:stretch>
            <a:fillRect/>
          </a:stretch>
        </p:blipFill>
        <p:spPr>
          <a:xfrm>
            <a:off x="0" y="877167"/>
            <a:ext cx="7602172" cy="1909131"/>
          </a:xfrm>
          <a:prstGeom prst="rect">
            <a:avLst/>
          </a:prstGeom>
        </p:spPr>
      </p:pic>
      <p:sp>
        <p:nvSpPr>
          <p:cNvPr id="3" name="TextBox 2">
            <a:extLst>
              <a:ext uri="{FF2B5EF4-FFF2-40B4-BE49-F238E27FC236}">
                <a16:creationId xmlns:a16="http://schemas.microsoft.com/office/drawing/2014/main" id="{A6350A4F-4613-8503-5E76-08ECCA0AB88A}"/>
              </a:ext>
            </a:extLst>
          </p:cNvPr>
          <p:cNvSpPr txBox="1"/>
          <p:nvPr/>
        </p:nvSpPr>
        <p:spPr>
          <a:xfrm>
            <a:off x="6094164" y="6024220"/>
            <a:ext cx="6097836" cy="584775"/>
          </a:xfrm>
          <a:prstGeom prst="rect">
            <a:avLst/>
          </a:prstGeom>
          <a:noFill/>
        </p:spPr>
        <p:txBody>
          <a:bodyPr wrap="square">
            <a:spAutoFit/>
          </a:bodyPr>
          <a:lstStyle/>
          <a:p>
            <a:r>
              <a:rPr lang="en-NL" sz="3200" dirty="0"/>
              <a:t>https://clauswilke.com/dataviz/</a:t>
            </a:r>
          </a:p>
        </p:txBody>
      </p:sp>
      <p:pic>
        <p:nvPicPr>
          <p:cNvPr id="5" name="Picture 4">
            <a:extLst>
              <a:ext uri="{FF2B5EF4-FFF2-40B4-BE49-F238E27FC236}">
                <a16:creationId xmlns:a16="http://schemas.microsoft.com/office/drawing/2014/main" id="{50BF346D-5E28-D4F4-A060-E9BFFD132D8D}"/>
              </a:ext>
            </a:extLst>
          </p:cNvPr>
          <p:cNvPicPr>
            <a:picLocks noChangeAspect="1"/>
          </p:cNvPicPr>
          <p:nvPr/>
        </p:nvPicPr>
        <p:blipFill>
          <a:blip r:embed="rId2"/>
          <a:srcRect r="54962" b="80953"/>
          <a:stretch>
            <a:fillRect/>
          </a:stretch>
        </p:blipFill>
        <p:spPr>
          <a:xfrm>
            <a:off x="0" y="199055"/>
            <a:ext cx="3423885" cy="782396"/>
          </a:xfrm>
          <a:prstGeom prst="rect">
            <a:avLst/>
          </a:prstGeom>
        </p:spPr>
      </p:pic>
      <p:sp>
        <p:nvSpPr>
          <p:cNvPr id="8" name="Content Placeholder 7">
            <a:extLst>
              <a:ext uri="{FF2B5EF4-FFF2-40B4-BE49-F238E27FC236}">
                <a16:creationId xmlns:a16="http://schemas.microsoft.com/office/drawing/2014/main" id="{304C5AFC-575B-55EB-748F-2181DDD98A55}"/>
              </a:ext>
            </a:extLst>
          </p:cNvPr>
          <p:cNvSpPr>
            <a:spLocks noGrp="1"/>
          </p:cNvSpPr>
          <p:nvPr>
            <p:ph idx="1"/>
          </p:nvPr>
        </p:nvSpPr>
        <p:spPr>
          <a:xfrm>
            <a:off x="3021840" y="343737"/>
            <a:ext cx="1404256" cy="493032"/>
          </a:xfrm>
        </p:spPr>
        <p:txBody>
          <a:bodyPr/>
          <a:lstStyle/>
          <a:p>
            <a:pPr marL="0" indent="0">
              <a:buNone/>
            </a:pPr>
            <a:r>
              <a:rPr lang="en-NL" dirty="0"/>
              <a:t>(1983)</a:t>
            </a:r>
          </a:p>
        </p:txBody>
      </p:sp>
      <p:pic>
        <p:nvPicPr>
          <p:cNvPr id="6" name="Picture 5" descr="Cover image">
            <a:extLst>
              <a:ext uri="{FF2B5EF4-FFF2-40B4-BE49-F238E27FC236}">
                <a16:creationId xmlns:a16="http://schemas.microsoft.com/office/drawing/2014/main" id="{779DFD20-7EC3-B553-D832-12FD97FF5404}"/>
              </a:ext>
            </a:extLst>
          </p:cNvPr>
          <p:cNvPicPr>
            <a:picLocks noChangeAspect="1"/>
          </p:cNvPicPr>
          <p:nvPr/>
        </p:nvPicPr>
        <p:blipFill>
          <a:blip r:embed="rId3"/>
          <a:stretch>
            <a:fillRect/>
          </a:stretch>
        </p:blipFill>
        <p:spPr>
          <a:xfrm>
            <a:off x="7891137" y="1446712"/>
            <a:ext cx="3496388" cy="4577508"/>
          </a:xfrm>
          <a:prstGeom prst="rect">
            <a:avLst/>
          </a:prstGeom>
        </p:spPr>
      </p:pic>
    </p:spTree>
    <p:extLst>
      <p:ext uri="{BB962C8B-B14F-4D97-AF65-F5344CB8AC3E}">
        <p14:creationId xmlns:p14="http://schemas.microsoft.com/office/powerpoint/2010/main" val="2860180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944B-3376-84EE-2492-F47A574A1A24}"/>
              </a:ext>
            </a:extLst>
          </p:cNvPr>
          <p:cNvSpPr>
            <a:spLocks noGrp="1"/>
          </p:cNvSpPr>
          <p:nvPr>
            <p:ph type="title"/>
          </p:nvPr>
        </p:nvSpPr>
        <p:spPr>
          <a:xfrm>
            <a:off x="1188215" y="376142"/>
            <a:ext cx="9815570" cy="1325563"/>
          </a:xfrm>
        </p:spPr>
        <p:txBody>
          <a:bodyPr>
            <a:normAutofit/>
          </a:bodyPr>
          <a:lstStyle/>
          <a:p>
            <a:pPr algn="ctr"/>
            <a:r>
              <a:rPr lang="en-NL" sz="3600" b="1" dirty="0"/>
              <a:t>Tufte’s principles from the 80s are highly relevant for modern biology</a:t>
            </a:r>
          </a:p>
        </p:txBody>
      </p:sp>
      <p:sp>
        <p:nvSpPr>
          <p:cNvPr id="3" name="Content Placeholder 2">
            <a:extLst>
              <a:ext uri="{FF2B5EF4-FFF2-40B4-BE49-F238E27FC236}">
                <a16:creationId xmlns:a16="http://schemas.microsoft.com/office/drawing/2014/main" id="{C79A84C2-ADD5-4A32-1549-DED14FD1E30E}"/>
              </a:ext>
            </a:extLst>
          </p:cNvPr>
          <p:cNvSpPr>
            <a:spLocks noGrp="1"/>
          </p:cNvSpPr>
          <p:nvPr>
            <p:ph idx="1"/>
          </p:nvPr>
        </p:nvSpPr>
        <p:spPr>
          <a:xfrm>
            <a:off x="838200" y="1988911"/>
            <a:ext cx="10515600" cy="4351338"/>
          </a:xfrm>
        </p:spPr>
        <p:txBody>
          <a:bodyPr/>
          <a:lstStyle/>
          <a:p>
            <a:pPr marL="0" indent="0">
              <a:buNone/>
            </a:pPr>
            <a:r>
              <a:rPr lang="en-NL" dirty="0">
                <a:solidFill>
                  <a:schemeClr val="bg1">
                    <a:lumMod val="65000"/>
                  </a:schemeClr>
                </a:solidFill>
              </a:rPr>
              <a:t>Graphical excellence</a:t>
            </a:r>
            <a:r>
              <a:rPr lang="en-NL" dirty="0"/>
              <a:t> ”</a:t>
            </a:r>
            <a:r>
              <a:rPr lang="en-NL" i="1" dirty="0"/>
              <a:t>consists of complex ideas communicated with clarity, precision, and efficiency</a:t>
            </a:r>
            <a:r>
              <a:rPr lang="en-NL" dirty="0"/>
              <a:t>”</a:t>
            </a:r>
          </a:p>
          <a:p>
            <a:pPr marL="0" indent="0">
              <a:buNone/>
            </a:pPr>
            <a:endParaRPr lang="en-NL" dirty="0"/>
          </a:p>
          <a:p>
            <a:pPr marL="0" indent="0">
              <a:buNone/>
            </a:pPr>
            <a:r>
              <a:rPr lang="en-NL" dirty="0">
                <a:solidFill>
                  <a:schemeClr val="bg1">
                    <a:lumMod val="65000"/>
                  </a:schemeClr>
                </a:solidFill>
              </a:rPr>
              <a:t>Graphical excellence is</a:t>
            </a:r>
            <a:r>
              <a:rPr lang="en-NL" dirty="0"/>
              <a:t> </a:t>
            </a:r>
            <a:r>
              <a:rPr lang="en-NL" i="1" dirty="0"/>
              <a:t>“giving the viewer the greatest number of ideas in the shortest time”</a:t>
            </a:r>
          </a:p>
          <a:p>
            <a:pPr marL="0" indent="0">
              <a:buNone/>
            </a:pPr>
            <a:endParaRPr lang="en-NL" i="1" dirty="0"/>
          </a:p>
          <a:p>
            <a:pPr marL="0" indent="0">
              <a:buNone/>
            </a:pPr>
            <a:r>
              <a:rPr lang="en-NL" dirty="0">
                <a:solidFill>
                  <a:schemeClr val="bg1">
                    <a:lumMod val="65000"/>
                  </a:schemeClr>
                </a:solidFill>
              </a:rPr>
              <a:t>Graphical excellence</a:t>
            </a:r>
            <a:r>
              <a:rPr lang="en-NL" dirty="0"/>
              <a:t> ”</a:t>
            </a:r>
            <a:r>
              <a:rPr lang="en-NL" i="1" dirty="0"/>
              <a:t>requires telling the truth about the data</a:t>
            </a:r>
            <a:r>
              <a:rPr lang="en-NL" dirty="0"/>
              <a:t>”</a:t>
            </a:r>
          </a:p>
        </p:txBody>
      </p:sp>
    </p:spTree>
    <p:extLst>
      <p:ext uri="{BB962C8B-B14F-4D97-AF65-F5344CB8AC3E}">
        <p14:creationId xmlns:p14="http://schemas.microsoft.com/office/powerpoint/2010/main" val="588000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D0238A-851A-1809-A9E3-B7EC721C10B3}"/>
              </a:ext>
            </a:extLst>
          </p:cNvPr>
          <p:cNvSpPr>
            <a:spLocks noGrp="1"/>
          </p:cNvSpPr>
          <p:nvPr>
            <p:ph type="title"/>
          </p:nvPr>
        </p:nvSpPr>
        <p:spPr>
          <a:xfrm>
            <a:off x="842556" y="-223497"/>
            <a:ext cx="10094261" cy="1680519"/>
          </a:xfrm>
        </p:spPr>
        <p:txBody>
          <a:bodyPr>
            <a:normAutofit/>
          </a:bodyPr>
          <a:lstStyle/>
          <a:p>
            <a:r>
              <a:rPr lang="en-NL" sz="3600" b="1" dirty="0"/>
              <a:t>Design principle 1: above all else,  show the data</a:t>
            </a:r>
          </a:p>
        </p:txBody>
      </p:sp>
      <p:pic>
        <p:nvPicPr>
          <p:cNvPr id="4" name="Picture 3">
            <a:extLst>
              <a:ext uri="{FF2B5EF4-FFF2-40B4-BE49-F238E27FC236}">
                <a16:creationId xmlns:a16="http://schemas.microsoft.com/office/drawing/2014/main" id="{2B795B9D-F6CE-EA7D-B900-66691544EDF1}"/>
              </a:ext>
            </a:extLst>
          </p:cNvPr>
          <p:cNvPicPr>
            <a:picLocks noChangeAspect="1"/>
          </p:cNvPicPr>
          <p:nvPr/>
        </p:nvPicPr>
        <p:blipFill>
          <a:blip r:embed="rId2"/>
          <a:stretch>
            <a:fillRect/>
          </a:stretch>
        </p:blipFill>
        <p:spPr>
          <a:xfrm>
            <a:off x="243395" y="1457022"/>
            <a:ext cx="5646292" cy="4037096"/>
          </a:xfrm>
          <a:prstGeom prst="rect">
            <a:avLst/>
          </a:prstGeom>
        </p:spPr>
      </p:pic>
      <p:pic>
        <p:nvPicPr>
          <p:cNvPr id="5" name="Picture 4">
            <a:extLst>
              <a:ext uri="{FF2B5EF4-FFF2-40B4-BE49-F238E27FC236}">
                <a16:creationId xmlns:a16="http://schemas.microsoft.com/office/drawing/2014/main" id="{A10FF3FA-B45C-E40E-5B9F-8BFFF1F8B506}"/>
              </a:ext>
            </a:extLst>
          </p:cNvPr>
          <p:cNvPicPr>
            <a:picLocks noChangeAspect="1"/>
          </p:cNvPicPr>
          <p:nvPr/>
        </p:nvPicPr>
        <p:blipFill>
          <a:blip r:embed="rId3"/>
          <a:stretch>
            <a:fillRect/>
          </a:stretch>
        </p:blipFill>
        <p:spPr>
          <a:xfrm>
            <a:off x="6094475" y="1457022"/>
            <a:ext cx="5850866" cy="4037096"/>
          </a:xfrm>
          <a:prstGeom prst="rect">
            <a:avLst/>
          </a:prstGeom>
        </p:spPr>
      </p:pic>
      <p:sp>
        <p:nvSpPr>
          <p:cNvPr id="3" name="TextBox 2">
            <a:extLst>
              <a:ext uri="{FF2B5EF4-FFF2-40B4-BE49-F238E27FC236}">
                <a16:creationId xmlns:a16="http://schemas.microsoft.com/office/drawing/2014/main" id="{482D7C9E-9228-5A0C-8433-082ADF7473C4}"/>
              </a:ext>
            </a:extLst>
          </p:cNvPr>
          <p:cNvSpPr txBox="1"/>
          <p:nvPr/>
        </p:nvSpPr>
        <p:spPr>
          <a:xfrm>
            <a:off x="1777573" y="6457890"/>
            <a:ext cx="2870627" cy="400110"/>
          </a:xfrm>
          <a:prstGeom prst="rect">
            <a:avLst/>
          </a:prstGeom>
          <a:noFill/>
        </p:spPr>
        <p:txBody>
          <a:bodyPr wrap="square">
            <a:spAutoFit/>
          </a:bodyPr>
          <a:lstStyle/>
          <a:p>
            <a:r>
              <a:rPr lang="en-GB" sz="2000" dirty="0"/>
              <a:t>William Playfair (1785)</a:t>
            </a:r>
            <a:endParaRPr lang="en-NL" sz="1400" dirty="0"/>
          </a:p>
        </p:txBody>
      </p:sp>
      <p:sp>
        <p:nvSpPr>
          <p:cNvPr id="6" name="TextBox 5">
            <a:extLst>
              <a:ext uri="{FF2B5EF4-FFF2-40B4-BE49-F238E27FC236}">
                <a16:creationId xmlns:a16="http://schemas.microsoft.com/office/drawing/2014/main" id="{4648A379-C8D9-6BA5-78B0-4D6568278A25}"/>
              </a:ext>
            </a:extLst>
          </p:cNvPr>
          <p:cNvSpPr txBox="1"/>
          <p:nvPr/>
        </p:nvSpPr>
        <p:spPr>
          <a:xfrm>
            <a:off x="7742945" y="6457890"/>
            <a:ext cx="2870627" cy="400110"/>
          </a:xfrm>
          <a:prstGeom prst="rect">
            <a:avLst/>
          </a:prstGeom>
          <a:noFill/>
        </p:spPr>
        <p:txBody>
          <a:bodyPr wrap="square">
            <a:spAutoFit/>
          </a:bodyPr>
          <a:lstStyle/>
          <a:p>
            <a:r>
              <a:rPr lang="en-GB" sz="2000" dirty="0"/>
              <a:t>William Playfair (1786)</a:t>
            </a:r>
            <a:endParaRPr lang="en-NL" sz="1400" dirty="0"/>
          </a:p>
        </p:txBody>
      </p:sp>
      <p:cxnSp>
        <p:nvCxnSpPr>
          <p:cNvPr id="7" name="Straight Arrow Connector 6">
            <a:extLst>
              <a:ext uri="{FF2B5EF4-FFF2-40B4-BE49-F238E27FC236}">
                <a16:creationId xmlns:a16="http://schemas.microsoft.com/office/drawing/2014/main" id="{A5D864A2-DADF-49CD-EC28-DAE00A06508F}"/>
              </a:ext>
            </a:extLst>
          </p:cNvPr>
          <p:cNvCxnSpPr>
            <a:cxnSpLocks/>
          </p:cNvCxnSpPr>
          <p:nvPr/>
        </p:nvCxnSpPr>
        <p:spPr>
          <a:xfrm>
            <a:off x="1344385" y="4289355"/>
            <a:ext cx="6607629" cy="0"/>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A15D2641-5287-B92B-34ED-A92061B00657}"/>
              </a:ext>
            </a:extLst>
          </p:cNvPr>
          <p:cNvCxnSpPr>
            <a:cxnSpLocks/>
          </p:cNvCxnSpPr>
          <p:nvPr/>
        </p:nvCxnSpPr>
        <p:spPr>
          <a:xfrm>
            <a:off x="2909455" y="5947558"/>
            <a:ext cx="6386945" cy="0"/>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50394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743F88-7290-0AFD-3689-194121F04FE1}"/>
              </a:ext>
            </a:extLst>
          </p:cNvPr>
          <p:cNvPicPr>
            <a:picLocks noChangeAspect="1"/>
          </p:cNvPicPr>
          <p:nvPr/>
        </p:nvPicPr>
        <p:blipFill>
          <a:blip r:embed="rId3"/>
          <a:stretch>
            <a:fillRect/>
          </a:stretch>
        </p:blipFill>
        <p:spPr>
          <a:xfrm>
            <a:off x="2102224" y="381119"/>
            <a:ext cx="7772400" cy="1459307"/>
          </a:xfrm>
          <a:prstGeom prst="rect">
            <a:avLst/>
          </a:prstGeom>
        </p:spPr>
      </p:pic>
      <p:sp>
        <p:nvSpPr>
          <p:cNvPr id="6" name="Content Placeholder 5">
            <a:extLst>
              <a:ext uri="{FF2B5EF4-FFF2-40B4-BE49-F238E27FC236}">
                <a16:creationId xmlns:a16="http://schemas.microsoft.com/office/drawing/2014/main" id="{92CB02BA-F57E-A545-A0B8-D5B8CD1C9C08}"/>
              </a:ext>
            </a:extLst>
          </p:cNvPr>
          <p:cNvSpPr>
            <a:spLocks noGrp="1"/>
          </p:cNvSpPr>
          <p:nvPr>
            <p:ph idx="1"/>
          </p:nvPr>
        </p:nvSpPr>
        <p:spPr>
          <a:xfrm>
            <a:off x="273424" y="1635778"/>
            <a:ext cx="10515600" cy="1793222"/>
          </a:xfrm>
        </p:spPr>
        <p:txBody>
          <a:bodyPr>
            <a:normAutofit/>
          </a:bodyPr>
          <a:lstStyle/>
          <a:p>
            <a:pPr marL="0" indent="0">
              <a:buNone/>
            </a:pPr>
            <a:r>
              <a:rPr lang="en-NL" dirty="0"/>
              <a:t>Erase non-data-ink, within reason</a:t>
            </a:r>
          </a:p>
          <a:p>
            <a:pPr marL="0" indent="0">
              <a:buNone/>
            </a:pPr>
            <a:r>
              <a:rPr lang="en-NL" dirty="0"/>
              <a:t>Erase redundant data ink, within reason</a:t>
            </a:r>
          </a:p>
          <a:p>
            <a:endParaRPr lang="en-NL" dirty="0"/>
          </a:p>
        </p:txBody>
      </p:sp>
      <p:pic>
        <p:nvPicPr>
          <p:cNvPr id="2" name="Picture 1">
            <a:extLst>
              <a:ext uri="{FF2B5EF4-FFF2-40B4-BE49-F238E27FC236}">
                <a16:creationId xmlns:a16="http://schemas.microsoft.com/office/drawing/2014/main" id="{C140446B-0FAE-0CB3-9843-EF6FAC1E6FB5}"/>
              </a:ext>
            </a:extLst>
          </p:cNvPr>
          <p:cNvPicPr>
            <a:picLocks noChangeAspect="1"/>
          </p:cNvPicPr>
          <p:nvPr/>
        </p:nvPicPr>
        <p:blipFill>
          <a:blip r:embed="rId4"/>
          <a:stretch>
            <a:fillRect/>
          </a:stretch>
        </p:blipFill>
        <p:spPr>
          <a:xfrm>
            <a:off x="4378036" y="2764904"/>
            <a:ext cx="7337125" cy="3837510"/>
          </a:xfrm>
          <a:prstGeom prst="rect">
            <a:avLst/>
          </a:prstGeom>
        </p:spPr>
      </p:pic>
    </p:spTree>
    <p:extLst>
      <p:ext uri="{BB962C8B-B14F-4D97-AF65-F5344CB8AC3E}">
        <p14:creationId xmlns:p14="http://schemas.microsoft.com/office/powerpoint/2010/main" val="4012401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B11873-4B93-7F7C-E2C8-D2A5812C7982}"/>
              </a:ext>
            </a:extLst>
          </p:cNvPr>
          <p:cNvSpPr>
            <a:spLocks noGrp="1"/>
          </p:cNvSpPr>
          <p:nvPr>
            <p:ph idx="1"/>
          </p:nvPr>
        </p:nvSpPr>
        <p:spPr>
          <a:xfrm>
            <a:off x="728032" y="1457022"/>
            <a:ext cx="10515600" cy="4351338"/>
          </a:xfrm>
        </p:spPr>
        <p:txBody>
          <a:bodyPr/>
          <a:lstStyle/>
          <a:p>
            <a:pPr marL="0" indent="0">
              <a:buNone/>
            </a:pPr>
            <a:r>
              <a:rPr lang="en-NL" i="1" dirty="0"/>
              <a:t>“the sizes of shaded areas in a visualization need to be proportional to the data values they represent.” </a:t>
            </a:r>
          </a:p>
        </p:txBody>
      </p:sp>
      <p:sp>
        <p:nvSpPr>
          <p:cNvPr id="4" name="Title 1">
            <a:extLst>
              <a:ext uri="{FF2B5EF4-FFF2-40B4-BE49-F238E27FC236}">
                <a16:creationId xmlns:a16="http://schemas.microsoft.com/office/drawing/2014/main" id="{FD6554C9-75E9-EB9F-76BA-1A1D4BD0D1AE}"/>
              </a:ext>
            </a:extLst>
          </p:cNvPr>
          <p:cNvSpPr>
            <a:spLocks noGrp="1"/>
          </p:cNvSpPr>
          <p:nvPr>
            <p:ph type="title"/>
          </p:nvPr>
        </p:nvSpPr>
        <p:spPr>
          <a:xfrm>
            <a:off x="842556" y="-223497"/>
            <a:ext cx="10094261" cy="1680519"/>
          </a:xfrm>
        </p:spPr>
        <p:txBody>
          <a:bodyPr>
            <a:normAutofit/>
          </a:bodyPr>
          <a:lstStyle/>
          <a:p>
            <a:r>
              <a:rPr lang="en-NL" sz="3600" b="1" dirty="0"/>
              <a:t>Design principle 2: principle of proportional ink</a:t>
            </a:r>
          </a:p>
        </p:txBody>
      </p:sp>
      <p:pic>
        <p:nvPicPr>
          <p:cNvPr id="5" name="Picture 4" descr="Stock price of Facebook (FB) from Oct. 22, 2016 to Jan. 21, 2017. This figure seems to imply that the Facebook stock price collapsed around Nov. 1, 2016. However, this is misleading, because the y axis starts at $110 instead of $0.">
            <a:extLst>
              <a:ext uri="{FF2B5EF4-FFF2-40B4-BE49-F238E27FC236}">
                <a16:creationId xmlns:a16="http://schemas.microsoft.com/office/drawing/2014/main" id="{4BD23FBE-C32E-CED2-3112-31944EF9664E}"/>
              </a:ext>
            </a:extLst>
          </p:cNvPr>
          <p:cNvPicPr>
            <a:picLocks noChangeAspect="1"/>
          </p:cNvPicPr>
          <p:nvPr/>
        </p:nvPicPr>
        <p:blipFill>
          <a:blip r:embed="rId3"/>
          <a:stretch>
            <a:fillRect/>
          </a:stretch>
        </p:blipFill>
        <p:spPr>
          <a:xfrm>
            <a:off x="1212772" y="2949354"/>
            <a:ext cx="4567761" cy="2815200"/>
          </a:xfrm>
          <a:prstGeom prst="rect">
            <a:avLst/>
          </a:prstGeom>
        </p:spPr>
      </p:pic>
      <p:pic>
        <p:nvPicPr>
          <p:cNvPr id="6" name="Picture 5" descr="Stock price of Facebook (FB) from Oct. 22, 2016 to Jan. 21, 2017. By showing the stock price on a y scale from $0 to $150, this figure more accurately relays the magnitude of the FB price drop around Nov. 1, 2016.">
            <a:extLst>
              <a:ext uri="{FF2B5EF4-FFF2-40B4-BE49-F238E27FC236}">
                <a16:creationId xmlns:a16="http://schemas.microsoft.com/office/drawing/2014/main" id="{A8AD54D8-D69C-94B4-0D31-F2E054B5902A}"/>
              </a:ext>
            </a:extLst>
          </p:cNvPr>
          <p:cNvPicPr>
            <a:picLocks noChangeAspect="1"/>
          </p:cNvPicPr>
          <p:nvPr/>
        </p:nvPicPr>
        <p:blipFill>
          <a:blip r:embed="rId4"/>
          <a:stretch>
            <a:fillRect/>
          </a:stretch>
        </p:blipFill>
        <p:spPr>
          <a:xfrm>
            <a:off x="6675871" y="2949354"/>
            <a:ext cx="4567761" cy="2815200"/>
          </a:xfrm>
          <a:prstGeom prst="rect">
            <a:avLst/>
          </a:prstGeom>
        </p:spPr>
      </p:pic>
    </p:spTree>
    <p:extLst>
      <p:ext uri="{BB962C8B-B14F-4D97-AF65-F5344CB8AC3E}">
        <p14:creationId xmlns:p14="http://schemas.microsoft.com/office/powerpoint/2010/main" val="3817001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6DB8AF-1205-3716-11A7-7FC4C1E7638B}"/>
              </a:ext>
            </a:extLst>
          </p:cNvPr>
          <p:cNvSpPr txBox="1">
            <a:spLocks/>
          </p:cNvSpPr>
          <p:nvPr/>
        </p:nvSpPr>
        <p:spPr>
          <a:xfrm>
            <a:off x="669471" y="248909"/>
            <a:ext cx="10853057" cy="10686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L" sz="3600" b="1" dirty="0"/>
              <a:t>How would you visualize this list of city populations?</a:t>
            </a:r>
          </a:p>
        </p:txBody>
      </p:sp>
      <p:pic>
        <p:nvPicPr>
          <p:cNvPr id="10" name="Picture 9">
            <a:extLst>
              <a:ext uri="{FF2B5EF4-FFF2-40B4-BE49-F238E27FC236}">
                <a16:creationId xmlns:a16="http://schemas.microsoft.com/office/drawing/2014/main" id="{BE102572-943D-926D-1C03-A57CE051EF7D}"/>
              </a:ext>
            </a:extLst>
          </p:cNvPr>
          <p:cNvPicPr>
            <a:picLocks noChangeAspect="1"/>
          </p:cNvPicPr>
          <p:nvPr/>
        </p:nvPicPr>
        <p:blipFill>
          <a:blip r:embed="rId3"/>
          <a:stretch>
            <a:fillRect/>
          </a:stretch>
        </p:blipFill>
        <p:spPr>
          <a:xfrm>
            <a:off x="374537" y="3149475"/>
            <a:ext cx="11442924" cy="825778"/>
          </a:xfrm>
          <a:prstGeom prst="rect">
            <a:avLst/>
          </a:prstGeom>
          <a:ln w="12700">
            <a:solidFill>
              <a:schemeClr val="tx1"/>
            </a:solidFill>
          </a:ln>
        </p:spPr>
      </p:pic>
    </p:spTree>
    <p:extLst>
      <p:ext uri="{BB962C8B-B14F-4D97-AF65-F5344CB8AC3E}">
        <p14:creationId xmlns:p14="http://schemas.microsoft.com/office/powerpoint/2010/main" val="2309785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6619F-BBCD-8948-B6AC-5441BEE491CE}"/>
              </a:ext>
            </a:extLst>
          </p:cNvPr>
          <p:cNvSpPr>
            <a:spLocks noGrp="1"/>
          </p:cNvSpPr>
          <p:nvPr>
            <p:ph type="title"/>
          </p:nvPr>
        </p:nvSpPr>
        <p:spPr/>
        <p:txBody>
          <a:bodyPr/>
          <a:lstStyle/>
          <a:p>
            <a:endParaRPr lang="en-NL"/>
          </a:p>
        </p:txBody>
      </p:sp>
      <p:pic>
        <p:nvPicPr>
          <p:cNvPr id="9" name="Picture 8">
            <a:extLst>
              <a:ext uri="{FF2B5EF4-FFF2-40B4-BE49-F238E27FC236}">
                <a16:creationId xmlns:a16="http://schemas.microsoft.com/office/drawing/2014/main" id="{0E2C1531-7780-860F-25F1-8D9DA7EF62A3}"/>
              </a:ext>
            </a:extLst>
          </p:cNvPr>
          <p:cNvPicPr>
            <a:picLocks noChangeAspect="1"/>
          </p:cNvPicPr>
          <p:nvPr/>
        </p:nvPicPr>
        <p:blipFill>
          <a:blip r:embed="rId2"/>
          <a:stretch>
            <a:fillRect/>
          </a:stretch>
        </p:blipFill>
        <p:spPr>
          <a:xfrm>
            <a:off x="2005698" y="365125"/>
            <a:ext cx="8180604" cy="6135453"/>
          </a:xfrm>
          <a:prstGeom prst="rect">
            <a:avLst/>
          </a:prstGeom>
        </p:spPr>
      </p:pic>
      <p:pic>
        <p:nvPicPr>
          <p:cNvPr id="5" name="Content Placeholder 4">
            <a:extLst>
              <a:ext uri="{FF2B5EF4-FFF2-40B4-BE49-F238E27FC236}">
                <a16:creationId xmlns:a16="http://schemas.microsoft.com/office/drawing/2014/main" id="{0DB3FF23-3D42-BDD4-44CB-CBBD87ED5439}"/>
              </a:ext>
            </a:extLst>
          </p:cNvPr>
          <p:cNvPicPr>
            <a:picLocks noGrp="1" noChangeAspect="1"/>
          </p:cNvPicPr>
          <p:nvPr>
            <p:ph idx="1"/>
          </p:nvPr>
        </p:nvPicPr>
        <p:blipFill>
          <a:blip r:embed="rId3"/>
          <a:stretch>
            <a:fillRect/>
          </a:stretch>
        </p:blipFill>
        <p:spPr>
          <a:xfrm>
            <a:off x="2521407" y="357422"/>
            <a:ext cx="2933602" cy="2933602"/>
          </a:xfrm>
          <a:prstGeom prst="rect">
            <a:avLst/>
          </a:prstGeom>
        </p:spPr>
      </p:pic>
    </p:spTree>
    <p:extLst>
      <p:ext uri="{BB962C8B-B14F-4D97-AF65-F5344CB8AC3E}">
        <p14:creationId xmlns:p14="http://schemas.microsoft.com/office/powerpoint/2010/main" val="3645953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85117-5239-67F4-3353-5ECDAF60959F}"/>
              </a:ext>
            </a:extLst>
          </p:cNvPr>
          <p:cNvSpPr>
            <a:spLocks noGrp="1"/>
          </p:cNvSpPr>
          <p:nvPr>
            <p:ph type="title"/>
          </p:nvPr>
        </p:nvSpPr>
        <p:spPr>
          <a:xfrm>
            <a:off x="838200" y="188217"/>
            <a:ext cx="10515600" cy="1068613"/>
          </a:xfrm>
        </p:spPr>
        <p:txBody>
          <a:bodyPr>
            <a:normAutofit/>
          </a:bodyPr>
          <a:lstStyle/>
          <a:p>
            <a:pPr algn="ctr"/>
            <a:r>
              <a:rPr lang="en-NL" sz="4000" b="1" dirty="0"/>
              <a:t>Encoding a continuous variable</a:t>
            </a:r>
          </a:p>
        </p:txBody>
      </p:sp>
      <p:sp>
        <p:nvSpPr>
          <p:cNvPr id="3" name="Content Placeholder 2">
            <a:extLst>
              <a:ext uri="{FF2B5EF4-FFF2-40B4-BE49-F238E27FC236}">
                <a16:creationId xmlns:a16="http://schemas.microsoft.com/office/drawing/2014/main" id="{A33B7E88-9468-39E7-EEBC-638ED477E9F7}"/>
              </a:ext>
            </a:extLst>
          </p:cNvPr>
          <p:cNvSpPr>
            <a:spLocks noGrp="1"/>
          </p:cNvSpPr>
          <p:nvPr>
            <p:ph idx="1"/>
          </p:nvPr>
        </p:nvSpPr>
        <p:spPr/>
        <p:txBody>
          <a:bodyPr/>
          <a:lstStyle/>
          <a:p>
            <a:endParaRPr lang="en-NL" dirty="0"/>
          </a:p>
        </p:txBody>
      </p:sp>
      <p:pic>
        <p:nvPicPr>
          <p:cNvPr id="4" name="Picture 3">
            <a:extLst>
              <a:ext uri="{FF2B5EF4-FFF2-40B4-BE49-F238E27FC236}">
                <a16:creationId xmlns:a16="http://schemas.microsoft.com/office/drawing/2014/main" id="{33E8ABE0-F1FB-8C63-5972-012B40B01ED9}"/>
              </a:ext>
            </a:extLst>
          </p:cNvPr>
          <p:cNvPicPr>
            <a:picLocks noChangeAspect="1"/>
          </p:cNvPicPr>
          <p:nvPr/>
        </p:nvPicPr>
        <p:blipFill>
          <a:blip r:embed="rId2"/>
          <a:stretch>
            <a:fillRect/>
          </a:stretch>
        </p:blipFill>
        <p:spPr>
          <a:xfrm>
            <a:off x="982365" y="1433739"/>
            <a:ext cx="10227270" cy="4167431"/>
          </a:xfrm>
          <a:prstGeom prst="rect">
            <a:avLst/>
          </a:prstGeom>
        </p:spPr>
      </p:pic>
      <p:cxnSp>
        <p:nvCxnSpPr>
          <p:cNvPr id="6" name="Straight Arrow Connector 5">
            <a:extLst>
              <a:ext uri="{FF2B5EF4-FFF2-40B4-BE49-F238E27FC236}">
                <a16:creationId xmlns:a16="http://schemas.microsoft.com/office/drawing/2014/main" id="{2BB6415A-675B-9F3C-F3DC-5A434BF2A7E1}"/>
              </a:ext>
            </a:extLst>
          </p:cNvPr>
          <p:cNvCxnSpPr/>
          <p:nvPr/>
        </p:nvCxnSpPr>
        <p:spPr>
          <a:xfrm>
            <a:off x="1943594" y="5947558"/>
            <a:ext cx="8478982" cy="0"/>
          </a:xfrm>
          <a:prstGeom prst="straightConnector1">
            <a:avLst/>
          </a:prstGeom>
          <a:ln w="28575">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CDA72F12-6842-E7F6-C0FD-3FCA2B9269DC}"/>
              </a:ext>
            </a:extLst>
          </p:cNvPr>
          <p:cNvSpPr txBox="1"/>
          <p:nvPr/>
        </p:nvSpPr>
        <p:spPr>
          <a:xfrm>
            <a:off x="4792188" y="5947558"/>
            <a:ext cx="6096000" cy="523220"/>
          </a:xfrm>
          <a:prstGeom prst="rect">
            <a:avLst/>
          </a:prstGeom>
          <a:noFill/>
        </p:spPr>
        <p:txBody>
          <a:bodyPr wrap="square">
            <a:spAutoFit/>
          </a:bodyPr>
          <a:lstStyle/>
          <a:p>
            <a:r>
              <a:rPr lang="en-GB" sz="2800" dirty="0"/>
              <a:t>Effectiveness</a:t>
            </a:r>
            <a:endParaRPr lang="en-NL" dirty="0"/>
          </a:p>
        </p:txBody>
      </p:sp>
    </p:spTree>
    <p:extLst>
      <p:ext uri="{BB962C8B-B14F-4D97-AF65-F5344CB8AC3E}">
        <p14:creationId xmlns:p14="http://schemas.microsoft.com/office/powerpoint/2010/main" val="3920339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0228CE-27E4-FC47-4DFD-6A11D5ED8A4E}"/>
              </a:ext>
            </a:extLst>
          </p:cNvPr>
          <p:cNvPicPr>
            <a:picLocks noChangeAspect="1"/>
          </p:cNvPicPr>
          <p:nvPr/>
        </p:nvPicPr>
        <p:blipFill>
          <a:blip r:embed="rId3"/>
          <a:stretch>
            <a:fillRect/>
          </a:stretch>
        </p:blipFill>
        <p:spPr>
          <a:xfrm>
            <a:off x="5880634" y="1454725"/>
            <a:ext cx="5473166" cy="4994083"/>
          </a:xfrm>
          <a:prstGeom prst="rect">
            <a:avLst/>
          </a:prstGeom>
        </p:spPr>
      </p:pic>
      <p:sp>
        <p:nvSpPr>
          <p:cNvPr id="7" name="Content Placeholder 6">
            <a:extLst>
              <a:ext uri="{FF2B5EF4-FFF2-40B4-BE49-F238E27FC236}">
                <a16:creationId xmlns:a16="http://schemas.microsoft.com/office/drawing/2014/main" id="{AAFBE775-B37C-F4BF-92D1-73F9E34D7272}"/>
              </a:ext>
            </a:extLst>
          </p:cNvPr>
          <p:cNvSpPr>
            <a:spLocks noGrp="1"/>
          </p:cNvSpPr>
          <p:nvPr>
            <p:ph idx="1"/>
          </p:nvPr>
        </p:nvSpPr>
        <p:spPr>
          <a:xfrm>
            <a:off x="838200" y="1550203"/>
            <a:ext cx="4135582" cy="4351338"/>
          </a:xfrm>
        </p:spPr>
        <p:txBody>
          <a:bodyPr/>
          <a:lstStyle/>
          <a:p>
            <a:r>
              <a:rPr lang="en-NL" dirty="0"/>
              <a:t>This plot displays a timeseries (x axis) and a certain ratio (y axis) is measured.</a:t>
            </a:r>
          </a:p>
          <a:p>
            <a:endParaRPr lang="en-NL" dirty="0"/>
          </a:p>
          <a:p>
            <a:r>
              <a:rPr lang="en-NL" dirty="0"/>
              <a:t>Each line represents a cell.</a:t>
            </a:r>
          </a:p>
          <a:p>
            <a:endParaRPr lang="en-NL" dirty="0"/>
          </a:p>
          <a:p>
            <a:r>
              <a:rPr lang="en-NL" dirty="0"/>
              <a:t>It is messy!</a:t>
            </a:r>
          </a:p>
        </p:txBody>
      </p:sp>
      <p:sp>
        <p:nvSpPr>
          <p:cNvPr id="3" name="Title 1">
            <a:extLst>
              <a:ext uri="{FF2B5EF4-FFF2-40B4-BE49-F238E27FC236}">
                <a16:creationId xmlns:a16="http://schemas.microsoft.com/office/drawing/2014/main" id="{09EC9264-7BCE-A1D4-644E-9B6246605850}"/>
              </a:ext>
            </a:extLst>
          </p:cNvPr>
          <p:cNvSpPr>
            <a:spLocks noGrp="1"/>
          </p:cNvSpPr>
          <p:nvPr>
            <p:ph type="title"/>
          </p:nvPr>
        </p:nvSpPr>
        <p:spPr>
          <a:xfrm>
            <a:off x="838200" y="0"/>
            <a:ext cx="10515600" cy="1325563"/>
          </a:xfrm>
        </p:spPr>
        <p:txBody>
          <a:bodyPr>
            <a:normAutofit/>
          </a:bodyPr>
          <a:lstStyle/>
          <a:p>
            <a:r>
              <a:rPr lang="en-NL" sz="3200" b="1" dirty="0"/>
              <a:t>Small multiples: multiple similar plots arranged together</a:t>
            </a:r>
          </a:p>
        </p:txBody>
      </p:sp>
    </p:spTree>
    <p:extLst>
      <p:ext uri="{BB962C8B-B14F-4D97-AF65-F5344CB8AC3E}">
        <p14:creationId xmlns:p14="http://schemas.microsoft.com/office/powerpoint/2010/main" val="2308864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C8EDC9-9EE9-2A9C-3DF3-7AD369E18E5B}"/>
              </a:ext>
            </a:extLst>
          </p:cNvPr>
          <p:cNvPicPr>
            <a:picLocks noChangeAspect="1"/>
          </p:cNvPicPr>
          <p:nvPr/>
        </p:nvPicPr>
        <p:blipFill>
          <a:blip r:embed="rId2"/>
          <a:stretch>
            <a:fillRect/>
          </a:stretch>
        </p:blipFill>
        <p:spPr>
          <a:xfrm>
            <a:off x="5281467" y="1164523"/>
            <a:ext cx="6217805" cy="5673541"/>
          </a:xfrm>
          <a:prstGeom prst="rect">
            <a:avLst/>
          </a:prstGeom>
        </p:spPr>
      </p:pic>
      <p:sp>
        <p:nvSpPr>
          <p:cNvPr id="5" name="Content Placeholder 6">
            <a:extLst>
              <a:ext uri="{FF2B5EF4-FFF2-40B4-BE49-F238E27FC236}">
                <a16:creationId xmlns:a16="http://schemas.microsoft.com/office/drawing/2014/main" id="{EA495640-5597-68AA-B7CB-3DF2DE4179F4}"/>
              </a:ext>
            </a:extLst>
          </p:cNvPr>
          <p:cNvSpPr>
            <a:spLocks noGrp="1"/>
          </p:cNvSpPr>
          <p:nvPr>
            <p:ph idx="1"/>
          </p:nvPr>
        </p:nvSpPr>
        <p:spPr>
          <a:xfrm>
            <a:off x="838200" y="1825625"/>
            <a:ext cx="4135582" cy="4351338"/>
          </a:xfrm>
        </p:spPr>
        <p:txBody>
          <a:bodyPr/>
          <a:lstStyle/>
          <a:p>
            <a:r>
              <a:rPr lang="en-GB" dirty="0"/>
              <a:t>A concept called “small multiples”</a:t>
            </a:r>
            <a:r>
              <a:rPr lang="en-NL" dirty="0"/>
              <a:t> </a:t>
            </a:r>
          </a:p>
          <a:p>
            <a:endParaRPr lang="en-NL" dirty="0"/>
          </a:p>
          <a:p>
            <a:r>
              <a:rPr lang="en-NL" dirty="0"/>
              <a:t>Plotting each cell </a:t>
            </a:r>
            <a:r>
              <a:rPr lang="en-NL" b="1" dirty="0"/>
              <a:t>separately </a:t>
            </a:r>
            <a:r>
              <a:rPr lang="en-NL" dirty="0"/>
              <a:t>using ‘facetting’ in ggplot2</a:t>
            </a:r>
          </a:p>
          <a:p>
            <a:endParaRPr lang="en-NL" b="1" dirty="0"/>
          </a:p>
        </p:txBody>
      </p:sp>
      <p:sp>
        <p:nvSpPr>
          <p:cNvPr id="3" name="Title 1">
            <a:extLst>
              <a:ext uri="{FF2B5EF4-FFF2-40B4-BE49-F238E27FC236}">
                <a16:creationId xmlns:a16="http://schemas.microsoft.com/office/drawing/2014/main" id="{9F5300B9-B8AC-73DE-F37D-0B7E9AF10B0D}"/>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L" sz="3200" b="1"/>
              <a:t>Small multiples: multiple similar plots arranged together</a:t>
            </a:r>
            <a:endParaRPr lang="en-NL" sz="3200" b="1" dirty="0"/>
          </a:p>
        </p:txBody>
      </p:sp>
    </p:spTree>
    <p:extLst>
      <p:ext uri="{BB962C8B-B14F-4D97-AF65-F5344CB8AC3E}">
        <p14:creationId xmlns:p14="http://schemas.microsoft.com/office/powerpoint/2010/main" val="1660832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251F30-915C-66BF-0441-C3D494065036}"/>
              </a:ext>
            </a:extLst>
          </p:cNvPr>
          <p:cNvPicPr>
            <a:picLocks noChangeAspect="1"/>
          </p:cNvPicPr>
          <p:nvPr/>
        </p:nvPicPr>
        <p:blipFill>
          <a:blip r:embed="rId2"/>
          <a:stretch>
            <a:fillRect/>
          </a:stretch>
        </p:blipFill>
        <p:spPr>
          <a:xfrm>
            <a:off x="5328290" y="1325563"/>
            <a:ext cx="5600443" cy="5110219"/>
          </a:xfrm>
          <a:prstGeom prst="rect">
            <a:avLst/>
          </a:prstGeom>
        </p:spPr>
      </p:pic>
      <p:sp>
        <p:nvSpPr>
          <p:cNvPr id="5" name="Content Placeholder 6">
            <a:extLst>
              <a:ext uri="{FF2B5EF4-FFF2-40B4-BE49-F238E27FC236}">
                <a16:creationId xmlns:a16="http://schemas.microsoft.com/office/drawing/2014/main" id="{CB948412-A150-F243-E98F-6D455F5AA5D5}"/>
              </a:ext>
            </a:extLst>
          </p:cNvPr>
          <p:cNvSpPr>
            <a:spLocks noGrp="1"/>
          </p:cNvSpPr>
          <p:nvPr>
            <p:ph idx="1"/>
          </p:nvPr>
        </p:nvSpPr>
        <p:spPr>
          <a:xfrm>
            <a:off x="1015454" y="3005155"/>
            <a:ext cx="4135582" cy="1424352"/>
          </a:xfrm>
        </p:spPr>
        <p:txBody>
          <a:bodyPr/>
          <a:lstStyle/>
          <a:p>
            <a:pPr marL="0" indent="0">
              <a:buNone/>
            </a:pPr>
            <a:r>
              <a:rPr lang="nl-NL" dirty="0" err="1"/>
              <a:t>Applying</a:t>
            </a:r>
            <a:r>
              <a:rPr lang="nl-NL" dirty="0"/>
              <a:t> </a:t>
            </a:r>
            <a:r>
              <a:rPr lang="nl-NL" dirty="0" err="1"/>
              <a:t>Tufte’s</a:t>
            </a:r>
            <a:r>
              <a:rPr lang="nl-NL" dirty="0"/>
              <a:t> design </a:t>
            </a:r>
            <a:r>
              <a:rPr lang="nl-NL" dirty="0" err="1"/>
              <a:t>principles</a:t>
            </a:r>
            <a:r>
              <a:rPr lang="nl-NL" dirty="0"/>
              <a:t> </a:t>
            </a:r>
            <a:r>
              <a:rPr lang="nl-NL" dirty="0" err="1"/>
              <a:t>to</a:t>
            </a:r>
            <a:r>
              <a:rPr lang="nl-NL" dirty="0"/>
              <a:t> </a:t>
            </a:r>
            <a:r>
              <a:rPr lang="nl-NL" dirty="0" err="1"/>
              <a:t>achieve</a:t>
            </a:r>
            <a:r>
              <a:rPr lang="nl-NL" dirty="0"/>
              <a:t> a high data-</a:t>
            </a:r>
            <a:r>
              <a:rPr lang="nl-NL" dirty="0" err="1"/>
              <a:t>ink</a:t>
            </a:r>
            <a:r>
              <a:rPr lang="nl-NL" dirty="0"/>
              <a:t> ratio</a:t>
            </a:r>
            <a:endParaRPr lang="en-NL" dirty="0"/>
          </a:p>
          <a:p>
            <a:pPr marL="0" indent="0">
              <a:buNone/>
            </a:pPr>
            <a:endParaRPr lang="en-NL" b="1" dirty="0"/>
          </a:p>
        </p:txBody>
      </p:sp>
      <p:sp>
        <p:nvSpPr>
          <p:cNvPr id="3" name="Title 1">
            <a:extLst>
              <a:ext uri="{FF2B5EF4-FFF2-40B4-BE49-F238E27FC236}">
                <a16:creationId xmlns:a16="http://schemas.microsoft.com/office/drawing/2014/main" id="{4E1AB8DF-60F3-542E-80E6-73E61F5D65F4}"/>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NL" sz="3200" b="1"/>
              <a:t>Small multiples: multiple similar plots arranged together</a:t>
            </a:r>
            <a:endParaRPr lang="en-NL" sz="3200" b="1" dirty="0"/>
          </a:p>
        </p:txBody>
      </p:sp>
    </p:spTree>
    <p:extLst>
      <p:ext uri="{BB962C8B-B14F-4D97-AF65-F5344CB8AC3E}">
        <p14:creationId xmlns:p14="http://schemas.microsoft.com/office/powerpoint/2010/main" val="3468752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6B385-0F3B-1CD4-BFD0-E51CD4C05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7441B2-078E-9837-5F0E-DC8691BE7E9A}"/>
              </a:ext>
            </a:extLst>
          </p:cNvPr>
          <p:cNvSpPr>
            <a:spLocks noGrp="1"/>
          </p:cNvSpPr>
          <p:nvPr>
            <p:ph type="title"/>
          </p:nvPr>
        </p:nvSpPr>
        <p:spPr>
          <a:xfrm>
            <a:off x="838200" y="0"/>
            <a:ext cx="10515600" cy="1325563"/>
          </a:xfrm>
        </p:spPr>
        <p:txBody>
          <a:bodyPr/>
          <a:lstStyle/>
          <a:p>
            <a:r>
              <a:rPr lang="en-NL" b="1" dirty="0"/>
              <a:t>Timetable</a:t>
            </a:r>
          </a:p>
        </p:txBody>
      </p:sp>
      <p:sp>
        <p:nvSpPr>
          <p:cNvPr id="3" name="Content Placeholder 2">
            <a:extLst>
              <a:ext uri="{FF2B5EF4-FFF2-40B4-BE49-F238E27FC236}">
                <a16:creationId xmlns:a16="http://schemas.microsoft.com/office/drawing/2014/main" id="{43216885-6B9D-C44B-39A5-AB0A24F7CABA}"/>
              </a:ext>
            </a:extLst>
          </p:cNvPr>
          <p:cNvSpPr>
            <a:spLocks noGrp="1"/>
          </p:cNvSpPr>
          <p:nvPr>
            <p:ph idx="1"/>
          </p:nvPr>
        </p:nvSpPr>
        <p:spPr>
          <a:xfrm>
            <a:off x="838200" y="1253331"/>
            <a:ext cx="10515600" cy="4652794"/>
          </a:xfrm>
        </p:spPr>
        <p:txBody>
          <a:bodyPr>
            <a:normAutofit fontScale="92500" lnSpcReduction="20000"/>
          </a:bodyPr>
          <a:lstStyle/>
          <a:p>
            <a:r>
              <a:rPr lang="en-NL" b="1" dirty="0">
                <a:solidFill>
                  <a:schemeClr val="bg1">
                    <a:lumMod val="75000"/>
                  </a:schemeClr>
                </a:solidFill>
              </a:rPr>
              <a:t>13:00 – 13:15:</a:t>
            </a:r>
            <a:r>
              <a:rPr lang="en-NL" dirty="0">
                <a:solidFill>
                  <a:schemeClr val="bg1">
                    <a:lumMod val="75000"/>
                  </a:schemeClr>
                </a:solidFill>
              </a:rPr>
              <a:t> Mini lecture on reproducible science &amp; Github</a:t>
            </a:r>
          </a:p>
          <a:p>
            <a:r>
              <a:rPr lang="en-NL" b="1" dirty="0">
                <a:solidFill>
                  <a:schemeClr val="bg1">
                    <a:lumMod val="75000"/>
                  </a:schemeClr>
                </a:solidFill>
              </a:rPr>
              <a:t>13:15 – 13:50:</a:t>
            </a:r>
            <a:r>
              <a:rPr lang="en-NL" dirty="0">
                <a:solidFill>
                  <a:schemeClr val="bg1">
                    <a:lumMod val="75000"/>
                  </a:schemeClr>
                </a:solidFill>
              </a:rPr>
              <a:t> Setting up a github repository on Crunchomics</a:t>
            </a:r>
          </a:p>
          <a:p>
            <a:endParaRPr lang="en-NL" dirty="0"/>
          </a:p>
          <a:p>
            <a:r>
              <a:rPr lang="en-NL" b="1" dirty="0"/>
              <a:t>14:00 – 14:20:</a:t>
            </a:r>
            <a:r>
              <a:rPr lang="en-NL" dirty="0"/>
              <a:t> mini lecture on data visualisation theory</a:t>
            </a:r>
          </a:p>
          <a:p>
            <a:r>
              <a:rPr lang="en-NL" b="1" dirty="0"/>
              <a:t>14:20 – 14:50:</a:t>
            </a:r>
            <a:r>
              <a:rPr lang="en-NL" dirty="0"/>
              <a:t> coding in R, data visualisation</a:t>
            </a:r>
          </a:p>
          <a:p>
            <a:endParaRPr lang="en-NL" dirty="0">
              <a:solidFill>
                <a:schemeClr val="bg1">
                  <a:lumMod val="75000"/>
                </a:schemeClr>
              </a:solidFill>
            </a:endParaRPr>
          </a:p>
          <a:p>
            <a:r>
              <a:rPr lang="en-NL" b="1" dirty="0"/>
              <a:t>15:00 </a:t>
            </a:r>
            <a:r>
              <a:rPr lang="en-NL" dirty="0"/>
              <a:t>– </a:t>
            </a:r>
            <a:r>
              <a:rPr lang="en-NL" b="1" dirty="0"/>
              <a:t>15:30: </a:t>
            </a:r>
            <a:r>
              <a:rPr lang="en-NL" dirty="0"/>
              <a:t>more coding and data visualization</a:t>
            </a:r>
          </a:p>
          <a:p>
            <a:r>
              <a:rPr lang="en-NL" b="1" dirty="0">
                <a:solidFill>
                  <a:schemeClr val="bg1">
                    <a:lumMod val="75000"/>
                  </a:schemeClr>
                </a:solidFill>
              </a:rPr>
              <a:t>15:20 – 15:50:</a:t>
            </a:r>
            <a:r>
              <a:rPr lang="en-NL" dirty="0">
                <a:solidFill>
                  <a:schemeClr val="bg1">
                    <a:lumMod val="75000"/>
                  </a:schemeClr>
                </a:solidFill>
              </a:rPr>
              <a:t> explanation &amp; start assignment</a:t>
            </a:r>
          </a:p>
          <a:p>
            <a:endParaRPr lang="en-NL" b="1" dirty="0">
              <a:solidFill>
                <a:schemeClr val="bg1">
                  <a:lumMod val="75000"/>
                </a:schemeClr>
              </a:solidFill>
            </a:endParaRPr>
          </a:p>
          <a:p>
            <a:r>
              <a:rPr lang="en-NL" b="1" dirty="0">
                <a:solidFill>
                  <a:schemeClr val="bg1">
                    <a:lumMod val="75000"/>
                  </a:schemeClr>
                </a:solidFill>
              </a:rPr>
              <a:t>16:00 – 16:50: </a:t>
            </a:r>
            <a:r>
              <a:rPr lang="en-NL" dirty="0">
                <a:solidFill>
                  <a:schemeClr val="bg1">
                    <a:lumMod val="75000"/>
                  </a:schemeClr>
                </a:solidFill>
              </a:rPr>
              <a:t>Create the ugliest plot with palmerpenguins dataset, submit to Google Sheets, short presentations. </a:t>
            </a:r>
            <a:endParaRPr lang="en-NL" b="1" dirty="0">
              <a:solidFill>
                <a:schemeClr val="bg1">
                  <a:lumMod val="75000"/>
                </a:schemeClr>
              </a:solidFill>
            </a:endParaRPr>
          </a:p>
          <a:p>
            <a:endParaRPr lang="en-NL" dirty="0"/>
          </a:p>
        </p:txBody>
      </p:sp>
    </p:spTree>
    <p:extLst>
      <p:ext uri="{BB962C8B-B14F-4D97-AF65-F5344CB8AC3E}">
        <p14:creationId xmlns:p14="http://schemas.microsoft.com/office/powerpoint/2010/main" val="2139008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DCFF0-56B4-A04E-0F1B-CD208D258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E6EEE-242D-BBA2-2F89-3019FD575A43}"/>
              </a:ext>
            </a:extLst>
          </p:cNvPr>
          <p:cNvSpPr>
            <a:spLocks noGrp="1"/>
          </p:cNvSpPr>
          <p:nvPr>
            <p:ph type="title"/>
          </p:nvPr>
        </p:nvSpPr>
        <p:spPr>
          <a:xfrm>
            <a:off x="838200" y="0"/>
            <a:ext cx="10515600" cy="1325563"/>
          </a:xfrm>
        </p:spPr>
        <p:txBody>
          <a:bodyPr/>
          <a:lstStyle/>
          <a:p>
            <a:r>
              <a:rPr lang="en-NL" b="1" dirty="0"/>
              <a:t>Timetable</a:t>
            </a:r>
          </a:p>
        </p:txBody>
      </p:sp>
      <p:sp>
        <p:nvSpPr>
          <p:cNvPr id="3" name="Content Placeholder 2">
            <a:extLst>
              <a:ext uri="{FF2B5EF4-FFF2-40B4-BE49-F238E27FC236}">
                <a16:creationId xmlns:a16="http://schemas.microsoft.com/office/drawing/2014/main" id="{BBB47941-6674-6C17-0A74-DFBFB0B03BA4}"/>
              </a:ext>
            </a:extLst>
          </p:cNvPr>
          <p:cNvSpPr>
            <a:spLocks noGrp="1"/>
          </p:cNvSpPr>
          <p:nvPr>
            <p:ph idx="1"/>
          </p:nvPr>
        </p:nvSpPr>
        <p:spPr>
          <a:xfrm>
            <a:off x="838200" y="1253331"/>
            <a:ext cx="10515600" cy="4652794"/>
          </a:xfrm>
        </p:spPr>
        <p:txBody>
          <a:bodyPr>
            <a:normAutofit fontScale="92500" lnSpcReduction="20000"/>
          </a:bodyPr>
          <a:lstStyle/>
          <a:p>
            <a:r>
              <a:rPr lang="en-NL" b="1" dirty="0">
                <a:solidFill>
                  <a:schemeClr val="bg1">
                    <a:lumMod val="75000"/>
                  </a:schemeClr>
                </a:solidFill>
              </a:rPr>
              <a:t>13:00 – 13:15:</a:t>
            </a:r>
            <a:r>
              <a:rPr lang="en-NL" dirty="0">
                <a:solidFill>
                  <a:schemeClr val="bg1">
                    <a:lumMod val="75000"/>
                  </a:schemeClr>
                </a:solidFill>
              </a:rPr>
              <a:t> Mini lecture on reproducible science &amp; Github</a:t>
            </a:r>
          </a:p>
          <a:p>
            <a:r>
              <a:rPr lang="en-NL" b="1" dirty="0">
                <a:solidFill>
                  <a:schemeClr val="bg1">
                    <a:lumMod val="75000"/>
                  </a:schemeClr>
                </a:solidFill>
              </a:rPr>
              <a:t>13:15 – 13:50:</a:t>
            </a:r>
            <a:r>
              <a:rPr lang="en-NL" dirty="0">
                <a:solidFill>
                  <a:schemeClr val="bg1">
                    <a:lumMod val="75000"/>
                  </a:schemeClr>
                </a:solidFill>
              </a:rPr>
              <a:t> Setting up a github repository on Crunchomics</a:t>
            </a:r>
          </a:p>
          <a:p>
            <a:endParaRPr lang="en-NL" dirty="0"/>
          </a:p>
          <a:p>
            <a:r>
              <a:rPr lang="en-NL" b="1" dirty="0">
                <a:solidFill>
                  <a:schemeClr val="bg1">
                    <a:lumMod val="75000"/>
                  </a:schemeClr>
                </a:solidFill>
              </a:rPr>
              <a:t>14:00 – 14:20:</a:t>
            </a:r>
            <a:r>
              <a:rPr lang="en-NL" dirty="0">
                <a:solidFill>
                  <a:schemeClr val="bg1">
                    <a:lumMod val="75000"/>
                  </a:schemeClr>
                </a:solidFill>
              </a:rPr>
              <a:t> mini lecture on data visualisation theory</a:t>
            </a:r>
          </a:p>
          <a:p>
            <a:r>
              <a:rPr lang="en-NL" b="1" dirty="0">
                <a:solidFill>
                  <a:schemeClr val="bg1">
                    <a:lumMod val="75000"/>
                  </a:schemeClr>
                </a:solidFill>
              </a:rPr>
              <a:t>14:20 – 14:50:</a:t>
            </a:r>
            <a:r>
              <a:rPr lang="en-NL" dirty="0">
                <a:solidFill>
                  <a:schemeClr val="bg1">
                    <a:lumMod val="75000"/>
                  </a:schemeClr>
                </a:solidFill>
              </a:rPr>
              <a:t> coding in R, data visualisation</a:t>
            </a:r>
          </a:p>
          <a:p>
            <a:endParaRPr lang="en-NL" dirty="0">
              <a:solidFill>
                <a:schemeClr val="bg1">
                  <a:lumMod val="75000"/>
                </a:schemeClr>
              </a:solidFill>
            </a:endParaRPr>
          </a:p>
          <a:p>
            <a:r>
              <a:rPr lang="en-NL" b="1" dirty="0">
                <a:solidFill>
                  <a:schemeClr val="bg1">
                    <a:lumMod val="75000"/>
                  </a:schemeClr>
                </a:solidFill>
              </a:rPr>
              <a:t>15:00 </a:t>
            </a:r>
            <a:r>
              <a:rPr lang="en-NL" dirty="0">
                <a:solidFill>
                  <a:schemeClr val="bg1">
                    <a:lumMod val="75000"/>
                  </a:schemeClr>
                </a:solidFill>
              </a:rPr>
              <a:t>– </a:t>
            </a:r>
            <a:r>
              <a:rPr lang="en-NL" b="1" dirty="0">
                <a:solidFill>
                  <a:schemeClr val="bg1">
                    <a:lumMod val="75000"/>
                  </a:schemeClr>
                </a:solidFill>
              </a:rPr>
              <a:t>15:30: </a:t>
            </a:r>
            <a:r>
              <a:rPr lang="en-NL" dirty="0">
                <a:solidFill>
                  <a:schemeClr val="bg1">
                    <a:lumMod val="75000"/>
                  </a:schemeClr>
                </a:solidFill>
              </a:rPr>
              <a:t>more coding and data visualization</a:t>
            </a:r>
          </a:p>
          <a:p>
            <a:r>
              <a:rPr lang="en-NL" b="1" dirty="0"/>
              <a:t>15:20 – 15:50:</a:t>
            </a:r>
            <a:r>
              <a:rPr lang="en-NL" dirty="0"/>
              <a:t> explanation &amp; start assignment</a:t>
            </a:r>
          </a:p>
          <a:p>
            <a:endParaRPr lang="en-NL" b="1" dirty="0"/>
          </a:p>
          <a:p>
            <a:r>
              <a:rPr lang="en-NL" b="1" dirty="0"/>
              <a:t>16:00 – 16:50: </a:t>
            </a:r>
            <a:r>
              <a:rPr lang="en-NL" dirty="0"/>
              <a:t>Create the ugliest plot with palmerpenguins dataset, submit to Google Sheets, short presentations. </a:t>
            </a:r>
            <a:endParaRPr lang="en-NL" b="1" dirty="0"/>
          </a:p>
          <a:p>
            <a:endParaRPr lang="en-NL" dirty="0"/>
          </a:p>
        </p:txBody>
      </p:sp>
    </p:spTree>
    <p:extLst>
      <p:ext uri="{BB962C8B-B14F-4D97-AF65-F5344CB8AC3E}">
        <p14:creationId xmlns:p14="http://schemas.microsoft.com/office/powerpoint/2010/main" val="3542094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2B67-D51C-BD7C-6A5E-B1BCB84190D6}"/>
              </a:ext>
            </a:extLst>
          </p:cNvPr>
          <p:cNvSpPr>
            <a:spLocks noGrp="1"/>
          </p:cNvSpPr>
          <p:nvPr>
            <p:ph type="title"/>
          </p:nvPr>
        </p:nvSpPr>
        <p:spPr>
          <a:xfrm>
            <a:off x="838200" y="166822"/>
            <a:ext cx="10515600" cy="1325563"/>
          </a:xfrm>
        </p:spPr>
        <p:txBody>
          <a:bodyPr>
            <a:normAutofit/>
          </a:bodyPr>
          <a:lstStyle/>
          <a:p>
            <a:pPr algn="ctr"/>
            <a:r>
              <a:rPr lang="en-NL" sz="3600" b="1" dirty="0"/>
              <a:t>Assignment: create the worst possible visualization</a:t>
            </a:r>
          </a:p>
        </p:txBody>
      </p:sp>
      <p:sp>
        <p:nvSpPr>
          <p:cNvPr id="3" name="Content Placeholder 2">
            <a:extLst>
              <a:ext uri="{FF2B5EF4-FFF2-40B4-BE49-F238E27FC236}">
                <a16:creationId xmlns:a16="http://schemas.microsoft.com/office/drawing/2014/main" id="{15FA68A8-A8D8-EB02-7F3C-82AC05A14EA2}"/>
              </a:ext>
            </a:extLst>
          </p:cNvPr>
          <p:cNvSpPr>
            <a:spLocks noGrp="1"/>
          </p:cNvSpPr>
          <p:nvPr>
            <p:ph idx="1"/>
          </p:nvPr>
        </p:nvSpPr>
        <p:spPr/>
        <p:txBody>
          <a:bodyPr/>
          <a:lstStyle/>
          <a:p>
            <a:r>
              <a:rPr lang="en-NL" dirty="0"/>
              <a:t>Create a terrible data visualisation; go crazy</a:t>
            </a:r>
          </a:p>
          <a:p>
            <a:r>
              <a:rPr lang="en-NL" dirty="0"/>
              <a:t>Commit your changes to github</a:t>
            </a:r>
          </a:p>
          <a:p>
            <a:r>
              <a:rPr lang="en-NL" dirty="0"/>
              <a:t>Place your visualisation in google sheet</a:t>
            </a:r>
          </a:p>
          <a:p>
            <a:r>
              <a:rPr lang="en-NL" dirty="0"/>
              <a:t>Present visualisation </a:t>
            </a:r>
            <a:r>
              <a:rPr lang="en-GB" dirty="0"/>
              <a:t>in one or two minutes once submitted</a:t>
            </a:r>
            <a:endParaRPr lang="en-NL" dirty="0"/>
          </a:p>
        </p:txBody>
      </p:sp>
    </p:spTree>
    <p:extLst>
      <p:ext uri="{BB962C8B-B14F-4D97-AF65-F5344CB8AC3E}">
        <p14:creationId xmlns:p14="http://schemas.microsoft.com/office/powerpoint/2010/main" val="3091234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2309</TotalTime>
  <Words>1138</Words>
  <Application>Microsoft Macintosh PowerPoint</Application>
  <PresentationFormat>Widescreen</PresentationFormat>
  <Paragraphs>153</Paragraphs>
  <Slides>27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Andale Mono</vt:lpstr>
      <vt:lpstr>Aptos</vt:lpstr>
      <vt:lpstr>Aptos Display</vt:lpstr>
      <vt:lpstr>Arial</vt:lpstr>
      <vt:lpstr>Office Theme</vt:lpstr>
      <vt:lpstr>Reproducible science &amp; data visualization theory </vt:lpstr>
      <vt:lpstr>Next lecture </vt:lpstr>
      <vt:lpstr>PowerPoint Presentation</vt:lpstr>
      <vt:lpstr>Timetable</vt:lpstr>
      <vt:lpstr>Timetable</vt:lpstr>
      <vt:lpstr>Reproducible science: why?</vt:lpstr>
      <vt:lpstr>Reproducible science is FAIR</vt:lpstr>
      <vt:lpstr> </vt:lpstr>
      <vt:lpstr>Version control with Git and Github</vt:lpstr>
      <vt:lpstr>Version control with Git and Github</vt:lpstr>
      <vt:lpstr>Version control with Git and Github for scientific projects</vt:lpstr>
      <vt:lpstr>Timetable</vt:lpstr>
      <vt:lpstr>Timetable</vt:lpstr>
      <vt:lpstr>PowerPoint Presentation</vt:lpstr>
      <vt:lpstr>Tufte’s principles from the 80s are highly relevant for modern biology</vt:lpstr>
      <vt:lpstr>Design principle 1: above all else,  show the data</vt:lpstr>
      <vt:lpstr>PowerPoint Presentation</vt:lpstr>
      <vt:lpstr>Design principle 2: principle of proportional ink</vt:lpstr>
      <vt:lpstr>PowerPoint Presentation</vt:lpstr>
      <vt:lpstr>PowerPoint Presentation</vt:lpstr>
      <vt:lpstr>Encoding a continuous variable</vt:lpstr>
      <vt:lpstr>Small multiples: multiple similar plots arranged together</vt:lpstr>
      <vt:lpstr>PowerPoint Presentation</vt:lpstr>
      <vt:lpstr>PowerPoint Presentation</vt:lpstr>
      <vt:lpstr>Timetable</vt:lpstr>
      <vt:lpstr>Timetable</vt:lpstr>
      <vt:lpstr>Assignment: create the worst possible visualization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Misha Paauw</dc:creator>
  <cp:lastModifiedBy>Misha Paauw</cp:lastModifiedBy>
  <cp:revision>21</cp:revision>
  <dcterms:created xsi:type="dcterms:W3CDTF">2026-07-31T13:58:53Z</dcterms:created>
  <dcterms:modified xsi:type="dcterms:W3CDTF">2026-09-30T14:26:34Z</dcterms:modified>
</cp:coreProperties>
</file>