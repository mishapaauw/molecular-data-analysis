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media/image34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1015" r:id="rId3"/>
    <p:sldId id="995" r:id="rId4"/>
    <p:sldId id="260" r:id="rId5"/>
    <p:sldId id="996" r:id="rId6"/>
    <p:sldId id="265" r:id="rId7"/>
    <p:sldId id="309" r:id="rId8"/>
    <p:sldId id="992" r:id="rId9"/>
    <p:sldId id="993" r:id="rId10"/>
    <p:sldId id="860" r:id="rId11"/>
    <p:sldId id="982" r:id="rId12"/>
    <p:sldId id="983" r:id="rId13"/>
    <p:sldId id="984" r:id="rId14"/>
    <p:sldId id="985" r:id="rId15"/>
    <p:sldId id="986" r:id="rId16"/>
    <p:sldId id="987" r:id="rId17"/>
    <p:sldId id="988" r:id="rId18"/>
    <p:sldId id="989" r:id="rId19"/>
    <p:sldId id="280" r:id="rId20"/>
    <p:sldId id="307" r:id="rId21"/>
    <p:sldId id="1000" r:id="rId22"/>
    <p:sldId id="1001" r:id="rId23"/>
    <p:sldId id="1002" r:id="rId24"/>
    <p:sldId id="999" r:id="rId25"/>
    <p:sldId id="1003" r:id="rId26"/>
    <p:sldId id="1004" r:id="rId27"/>
    <p:sldId id="1005" r:id="rId28"/>
    <p:sldId id="301" r:id="rId29"/>
    <p:sldId id="303" r:id="rId30"/>
    <p:sldId id="1008" r:id="rId31"/>
    <p:sldId id="304" r:id="rId32"/>
    <p:sldId id="262" r:id="rId33"/>
    <p:sldId id="305" r:id="rId34"/>
    <p:sldId id="994" r:id="rId35"/>
    <p:sldId id="1009" r:id="rId36"/>
    <p:sldId id="1010" r:id="rId37"/>
    <p:sldId id="1011" r:id="rId38"/>
    <p:sldId id="1012" r:id="rId39"/>
    <p:sldId id="1013" r:id="rId40"/>
    <p:sldId id="1016" r:id="rId41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22"/>
    <p:restoredTop sz="94681"/>
  </p:normalViewPr>
  <p:slideViewPr>
    <p:cSldViewPr snapToGrid="0">
      <p:cViewPr varScale="1">
        <p:scale>
          <a:sx n="116" d="100"/>
          <a:sy n="116" d="100"/>
        </p:scale>
        <p:origin x="4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DACDAB-F4ED-FF43-9FC3-9195E2725FD5}" type="datetimeFigureOut">
              <a:rPr lang="en-NL" smtClean="0"/>
              <a:t>30/09/2026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90F140-D635-2E49-BACB-E3839864A65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73238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018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91BE-E921-0134-12D5-C2C68FA7F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99BEB1-582D-1E80-A4D4-4123B96575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D1B9FE-17E4-7FEC-B3CE-D577FC6E5F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57D410-ECE6-100F-7BBF-AF775832F2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0F140-D635-2E49-BACB-E3839864A654}" type="slidenum">
              <a:rPr lang="en-NL" smtClean="0"/>
              <a:t>23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51280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0F140-D635-2E49-BACB-E3839864A654}" type="slidenum">
              <a:rPr lang="en-NL" smtClean="0"/>
              <a:t>24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40930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L" dirty="0"/>
              <a:t>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0F140-D635-2E49-BACB-E3839864A654}" type="slidenum">
              <a:rPr lang="en-NL" smtClean="0"/>
              <a:t>25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24216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6BE7C-1E0B-0D83-B947-0F4D9C5294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722247-F3DB-5F3C-A2A0-CDC481808A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2867C-3A90-BC97-08ED-8968EC9C8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D9CD-A6C7-AE4E-875B-351995A2D2A0}" type="datetimeFigureOut">
              <a:rPr lang="en-NL" smtClean="0"/>
              <a:t>30/09/2026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15A19-3015-6FEA-561E-0B2F43541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930A8-7CEA-EDA8-4F68-C60C60800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7DA52-B611-494E-8AED-F445CB1ADA2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03405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D20C3-FA23-36CB-EB7D-C1413FCFC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D9ADB-6504-561A-A686-D4EA0B9AA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29518-B019-8C39-7C28-5F04627D5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D9CD-A6C7-AE4E-875B-351995A2D2A0}" type="datetimeFigureOut">
              <a:rPr lang="en-NL" smtClean="0"/>
              <a:t>30/09/2026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750F2-0D66-BA24-823A-923C78D13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88166-EAB5-6CB8-09CA-17131FDC4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7DA52-B611-494E-8AED-F445CB1ADA2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80207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29E24-2EB6-DFFA-0DB8-45066A3C2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7FD95-A86E-2067-7CBA-91D387EBB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07FAE-2E80-E4BD-17FB-1371B75DC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D9CD-A6C7-AE4E-875B-351995A2D2A0}" type="datetimeFigureOut">
              <a:rPr lang="en-NL" smtClean="0"/>
              <a:t>30/09/2026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38A72-E892-5FD9-0A69-1B8DFA748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4BCCC-ECD0-95F7-FFB2-A0E79D5A3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7DA52-B611-494E-8AED-F445CB1ADA2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49048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B2DB9-1FDE-9337-4013-D87BD8A21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5141D-D755-0C88-0AB6-69A1179990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A78253-1266-4FA3-6974-A22F5E54BE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E4D743-2DED-8171-20A8-6A5945944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D9CD-A6C7-AE4E-875B-351995A2D2A0}" type="datetimeFigureOut">
              <a:rPr lang="en-NL" smtClean="0"/>
              <a:t>30/09/2026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274D37-835E-1FEE-7687-332A2E218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EB47C-4D61-7E91-29E0-65A258ECA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7DA52-B611-494E-8AED-F445CB1ADA2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38593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28C30-D904-5A0B-F067-30BD78795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6F5829-5829-1FEA-256E-C36CCDD8E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A01182-AE00-4EE7-A742-7161D20C41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84123D-8447-0370-F1E2-9440F0F14C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B993F7-1AF6-5B03-3684-C82606F7B1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8B80F-B65E-63FD-52D3-6D4A371AD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D9CD-A6C7-AE4E-875B-351995A2D2A0}" type="datetimeFigureOut">
              <a:rPr lang="en-NL" smtClean="0"/>
              <a:t>30/09/2026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6026AC-3789-D853-35B1-DF3F076E6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F0B810-E854-2698-8B9C-CEC3A84DA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7DA52-B611-494E-8AED-F445CB1ADA2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60700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96555-E652-715E-4B26-C996114EF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06D9E0-76AB-67D0-B998-19EE2DBF8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D9CD-A6C7-AE4E-875B-351995A2D2A0}" type="datetimeFigureOut">
              <a:rPr lang="en-NL" smtClean="0"/>
              <a:t>30/09/2026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2EB12A-180E-8A24-D799-953E77BF8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D5BD7E-1E45-E46D-D90B-FA416F6C4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7DA52-B611-494E-8AED-F445CB1ADA2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39794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45C411-E37E-6D72-EB2C-5E201C867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D9CD-A6C7-AE4E-875B-351995A2D2A0}" type="datetimeFigureOut">
              <a:rPr lang="en-NL" smtClean="0"/>
              <a:t>30/09/2026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4FD3DE-20AB-F38F-1580-770097828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61250-2D5B-FCAA-057B-6711442AA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7DA52-B611-494E-8AED-F445CB1ADA2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05422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B7A39-48E9-FA5F-A178-2EA350D16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6E01D-82F8-68C2-4BD4-34DDD8C36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6B1B9-CC16-D24E-7674-6AAE61394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313082-8A40-0568-6FB7-8F04D07FA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D9CD-A6C7-AE4E-875B-351995A2D2A0}" type="datetimeFigureOut">
              <a:rPr lang="en-NL" smtClean="0"/>
              <a:t>30/09/2026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E33458-84FE-540D-A7D1-584E13443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EE524A-C2AA-8EDD-C4EA-97EE25F6C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7DA52-B611-494E-8AED-F445CB1ADA2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1870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0DCB0-8265-442E-6229-8DA8989EF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5583B3-D957-9EF2-3B73-66327A6EDC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9B0E43-4D00-3EB0-FCC8-C97D649586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3BA32A-3A6E-4B30-0D15-B09F8B174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D9CD-A6C7-AE4E-875B-351995A2D2A0}" type="datetimeFigureOut">
              <a:rPr lang="en-NL" smtClean="0"/>
              <a:t>30/09/2026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439227-15E4-37F8-7EA8-D52A09627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C4A96-29F4-751E-DFA5-122117DA2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7DA52-B611-494E-8AED-F445CB1ADA2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38504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A8A70-1EF6-F4A0-AFC3-0F6B9A4DB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2997AC-68B1-9D93-FA0C-585627A74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39B9C-DD01-C799-9CA6-FE72E0CE6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D9CD-A6C7-AE4E-875B-351995A2D2A0}" type="datetimeFigureOut">
              <a:rPr lang="en-NL" smtClean="0"/>
              <a:t>30/09/2026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6B66B-C1CD-96E6-D41C-72FDE0479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442A0-DD0F-0261-598B-F3BA1EF20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7DA52-B611-494E-8AED-F445CB1ADA2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00098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D91D75-3D98-F0DB-D1BF-CC65DBECA2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50240A-8B2C-0D44-1ED1-3D9CD793E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E571D-313C-6AEB-CF57-09600BB56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D9CD-A6C7-AE4E-875B-351995A2D2A0}" type="datetimeFigureOut">
              <a:rPr lang="en-NL" smtClean="0"/>
              <a:t>30/09/2026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F5275-29D2-99F6-4916-5C42D96A3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F8D95-86E5-ACF3-C33C-DC8B8E2C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7DA52-B611-494E-8AED-F445CB1ADA2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26305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32F0BB-7815-135F-2472-C2002F96D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D27F-1C71-5E1A-80F4-C0A6DEF0D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B9189-B421-2D60-FBC9-1E4B668413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15D9CD-A6C7-AE4E-875B-351995A2D2A0}" type="datetimeFigureOut">
              <a:rPr lang="en-NL" smtClean="0"/>
              <a:t>30/09/2026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0B002-A05A-3897-5064-7C94A7DF55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4601E-7CD4-088B-95A3-A31D3D8FDD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27DA52-B611-494E-8AED-F445CB1ADA2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22187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371/journal.pcbi.1004393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0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0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3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4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4.w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3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4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4.w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3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5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oleObject" Target="../embeddings/oleObject5.bin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2.bin"/><Relationship Id="rId12" Type="http://schemas.openxmlformats.org/officeDocument/2006/relationships/image" Target="../media/image13.wmf"/><Relationship Id="rId17" Type="http://schemas.openxmlformats.org/officeDocument/2006/relationships/image" Target="../media/image17.gif"/><Relationship Id="rId2" Type="http://schemas.openxmlformats.org/officeDocument/2006/relationships/image" Target="../media/image9.png"/><Relationship Id="rId16" Type="http://schemas.openxmlformats.org/officeDocument/2006/relationships/image" Target="../media/image15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4.bin"/><Relationship Id="rId5" Type="http://schemas.openxmlformats.org/officeDocument/2006/relationships/oleObject" Target="../embeddings/oleObject1.bin"/><Relationship Id="rId15" Type="http://schemas.openxmlformats.org/officeDocument/2006/relationships/oleObject" Target="../embeddings/oleObject6.bin"/><Relationship Id="rId10" Type="http://schemas.openxmlformats.org/officeDocument/2006/relationships/image" Target="../media/image12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3.bin"/><Relationship Id="rId14" Type="http://schemas.openxmlformats.org/officeDocument/2006/relationships/image" Target="../media/image14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bi.ac.uk/training/online/courses/functional-genomics-ii-common-" TargetMode="Externa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jp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hbctraining.github.io/Intro-to-rnaseq-hpc-O2/lessons/03_alignment.html" TargetMode="External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960C9-7ED4-B061-72D6-97EB69EB1E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NL" b="1" dirty="0"/>
              <a:t>RNA-seq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97D945-AD8E-2A52-DCFC-CBF3CC3736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NL" dirty="0"/>
              <a:t>Molecular Data Analysis &amp; Bioinformatics</a:t>
            </a:r>
          </a:p>
          <a:p>
            <a:r>
              <a:rPr lang="en-NL" dirty="0"/>
              <a:t>Lecture 30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300170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6497B-AF98-A094-20F2-AC03BEB45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85F3C-E97B-9541-4E9A-426F1681B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47665-687B-237F-0965-2B1D8B699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C5D5F2-2A2C-93F2-C88E-28FBE1B5B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81" y="1515579"/>
            <a:ext cx="11224131" cy="362663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1E3719B-B97C-A27B-53ED-C76ADECAB275}"/>
              </a:ext>
            </a:extLst>
          </p:cNvPr>
          <p:cNvSpPr/>
          <p:nvPr/>
        </p:nvSpPr>
        <p:spPr>
          <a:xfrm>
            <a:off x="838200" y="3657600"/>
            <a:ext cx="10515600" cy="1219200"/>
          </a:xfrm>
          <a:prstGeom prst="rect">
            <a:avLst/>
          </a:prstGeom>
          <a:solidFill>
            <a:srgbClr val="FFFFFF">
              <a:alpha val="7725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28155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E582A-4E60-359E-B6AB-7095B766C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L" sz="4000" b="1" dirty="0"/>
              <a:t>Why study the transcriptome of organisms?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C392D-C71A-74D7-8E1F-107FEBCC8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53999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8200" y="518440"/>
            <a:ext cx="10515600" cy="1018932"/>
          </a:xfrm>
          <a:prstGeom prst="rect">
            <a:avLst/>
          </a:prstGeom>
        </p:spPr>
        <p:txBody>
          <a:bodyPr vert="horz" wrap="square" lIns="0" tIns="3994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000" b="1" dirty="0"/>
              <a:t>One</a:t>
            </a:r>
            <a:r>
              <a:rPr sz="4000" b="1" spc="-155" dirty="0"/>
              <a:t> </a:t>
            </a:r>
            <a:r>
              <a:rPr sz="4000" b="1" dirty="0"/>
              <a:t>genome,</a:t>
            </a:r>
            <a:r>
              <a:rPr sz="4000" b="1" spc="-95" dirty="0"/>
              <a:t> </a:t>
            </a:r>
            <a:r>
              <a:rPr sz="4000" b="1" dirty="0"/>
              <a:t>many</a:t>
            </a:r>
            <a:r>
              <a:rPr sz="4000" b="1" spc="-95" dirty="0"/>
              <a:t> </a:t>
            </a:r>
            <a:r>
              <a:rPr sz="4000" b="1" spc="-10" dirty="0"/>
              <a:t>forms</a:t>
            </a:r>
          </a:p>
        </p:txBody>
      </p:sp>
      <p:pic>
        <p:nvPicPr>
          <p:cNvPr id="3" name="object 3" descr="Caterpillar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43700" y="2533650"/>
            <a:ext cx="4610100" cy="26003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966331" y="5163883"/>
            <a:ext cx="379476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latin typeface="Calibri"/>
                <a:cs typeface="Calibri"/>
              </a:rPr>
              <a:t>https://en.wikipedia.org/wiki/Aglais_io#/media/File:DA_ph_husenica.jpg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0125" y="2238375"/>
            <a:ext cx="5095875" cy="33909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79182" y="5679757"/>
            <a:ext cx="472249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alibri"/>
                <a:cs typeface="Calibri"/>
              </a:rPr>
              <a:t>https://nl.wikipedia.org/wiki/Dagpauwoog#/media/Bestand:Inachis_io_Lill-</a:t>
            </a:r>
            <a:r>
              <a:rPr sz="950" spc="-10" dirty="0">
                <a:latin typeface="Calibri"/>
                <a:cs typeface="Calibri"/>
              </a:rPr>
              <a:t>Jansskogen.JPG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1817350" y="6593919"/>
            <a:ext cx="241300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NL" spc="-25" smtClean="0"/>
              <a:pPr marL="38100">
                <a:lnSpc>
                  <a:spcPts val="1240"/>
                </a:lnSpc>
              </a:pPr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7580" y="-345631"/>
            <a:ext cx="10515600" cy="1353703"/>
          </a:xfrm>
          <a:prstGeom prst="rect">
            <a:avLst/>
          </a:prstGeom>
        </p:spPr>
        <p:txBody>
          <a:bodyPr vert="horz" wrap="square" lIns="0" tIns="6700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b="1" dirty="0"/>
              <a:t>Gene</a:t>
            </a:r>
            <a:r>
              <a:rPr b="1" spc="-15" dirty="0"/>
              <a:t> </a:t>
            </a:r>
            <a:r>
              <a:rPr b="1" spc="-10" dirty="0"/>
              <a:t>expression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08467" y="4154"/>
            <a:ext cx="5498351" cy="684968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805125" y="1293396"/>
            <a:ext cx="149225" cy="48983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019"/>
              </a:lnSpc>
            </a:pPr>
            <a:r>
              <a:rPr sz="950" dirty="0">
                <a:latin typeface="Calibri"/>
                <a:cs typeface="Calibri"/>
              </a:rPr>
              <a:t>Griffith</a:t>
            </a:r>
            <a:r>
              <a:rPr sz="950" spc="95" dirty="0">
                <a:latin typeface="Calibri"/>
                <a:cs typeface="Calibri"/>
              </a:rPr>
              <a:t> </a:t>
            </a:r>
            <a:r>
              <a:rPr sz="950" i="1" dirty="0">
                <a:latin typeface="Calibri"/>
                <a:cs typeface="Calibri"/>
              </a:rPr>
              <a:t>et</a:t>
            </a:r>
            <a:r>
              <a:rPr sz="950" i="1" spc="190" dirty="0">
                <a:latin typeface="Calibri"/>
                <a:cs typeface="Calibri"/>
              </a:rPr>
              <a:t> </a:t>
            </a:r>
            <a:r>
              <a:rPr sz="950" i="1" dirty="0">
                <a:latin typeface="Calibri"/>
                <a:cs typeface="Calibri"/>
              </a:rPr>
              <a:t>al.</a:t>
            </a:r>
            <a:r>
              <a:rPr sz="950" i="1" spc="100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PLOS</a:t>
            </a:r>
            <a:r>
              <a:rPr sz="950" spc="235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Computational</a:t>
            </a:r>
            <a:r>
              <a:rPr sz="950" spc="130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Biology</a:t>
            </a:r>
            <a:r>
              <a:rPr sz="950" spc="465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2015</a:t>
            </a:r>
            <a:r>
              <a:rPr sz="950" spc="165" dirty="0">
                <a:latin typeface="Calibri"/>
                <a:cs typeface="Calibri"/>
              </a:rPr>
              <a:t> </a:t>
            </a:r>
            <a:r>
              <a:rPr sz="950" spc="-10" dirty="0">
                <a:latin typeface="Calibri"/>
                <a:cs typeface="Calibri"/>
                <a:hlinkClick r:id="rId3"/>
              </a:rPr>
              <a:t>https://doi.org/10.1371/journal.pcbi.1004393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1817350" y="6593919"/>
            <a:ext cx="241300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NL" spc="-25" smtClean="0"/>
              <a:pPr marL="38100">
                <a:lnSpc>
                  <a:spcPts val="1240"/>
                </a:lnSpc>
              </a:pPr>
              <a:t>5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237650" y="2066060"/>
            <a:ext cx="7774236" cy="13629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395" marR="1680845" indent="-227329">
              <a:lnSpc>
                <a:spcPct val="1095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lang="nl-NL" sz="2400" spc="-10" dirty="0">
                <a:latin typeface="Calibri"/>
                <a:cs typeface="Calibri"/>
              </a:rPr>
              <a:t>O</a:t>
            </a:r>
            <a:r>
              <a:rPr sz="2400" spc="-10" dirty="0" err="1">
                <a:latin typeface="Calibri"/>
                <a:cs typeface="Calibri"/>
              </a:rPr>
              <a:t>rganisms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regulate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their</a:t>
            </a:r>
            <a:r>
              <a:rPr lang="nl-NL"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transcriptome</a:t>
            </a:r>
            <a:endParaRPr sz="2400" dirty="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development</a:t>
            </a:r>
            <a:endParaRPr sz="2400" dirty="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response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changed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conditions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1817350" y="6593919"/>
            <a:ext cx="241300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NL" spc="-25" smtClean="0"/>
              <a:pPr marL="38100">
                <a:lnSpc>
                  <a:spcPts val="1240"/>
                </a:lnSpc>
              </a:pPr>
              <a:t>6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40228" y="-89317"/>
            <a:ext cx="10515600" cy="1292148"/>
          </a:xfrm>
          <a:prstGeom prst="rect">
            <a:avLst/>
          </a:prstGeom>
        </p:spPr>
        <p:txBody>
          <a:bodyPr vert="horz" wrap="square" lIns="0" tIns="6700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000" b="1" dirty="0"/>
              <a:t>Question</a:t>
            </a:r>
            <a:r>
              <a:rPr sz="4000" b="1" spc="-80" dirty="0"/>
              <a:t> </a:t>
            </a:r>
            <a:r>
              <a:rPr sz="4000" b="1" dirty="0"/>
              <a:t>posed</a:t>
            </a:r>
            <a:r>
              <a:rPr sz="4000" b="1" spc="-60" dirty="0"/>
              <a:t> </a:t>
            </a:r>
            <a:r>
              <a:rPr sz="4000" b="1" dirty="0"/>
              <a:t>in</a:t>
            </a:r>
            <a:r>
              <a:rPr sz="4000" b="1" spc="-65" dirty="0"/>
              <a:t> </a:t>
            </a:r>
            <a:r>
              <a:rPr sz="4000" b="1" spc="-25" dirty="0"/>
              <a:t>RNA-</a:t>
            </a:r>
            <a:r>
              <a:rPr sz="4000" b="1" dirty="0"/>
              <a:t>seq</a:t>
            </a:r>
            <a:r>
              <a:rPr sz="4000" b="1" spc="-60" dirty="0"/>
              <a:t> </a:t>
            </a:r>
            <a:r>
              <a:rPr sz="4000" b="1" spc="-10" dirty="0"/>
              <a:t>studies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9475" y="1497420"/>
            <a:ext cx="10433050" cy="4477251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45"/>
              </a:spcBef>
              <a:buFont typeface="Arial"/>
              <a:buChar char="•"/>
              <a:tabLst>
                <a:tab pos="241300" algn="l"/>
              </a:tabLst>
            </a:pPr>
            <a:r>
              <a:rPr sz="2150" b="1" dirty="0">
                <a:latin typeface="Calibri"/>
                <a:cs typeface="Calibri"/>
              </a:rPr>
              <a:t>Which</a:t>
            </a:r>
            <a:r>
              <a:rPr sz="2150" b="1" spc="6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genes</a:t>
            </a:r>
            <a:r>
              <a:rPr sz="2150" b="1" spc="6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are</a:t>
            </a:r>
            <a:r>
              <a:rPr sz="2150" b="1" spc="90" dirty="0">
                <a:latin typeface="Calibri"/>
                <a:cs typeface="Calibri"/>
              </a:rPr>
              <a:t> </a:t>
            </a:r>
            <a:r>
              <a:rPr sz="2150" b="1" i="1" dirty="0">
                <a:latin typeface="Calibri"/>
                <a:cs typeface="Calibri"/>
              </a:rPr>
              <a:t>differentially</a:t>
            </a:r>
            <a:r>
              <a:rPr sz="2150" b="1" i="1" spc="95" dirty="0">
                <a:latin typeface="Calibri"/>
                <a:cs typeface="Calibri"/>
              </a:rPr>
              <a:t> </a:t>
            </a:r>
            <a:r>
              <a:rPr sz="2150" b="1" i="1" dirty="0">
                <a:latin typeface="Calibri"/>
                <a:cs typeface="Calibri"/>
              </a:rPr>
              <a:t>expressed</a:t>
            </a:r>
            <a:r>
              <a:rPr sz="2150" b="1" i="1" spc="15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after</a:t>
            </a:r>
            <a:r>
              <a:rPr sz="2150" b="1" spc="8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a</a:t>
            </a:r>
            <a:r>
              <a:rPr sz="2150" b="1" spc="10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treatment</a:t>
            </a:r>
            <a:r>
              <a:rPr sz="2150" b="1" spc="3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or in</a:t>
            </a:r>
            <a:r>
              <a:rPr sz="2150" b="1" spc="7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individuals</a:t>
            </a:r>
            <a:r>
              <a:rPr sz="2150" b="1" spc="6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with/without</a:t>
            </a:r>
            <a:r>
              <a:rPr sz="2150" b="1" spc="114" dirty="0">
                <a:latin typeface="Calibri"/>
                <a:cs typeface="Calibri"/>
              </a:rPr>
              <a:t> </a:t>
            </a:r>
            <a:r>
              <a:rPr sz="2150" b="1" spc="-50" dirty="0">
                <a:latin typeface="Calibri"/>
                <a:cs typeface="Calibri"/>
              </a:rPr>
              <a:t>a</a:t>
            </a:r>
            <a:r>
              <a:rPr lang="nl-NL" sz="2150" b="1" dirty="0">
                <a:latin typeface="Calibri"/>
                <a:cs typeface="Calibri"/>
              </a:rPr>
              <a:t> </a:t>
            </a:r>
            <a:r>
              <a:rPr lang="nl-NL" sz="2150" b="1" spc="-10" dirty="0" err="1">
                <a:latin typeface="Calibri"/>
                <a:cs typeface="Calibri"/>
              </a:rPr>
              <a:t>certain</a:t>
            </a:r>
            <a:r>
              <a:rPr lang="nl-NL" sz="2150" b="1" spc="-10" dirty="0">
                <a:latin typeface="Calibri"/>
                <a:cs typeface="Calibri"/>
              </a:rPr>
              <a:t> </a:t>
            </a:r>
            <a:r>
              <a:rPr lang="nl-NL" sz="2150" b="1" spc="-10" dirty="0" err="1">
                <a:latin typeface="Calibri"/>
                <a:cs typeface="Calibri"/>
              </a:rPr>
              <a:t>mutation</a:t>
            </a:r>
            <a:r>
              <a:rPr sz="2150" b="1" spc="-10" dirty="0">
                <a:latin typeface="Calibri"/>
                <a:cs typeface="Calibri"/>
              </a:rPr>
              <a:t>?</a:t>
            </a:r>
          </a:p>
          <a:p>
            <a:pPr marL="241300" indent="-228600">
              <a:lnSpc>
                <a:spcPct val="100000"/>
              </a:lnSpc>
              <a:spcBef>
                <a:spcPts val="1325"/>
              </a:spcBef>
              <a:buFont typeface="Arial"/>
              <a:buChar char="•"/>
              <a:tabLst>
                <a:tab pos="241300" algn="l"/>
              </a:tabLst>
            </a:pP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When/where</a:t>
            </a:r>
            <a:r>
              <a:rPr sz="2150" spc="45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are</a:t>
            </a:r>
            <a:r>
              <a:rPr sz="2150" spc="55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a</a:t>
            </a:r>
            <a:r>
              <a:rPr sz="2150" spc="105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group</a:t>
            </a:r>
            <a:r>
              <a:rPr sz="2150" spc="7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of</a:t>
            </a:r>
            <a:r>
              <a:rPr sz="2150" spc="25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genes</a:t>
            </a:r>
            <a:r>
              <a:rPr sz="2150" spc="65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expressed?</a:t>
            </a:r>
            <a:endParaRPr sz="2150" dirty="0">
              <a:solidFill>
                <a:schemeClr val="bg1">
                  <a:lumMod val="75000"/>
                </a:schemeClr>
              </a:solidFill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325"/>
              </a:spcBef>
              <a:buFont typeface="Arial"/>
              <a:buChar char="•"/>
              <a:tabLst>
                <a:tab pos="241300" algn="l"/>
              </a:tabLst>
            </a:pP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Does</a:t>
            </a:r>
            <a:r>
              <a:rPr sz="2150" spc="4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the</a:t>
            </a:r>
            <a:r>
              <a:rPr sz="2150" spc="55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i="1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regulation</a:t>
            </a:r>
            <a:r>
              <a:rPr sz="2150" i="1" spc="8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of</a:t>
            </a:r>
            <a:r>
              <a:rPr sz="2150" spc="2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gene</a:t>
            </a:r>
            <a:r>
              <a:rPr sz="2150" spc="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expression</a:t>
            </a:r>
            <a:r>
              <a:rPr sz="2150" spc="65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still</a:t>
            </a:r>
            <a:r>
              <a:rPr sz="2150" spc="114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work,</a:t>
            </a:r>
            <a:r>
              <a:rPr sz="2150" spc="65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if</a:t>
            </a:r>
            <a:r>
              <a:rPr sz="2150" spc="95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I</a:t>
            </a:r>
            <a:r>
              <a:rPr sz="2150" spc="6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experimentally</a:t>
            </a:r>
            <a:r>
              <a:rPr sz="2150" spc="8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interfere</a:t>
            </a:r>
            <a:r>
              <a:rPr sz="2150" spc="125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with</a:t>
            </a:r>
            <a:r>
              <a:rPr sz="2150" spc="7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spc="-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a</a:t>
            </a:r>
            <a:endParaRPr sz="2150" dirty="0">
              <a:solidFill>
                <a:schemeClr val="bg1">
                  <a:lumMod val="75000"/>
                </a:schemeClr>
              </a:solidFill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350"/>
              </a:spcBef>
            </a:pP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potential</a:t>
            </a:r>
            <a:r>
              <a:rPr sz="2150" spc="155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dirty="0" err="1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signalling</a:t>
            </a: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/regulatory/feedback</a:t>
            </a:r>
            <a:r>
              <a:rPr sz="2150" spc="20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molecule?</a:t>
            </a:r>
            <a:endParaRPr sz="2150" dirty="0">
              <a:solidFill>
                <a:schemeClr val="bg1">
                  <a:lumMod val="75000"/>
                </a:schemeClr>
              </a:solidFill>
              <a:latin typeface="Calibri"/>
              <a:cs typeface="Calibri"/>
            </a:endParaRPr>
          </a:p>
          <a:p>
            <a:pPr marL="241300" marR="1069975" indent="-229235">
              <a:lnSpc>
                <a:spcPct val="110600"/>
              </a:lnSpc>
              <a:spcBef>
                <a:spcPts val="1050"/>
              </a:spcBef>
              <a:buFont typeface="Arial"/>
              <a:buChar char="•"/>
              <a:tabLst>
                <a:tab pos="241300" algn="l"/>
              </a:tabLst>
            </a:pP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Is</a:t>
            </a:r>
            <a:r>
              <a:rPr sz="2150" spc="10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gene</a:t>
            </a:r>
            <a:r>
              <a:rPr sz="2150" spc="3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expression</a:t>
            </a:r>
            <a:r>
              <a:rPr sz="2150" spc="4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regulated</a:t>
            </a:r>
            <a:r>
              <a:rPr sz="2150" spc="45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at</a:t>
            </a:r>
            <a:r>
              <a:rPr sz="2150" spc="8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the</a:t>
            </a:r>
            <a:r>
              <a:rPr sz="2150" spc="25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transcription,</a:t>
            </a:r>
            <a:r>
              <a:rPr sz="2150" spc="45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localization,</a:t>
            </a:r>
            <a:r>
              <a:rPr sz="2150" spc="4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translation,</a:t>
            </a:r>
            <a:r>
              <a:rPr sz="2150" spc="45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and/or </a:t>
            </a: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degradation</a:t>
            </a:r>
            <a:r>
              <a:rPr sz="2150" spc="4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level?</a:t>
            </a:r>
            <a:endParaRPr sz="2150" dirty="0">
              <a:solidFill>
                <a:schemeClr val="bg1">
                  <a:lumMod val="75000"/>
                </a:schemeClr>
              </a:solidFill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325"/>
              </a:spcBef>
              <a:buFont typeface="Arial"/>
              <a:buChar char="•"/>
              <a:tabLst>
                <a:tab pos="241300" algn="l"/>
              </a:tabLst>
            </a:pP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Which</a:t>
            </a:r>
            <a:r>
              <a:rPr sz="2150" spc="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part</a:t>
            </a:r>
            <a:r>
              <a:rPr sz="2150" spc="85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of</a:t>
            </a:r>
            <a:r>
              <a:rPr sz="2150" spc="75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the</a:t>
            </a:r>
            <a:r>
              <a:rPr sz="2150" spc="35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genome</a:t>
            </a:r>
            <a:r>
              <a:rPr sz="2150" spc="35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are</a:t>
            </a:r>
            <a:r>
              <a:rPr sz="2150" spc="3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transcribed/translated?</a:t>
            </a:r>
            <a:endParaRPr sz="2150" dirty="0">
              <a:solidFill>
                <a:schemeClr val="bg1">
                  <a:lumMod val="75000"/>
                </a:schemeClr>
              </a:solidFill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325"/>
              </a:spcBef>
              <a:buFont typeface="Arial"/>
              <a:buChar char="•"/>
              <a:tabLst>
                <a:tab pos="241300" algn="l"/>
              </a:tabLst>
            </a:pP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Which</a:t>
            </a:r>
            <a:r>
              <a:rPr sz="2150" spc="45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RNAs</a:t>
            </a:r>
            <a:r>
              <a:rPr sz="2150" spc="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interact</a:t>
            </a:r>
            <a:r>
              <a:rPr sz="2150" spc="95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physically</a:t>
            </a:r>
            <a:r>
              <a:rPr sz="2150" spc="65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with</a:t>
            </a:r>
            <a:r>
              <a:rPr sz="2150" spc="55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each</a:t>
            </a:r>
            <a:r>
              <a:rPr sz="2150" spc="55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other</a:t>
            </a:r>
            <a:r>
              <a:rPr sz="2150" spc="-15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or</a:t>
            </a:r>
            <a:r>
              <a:rPr sz="2150" spc="65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a</a:t>
            </a:r>
            <a:r>
              <a:rPr sz="2150" spc="5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protein?</a:t>
            </a:r>
            <a:endParaRPr sz="2150" dirty="0">
              <a:solidFill>
                <a:schemeClr val="bg1">
                  <a:lumMod val="75000"/>
                </a:schemeClr>
              </a:solidFill>
              <a:latin typeface="Calibri"/>
              <a:cs typeface="Calibri"/>
            </a:endParaRPr>
          </a:p>
          <a:p>
            <a:pPr marL="304800" indent="-292100">
              <a:lnSpc>
                <a:spcPct val="100000"/>
              </a:lnSpc>
              <a:spcBef>
                <a:spcPts val="1400"/>
              </a:spcBef>
              <a:buFont typeface="Wingdings"/>
              <a:buChar char=""/>
              <a:tabLst>
                <a:tab pos="304800" algn="l"/>
              </a:tabLst>
            </a:pP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What</a:t>
            </a:r>
            <a:r>
              <a:rPr sz="2150" spc="7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is</a:t>
            </a:r>
            <a:r>
              <a:rPr sz="2150" spc="114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the</a:t>
            </a:r>
            <a:r>
              <a:rPr sz="2150" spc="3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function</a:t>
            </a:r>
            <a:r>
              <a:rPr sz="2150" spc="45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of</a:t>
            </a:r>
            <a:r>
              <a:rPr sz="2150" spc="-5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this</a:t>
            </a:r>
            <a:r>
              <a:rPr sz="2150" spc="45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transcript/gene?</a:t>
            </a:r>
            <a:endParaRPr sz="2150" dirty="0">
              <a:solidFill>
                <a:schemeClr val="bg1">
                  <a:lumMod val="75000"/>
                </a:schemeClr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CA67B-F634-8C55-1832-378E8395D64B}"/>
              </a:ext>
            </a:extLst>
          </p:cNvPr>
          <p:cNvSpPr txBox="1">
            <a:spLocks/>
          </p:cNvSpPr>
          <p:nvPr/>
        </p:nvSpPr>
        <p:spPr>
          <a:xfrm>
            <a:off x="340658" y="379413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lang="en-NL" sz="4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rom sample to 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DFE1E-3F94-75B3-71E5-BDEBB4229CC0}"/>
              </a:ext>
            </a:extLst>
          </p:cNvPr>
          <p:cNvSpPr txBox="1">
            <a:spLocks/>
          </p:cNvSpPr>
          <p:nvPr/>
        </p:nvSpPr>
        <p:spPr>
          <a:xfrm>
            <a:off x="340658" y="1825625"/>
            <a:ext cx="5110074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Extract RNA</a:t>
            </a:r>
          </a:p>
          <a:p>
            <a:r>
              <a:rPr lang="nl-NL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Generate</a:t>
            </a:r>
            <a:r>
              <a:rPr lang="nl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cDNA</a:t>
            </a:r>
          </a:p>
          <a:p>
            <a:r>
              <a:rPr lang="nl-NL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Add</a:t>
            </a:r>
            <a:r>
              <a:rPr lang="nl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sequencing</a:t>
            </a:r>
            <a:r>
              <a:rPr lang="nl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adapters</a:t>
            </a:r>
          </a:p>
          <a:p>
            <a:r>
              <a:rPr lang="nl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Next </a:t>
            </a:r>
            <a:r>
              <a:rPr lang="nl-NL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generation</a:t>
            </a:r>
            <a:r>
              <a:rPr lang="nl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sequencing</a:t>
            </a:r>
            <a:endParaRPr lang="nl-NL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972D3E-5D4D-AB45-1FE7-38AA23BBF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1270" y="1042194"/>
            <a:ext cx="4770423" cy="479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549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NA-seqlopedia">
            <a:extLst>
              <a:ext uri="{FF2B5EF4-FFF2-40B4-BE49-F238E27FC236}">
                <a16:creationId xmlns:a16="http://schemas.microsoft.com/office/drawing/2014/main" id="{70F47C6B-E801-9DE8-02B2-F7C6ACD02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0381" y="1342925"/>
            <a:ext cx="6091238" cy="488652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0F4A2D7-7AF3-12AE-6789-06FC0FCBB787}"/>
              </a:ext>
            </a:extLst>
          </p:cNvPr>
          <p:cNvSpPr txBox="1">
            <a:spLocks/>
          </p:cNvSpPr>
          <p:nvPr/>
        </p:nvSpPr>
        <p:spPr>
          <a:xfrm>
            <a:off x="312083" y="265113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4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RNA sample </a:t>
            </a:r>
            <a:r>
              <a:rPr lang="nl-NL" sz="40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  <a:r>
              <a:rPr lang="nl-NL" sz="4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40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library</a:t>
            </a:r>
            <a:r>
              <a:rPr lang="nl-NL" sz="4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40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prep</a:t>
            </a:r>
            <a:r>
              <a:rPr lang="nl-NL" sz="4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(</a:t>
            </a:r>
            <a:r>
              <a:rPr lang="nl-NL" sz="40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simplified</a:t>
            </a:r>
            <a:r>
              <a:rPr lang="nl-NL" sz="4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</a:t>
            </a:r>
            <a:endParaRPr lang="en-NL" sz="40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0965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llumina Sequencing Explained -1010Genome | Next Generation Sequencing and  Bioinformatics Data Analysis Services">
            <a:extLst>
              <a:ext uri="{FF2B5EF4-FFF2-40B4-BE49-F238E27FC236}">
                <a16:creationId xmlns:a16="http://schemas.microsoft.com/office/drawing/2014/main" id="{B139ED39-C48F-D936-7158-E41D2F7C2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046" y="1177986"/>
            <a:ext cx="5711032" cy="550062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4A26393-F0BD-D5EA-F413-97C68D1975E9}"/>
              </a:ext>
            </a:extLst>
          </p:cNvPr>
          <p:cNvSpPr txBox="1">
            <a:spLocks/>
          </p:cNvSpPr>
          <p:nvPr/>
        </p:nvSpPr>
        <p:spPr>
          <a:xfrm>
            <a:off x="326369" y="266474"/>
            <a:ext cx="11689417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3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Library is </a:t>
            </a:r>
            <a:r>
              <a:rPr lang="nl-NL" sz="34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loaded</a:t>
            </a:r>
            <a:r>
              <a:rPr lang="nl-NL" sz="3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on a flow </a:t>
            </a:r>
            <a:r>
              <a:rPr lang="nl-NL" sz="34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cell</a:t>
            </a:r>
            <a:r>
              <a:rPr lang="nl-NL" sz="3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4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and</a:t>
            </a:r>
            <a:r>
              <a:rPr lang="nl-NL" sz="3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4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amplified</a:t>
            </a:r>
            <a:r>
              <a:rPr lang="nl-NL" sz="3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in clusters</a:t>
            </a:r>
            <a:endParaRPr lang="en-NL" sz="34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FB71F716-9C4A-8C37-3406-22C60DC311C1}"/>
              </a:ext>
            </a:extLst>
          </p:cNvPr>
          <p:cNvPicPr/>
          <p:nvPr/>
        </p:nvPicPr>
        <p:blipFill>
          <a:blip r:embed="rId3" cstate="print"/>
          <a:srcRect l="74608" t="48254" r="1552" b="23517"/>
          <a:stretch>
            <a:fillRect/>
          </a:stretch>
        </p:blipFill>
        <p:spPr>
          <a:xfrm>
            <a:off x="7199707" y="1722665"/>
            <a:ext cx="4083424" cy="286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908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CD30FB7-8085-415A-8030-9240D0C812DB}"/>
              </a:ext>
            </a:extLst>
          </p:cNvPr>
          <p:cNvSpPr/>
          <p:nvPr/>
        </p:nvSpPr>
        <p:spPr>
          <a:xfrm>
            <a:off x="7906374" y="0"/>
            <a:ext cx="3005751" cy="3530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42EFC29-4D9B-0C92-CF0B-F66A45224468}"/>
              </a:ext>
            </a:extLst>
          </p:cNvPr>
          <p:cNvGrpSpPr/>
          <p:nvPr/>
        </p:nvGrpSpPr>
        <p:grpSpPr>
          <a:xfrm>
            <a:off x="8503190" y="262467"/>
            <a:ext cx="3380317" cy="5037665"/>
            <a:chOff x="8174566" y="262467"/>
            <a:chExt cx="3380317" cy="5037665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BCC92951-3452-2D2E-CC09-D272F3565390}"/>
                </a:ext>
              </a:extLst>
            </p:cNvPr>
            <p:cNvSpPr/>
            <p:nvPr/>
          </p:nvSpPr>
          <p:spPr>
            <a:xfrm>
              <a:off x="8174566" y="262467"/>
              <a:ext cx="3380317" cy="3893410"/>
            </a:xfrm>
            <a:custGeom>
              <a:avLst/>
              <a:gdLst>
                <a:gd name="connsiteX0" fmla="*/ 127000 w 3380317"/>
                <a:gd name="connsiteY0" fmla="*/ 594783 h 3289300"/>
                <a:gd name="connsiteX1" fmla="*/ 213784 w 3380317"/>
                <a:gd name="connsiteY1" fmla="*/ 732366 h 3289300"/>
                <a:gd name="connsiteX2" fmla="*/ 330200 w 3380317"/>
                <a:gd name="connsiteY2" fmla="*/ 1411816 h 3289300"/>
                <a:gd name="connsiteX3" fmla="*/ 116417 w 3380317"/>
                <a:gd name="connsiteY3" fmla="*/ 1693333 h 3289300"/>
                <a:gd name="connsiteX4" fmla="*/ 224367 w 3380317"/>
                <a:gd name="connsiteY4" fmla="*/ 1875366 h 3289300"/>
                <a:gd name="connsiteX5" fmla="*/ 245534 w 3380317"/>
                <a:gd name="connsiteY5" fmla="*/ 2656416 h 3289300"/>
                <a:gd name="connsiteX6" fmla="*/ 0 w 3380317"/>
                <a:gd name="connsiteY6" fmla="*/ 3083983 h 3289300"/>
                <a:gd name="connsiteX7" fmla="*/ 150284 w 3380317"/>
                <a:gd name="connsiteY7" fmla="*/ 3151716 h 3289300"/>
                <a:gd name="connsiteX8" fmla="*/ 188384 w 3380317"/>
                <a:gd name="connsiteY8" fmla="*/ 3289300 h 3289300"/>
                <a:gd name="connsiteX9" fmla="*/ 958850 w 3380317"/>
                <a:gd name="connsiteY9" fmla="*/ 3077633 h 3289300"/>
                <a:gd name="connsiteX10" fmla="*/ 969434 w 3380317"/>
                <a:gd name="connsiteY10" fmla="*/ 2914650 h 3289300"/>
                <a:gd name="connsiteX11" fmla="*/ 1172634 w 3380317"/>
                <a:gd name="connsiteY11" fmla="*/ 3240616 h 3289300"/>
                <a:gd name="connsiteX12" fmla="*/ 2842684 w 3380317"/>
                <a:gd name="connsiteY12" fmla="*/ 3198283 h 3289300"/>
                <a:gd name="connsiteX13" fmla="*/ 3380317 w 3380317"/>
                <a:gd name="connsiteY13" fmla="*/ 819150 h 3289300"/>
                <a:gd name="connsiteX14" fmla="*/ 3141134 w 3380317"/>
                <a:gd name="connsiteY14" fmla="*/ 0 h 3289300"/>
                <a:gd name="connsiteX15" fmla="*/ 812800 w 3380317"/>
                <a:gd name="connsiteY15" fmla="*/ 154516 h 3289300"/>
                <a:gd name="connsiteX16" fmla="*/ 127000 w 3380317"/>
                <a:gd name="connsiteY16" fmla="*/ 594783 h 3289300"/>
                <a:gd name="connsiteX0" fmla="*/ 127000 w 3380317"/>
                <a:gd name="connsiteY0" fmla="*/ 594783 h 3960284"/>
                <a:gd name="connsiteX1" fmla="*/ 213784 w 3380317"/>
                <a:gd name="connsiteY1" fmla="*/ 732366 h 3960284"/>
                <a:gd name="connsiteX2" fmla="*/ 330200 w 3380317"/>
                <a:gd name="connsiteY2" fmla="*/ 1411816 h 3960284"/>
                <a:gd name="connsiteX3" fmla="*/ 116417 w 3380317"/>
                <a:gd name="connsiteY3" fmla="*/ 1693333 h 3960284"/>
                <a:gd name="connsiteX4" fmla="*/ 224367 w 3380317"/>
                <a:gd name="connsiteY4" fmla="*/ 1875366 h 3960284"/>
                <a:gd name="connsiteX5" fmla="*/ 245534 w 3380317"/>
                <a:gd name="connsiteY5" fmla="*/ 2656416 h 3960284"/>
                <a:gd name="connsiteX6" fmla="*/ 0 w 3380317"/>
                <a:gd name="connsiteY6" fmla="*/ 3083983 h 3960284"/>
                <a:gd name="connsiteX7" fmla="*/ 150284 w 3380317"/>
                <a:gd name="connsiteY7" fmla="*/ 3151716 h 3960284"/>
                <a:gd name="connsiteX8" fmla="*/ 275167 w 3380317"/>
                <a:gd name="connsiteY8" fmla="*/ 3960284 h 3960284"/>
                <a:gd name="connsiteX9" fmla="*/ 958850 w 3380317"/>
                <a:gd name="connsiteY9" fmla="*/ 3077633 h 3960284"/>
                <a:gd name="connsiteX10" fmla="*/ 969434 w 3380317"/>
                <a:gd name="connsiteY10" fmla="*/ 2914650 h 3960284"/>
                <a:gd name="connsiteX11" fmla="*/ 1172634 w 3380317"/>
                <a:gd name="connsiteY11" fmla="*/ 3240616 h 3960284"/>
                <a:gd name="connsiteX12" fmla="*/ 2842684 w 3380317"/>
                <a:gd name="connsiteY12" fmla="*/ 3198283 h 3960284"/>
                <a:gd name="connsiteX13" fmla="*/ 3380317 w 3380317"/>
                <a:gd name="connsiteY13" fmla="*/ 819150 h 3960284"/>
                <a:gd name="connsiteX14" fmla="*/ 3141134 w 3380317"/>
                <a:gd name="connsiteY14" fmla="*/ 0 h 3960284"/>
                <a:gd name="connsiteX15" fmla="*/ 812800 w 3380317"/>
                <a:gd name="connsiteY15" fmla="*/ 154516 h 3960284"/>
                <a:gd name="connsiteX16" fmla="*/ 127000 w 3380317"/>
                <a:gd name="connsiteY16" fmla="*/ 594783 h 3960284"/>
                <a:gd name="connsiteX0" fmla="*/ 147239 w 3400556"/>
                <a:gd name="connsiteY0" fmla="*/ 594783 h 4362507"/>
                <a:gd name="connsiteX1" fmla="*/ 234023 w 3400556"/>
                <a:gd name="connsiteY1" fmla="*/ 732366 h 4362507"/>
                <a:gd name="connsiteX2" fmla="*/ 350439 w 3400556"/>
                <a:gd name="connsiteY2" fmla="*/ 1411816 h 4362507"/>
                <a:gd name="connsiteX3" fmla="*/ 136656 w 3400556"/>
                <a:gd name="connsiteY3" fmla="*/ 1693333 h 4362507"/>
                <a:gd name="connsiteX4" fmla="*/ 244606 w 3400556"/>
                <a:gd name="connsiteY4" fmla="*/ 1875366 h 4362507"/>
                <a:gd name="connsiteX5" fmla="*/ 265773 w 3400556"/>
                <a:gd name="connsiteY5" fmla="*/ 2656416 h 4362507"/>
                <a:gd name="connsiteX6" fmla="*/ 20239 w 3400556"/>
                <a:gd name="connsiteY6" fmla="*/ 3083983 h 4362507"/>
                <a:gd name="connsiteX7" fmla="*/ 170523 w 3400556"/>
                <a:gd name="connsiteY7" fmla="*/ 3151716 h 4362507"/>
                <a:gd name="connsiteX8" fmla="*/ 295406 w 3400556"/>
                <a:gd name="connsiteY8" fmla="*/ 3960284 h 4362507"/>
                <a:gd name="connsiteX9" fmla="*/ 54106 w 3400556"/>
                <a:gd name="connsiteY9" fmla="*/ 4356100 h 4362507"/>
                <a:gd name="connsiteX10" fmla="*/ 989673 w 3400556"/>
                <a:gd name="connsiteY10" fmla="*/ 2914650 h 4362507"/>
                <a:gd name="connsiteX11" fmla="*/ 1192873 w 3400556"/>
                <a:gd name="connsiteY11" fmla="*/ 3240616 h 4362507"/>
                <a:gd name="connsiteX12" fmla="*/ 2862923 w 3400556"/>
                <a:gd name="connsiteY12" fmla="*/ 3198283 h 4362507"/>
                <a:gd name="connsiteX13" fmla="*/ 3400556 w 3400556"/>
                <a:gd name="connsiteY13" fmla="*/ 819150 h 4362507"/>
                <a:gd name="connsiteX14" fmla="*/ 3161373 w 3400556"/>
                <a:gd name="connsiteY14" fmla="*/ 0 h 4362507"/>
                <a:gd name="connsiteX15" fmla="*/ 833039 w 3400556"/>
                <a:gd name="connsiteY15" fmla="*/ 154516 h 4362507"/>
                <a:gd name="connsiteX16" fmla="*/ 147239 w 3400556"/>
                <a:gd name="connsiteY16" fmla="*/ 594783 h 4362507"/>
                <a:gd name="connsiteX0" fmla="*/ 147239 w 3400556"/>
                <a:gd name="connsiteY0" fmla="*/ 594783 h 4529155"/>
                <a:gd name="connsiteX1" fmla="*/ 234023 w 3400556"/>
                <a:gd name="connsiteY1" fmla="*/ 732366 h 4529155"/>
                <a:gd name="connsiteX2" fmla="*/ 350439 w 3400556"/>
                <a:gd name="connsiteY2" fmla="*/ 1411816 h 4529155"/>
                <a:gd name="connsiteX3" fmla="*/ 136656 w 3400556"/>
                <a:gd name="connsiteY3" fmla="*/ 1693333 h 4529155"/>
                <a:gd name="connsiteX4" fmla="*/ 244606 w 3400556"/>
                <a:gd name="connsiteY4" fmla="*/ 1875366 h 4529155"/>
                <a:gd name="connsiteX5" fmla="*/ 265773 w 3400556"/>
                <a:gd name="connsiteY5" fmla="*/ 2656416 h 4529155"/>
                <a:gd name="connsiteX6" fmla="*/ 20239 w 3400556"/>
                <a:gd name="connsiteY6" fmla="*/ 3083983 h 4529155"/>
                <a:gd name="connsiteX7" fmla="*/ 170523 w 3400556"/>
                <a:gd name="connsiteY7" fmla="*/ 3151716 h 4529155"/>
                <a:gd name="connsiteX8" fmla="*/ 295406 w 3400556"/>
                <a:gd name="connsiteY8" fmla="*/ 3960284 h 4529155"/>
                <a:gd name="connsiteX9" fmla="*/ 54106 w 3400556"/>
                <a:gd name="connsiteY9" fmla="*/ 4356100 h 4529155"/>
                <a:gd name="connsiteX10" fmla="*/ 369490 w 3400556"/>
                <a:gd name="connsiteY10" fmla="*/ 4493683 h 4529155"/>
                <a:gd name="connsiteX11" fmla="*/ 1192873 w 3400556"/>
                <a:gd name="connsiteY11" fmla="*/ 3240616 h 4529155"/>
                <a:gd name="connsiteX12" fmla="*/ 2862923 w 3400556"/>
                <a:gd name="connsiteY12" fmla="*/ 3198283 h 4529155"/>
                <a:gd name="connsiteX13" fmla="*/ 3400556 w 3400556"/>
                <a:gd name="connsiteY13" fmla="*/ 819150 h 4529155"/>
                <a:gd name="connsiteX14" fmla="*/ 3161373 w 3400556"/>
                <a:gd name="connsiteY14" fmla="*/ 0 h 4529155"/>
                <a:gd name="connsiteX15" fmla="*/ 833039 w 3400556"/>
                <a:gd name="connsiteY15" fmla="*/ 154516 h 4529155"/>
                <a:gd name="connsiteX16" fmla="*/ 147239 w 3400556"/>
                <a:gd name="connsiteY16" fmla="*/ 594783 h 4529155"/>
                <a:gd name="connsiteX0" fmla="*/ 149229 w 3402546"/>
                <a:gd name="connsiteY0" fmla="*/ 594783 h 4530025"/>
                <a:gd name="connsiteX1" fmla="*/ 236013 w 3402546"/>
                <a:gd name="connsiteY1" fmla="*/ 732366 h 4530025"/>
                <a:gd name="connsiteX2" fmla="*/ 352429 w 3402546"/>
                <a:gd name="connsiteY2" fmla="*/ 1411816 h 4530025"/>
                <a:gd name="connsiteX3" fmla="*/ 138646 w 3402546"/>
                <a:gd name="connsiteY3" fmla="*/ 1693333 h 4530025"/>
                <a:gd name="connsiteX4" fmla="*/ 246596 w 3402546"/>
                <a:gd name="connsiteY4" fmla="*/ 1875366 h 4530025"/>
                <a:gd name="connsiteX5" fmla="*/ 267763 w 3402546"/>
                <a:gd name="connsiteY5" fmla="*/ 2656416 h 4530025"/>
                <a:gd name="connsiteX6" fmla="*/ 22229 w 3402546"/>
                <a:gd name="connsiteY6" fmla="*/ 3083983 h 4530025"/>
                <a:gd name="connsiteX7" fmla="*/ 172513 w 3402546"/>
                <a:gd name="connsiteY7" fmla="*/ 3151716 h 4530025"/>
                <a:gd name="connsiteX8" fmla="*/ 297396 w 3402546"/>
                <a:gd name="connsiteY8" fmla="*/ 3960284 h 4530025"/>
                <a:gd name="connsiteX9" fmla="*/ 53979 w 3402546"/>
                <a:gd name="connsiteY9" fmla="*/ 4366684 h 4530025"/>
                <a:gd name="connsiteX10" fmla="*/ 371480 w 3402546"/>
                <a:gd name="connsiteY10" fmla="*/ 4493683 h 4530025"/>
                <a:gd name="connsiteX11" fmla="*/ 1194863 w 3402546"/>
                <a:gd name="connsiteY11" fmla="*/ 3240616 h 4530025"/>
                <a:gd name="connsiteX12" fmla="*/ 2864913 w 3402546"/>
                <a:gd name="connsiteY12" fmla="*/ 3198283 h 4530025"/>
                <a:gd name="connsiteX13" fmla="*/ 3402546 w 3402546"/>
                <a:gd name="connsiteY13" fmla="*/ 819150 h 4530025"/>
                <a:gd name="connsiteX14" fmla="*/ 3163363 w 3402546"/>
                <a:gd name="connsiteY14" fmla="*/ 0 h 4530025"/>
                <a:gd name="connsiteX15" fmla="*/ 835029 w 3402546"/>
                <a:gd name="connsiteY15" fmla="*/ 154516 h 4530025"/>
                <a:gd name="connsiteX16" fmla="*/ 149229 w 3402546"/>
                <a:gd name="connsiteY16" fmla="*/ 594783 h 4530025"/>
                <a:gd name="connsiteX0" fmla="*/ 149229 w 3402546"/>
                <a:gd name="connsiteY0" fmla="*/ 594783 h 4526151"/>
                <a:gd name="connsiteX1" fmla="*/ 236013 w 3402546"/>
                <a:gd name="connsiteY1" fmla="*/ 732366 h 4526151"/>
                <a:gd name="connsiteX2" fmla="*/ 352429 w 3402546"/>
                <a:gd name="connsiteY2" fmla="*/ 1411816 h 4526151"/>
                <a:gd name="connsiteX3" fmla="*/ 138646 w 3402546"/>
                <a:gd name="connsiteY3" fmla="*/ 1693333 h 4526151"/>
                <a:gd name="connsiteX4" fmla="*/ 246596 w 3402546"/>
                <a:gd name="connsiteY4" fmla="*/ 1875366 h 4526151"/>
                <a:gd name="connsiteX5" fmla="*/ 267763 w 3402546"/>
                <a:gd name="connsiteY5" fmla="*/ 2656416 h 4526151"/>
                <a:gd name="connsiteX6" fmla="*/ 22229 w 3402546"/>
                <a:gd name="connsiteY6" fmla="*/ 3083983 h 4526151"/>
                <a:gd name="connsiteX7" fmla="*/ 172513 w 3402546"/>
                <a:gd name="connsiteY7" fmla="*/ 3151716 h 4526151"/>
                <a:gd name="connsiteX8" fmla="*/ 297396 w 3402546"/>
                <a:gd name="connsiteY8" fmla="*/ 3960284 h 4526151"/>
                <a:gd name="connsiteX9" fmla="*/ 53979 w 3402546"/>
                <a:gd name="connsiteY9" fmla="*/ 4366684 h 4526151"/>
                <a:gd name="connsiteX10" fmla="*/ 369363 w 3402546"/>
                <a:gd name="connsiteY10" fmla="*/ 4489449 h 4526151"/>
                <a:gd name="connsiteX11" fmla="*/ 1194863 w 3402546"/>
                <a:gd name="connsiteY11" fmla="*/ 3240616 h 4526151"/>
                <a:gd name="connsiteX12" fmla="*/ 2864913 w 3402546"/>
                <a:gd name="connsiteY12" fmla="*/ 3198283 h 4526151"/>
                <a:gd name="connsiteX13" fmla="*/ 3402546 w 3402546"/>
                <a:gd name="connsiteY13" fmla="*/ 819150 h 4526151"/>
                <a:gd name="connsiteX14" fmla="*/ 3163363 w 3402546"/>
                <a:gd name="connsiteY14" fmla="*/ 0 h 4526151"/>
                <a:gd name="connsiteX15" fmla="*/ 835029 w 3402546"/>
                <a:gd name="connsiteY15" fmla="*/ 154516 h 4526151"/>
                <a:gd name="connsiteX16" fmla="*/ 149229 w 3402546"/>
                <a:gd name="connsiteY16" fmla="*/ 594783 h 4526151"/>
                <a:gd name="connsiteX0" fmla="*/ 149229 w 3402546"/>
                <a:gd name="connsiteY0" fmla="*/ 594783 h 4517605"/>
                <a:gd name="connsiteX1" fmla="*/ 236013 w 3402546"/>
                <a:gd name="connsiteY1" fmla="*/ 732366 h 4517605"/>
                <a:gd name="connsiteX2" fmla="*/ 352429 w 3402546"/>
                <a:gd name="connsiteY2" fmla="*/ 1411816 h 4517605"/>
                <a:gd name="connsiteX3" fmla="*/ 138646 w 3402546"/>
                <a:gd name="connsiteY3" fmla="*/ 1693333 h 4517605"/>
                <a:gd name="connsiteX4" fmla="*/ 246596 w 3402546"/>
                <a:gd name="connsiteY4" fmla="*/ 1875366 h 4517605"/>
                <a:gd name="connsiteX5" fmla="*/ 267763 w 3402546"/>
                <a:gd name="connsiteY5" fmla="*/ 2656416 h 4517605"/>
                <a:gd name="connsiteX6" fmla="*/ 22229 w 3402546"/>
                <a:gd name="connsiteY6" fmla="*/ 3083983 h 4517605"/>
                <a:gd name="connsiteX7" fmla="*/ 172513 w 3402546"/>
                <a:gd name="connsiteY7" fmla="*/ 3151716 h 4517605"/>
                <a:gd name="connsiteX8" fmla="*/ 297396 w 3402546"/>
                <a:gd name="connsiteY8" fmla="*/ 3960284 h 4517605"/>
                <a:gd name="connsiteX9" fmla="*/ 53979 w 3402546"/>
                <a:gd name="connsiteY9" fmla="*/ 4366684 h 4517605"/>
                <a:gd name="connsiteX10" fmla="*/ 369363 w 3402546"/>
                <a:gd name="connsiteY10" fmla="*/ 4489449 h 4517605"/>
                <a:gd name="connsiteX11" fmla="*/ 1194863 w 3402546"/>
                <a:gd name="connsiteY11" fmla="*/ 3240616 h 4517605"/>
                <a:gd name="connsiteX12" fmla="*/ 2864913 w 3402546"/>
                <a:gd name="connsiteY12" fmla="*/ 3198283 h 4517605"/>
                <a:gd name="connsiteX13" fmla="*/ 3402546 w 3402546"/>
                <a:gd name="connsiteY13" fmla="*/ 819150 h 4517605"/>
                <a:gd name="connsiteX14" fmla="*/ 3163363 w 3402546"/>
                <a:gd name="connsiteY14" fmla="*/ 0 h 4517605"/>
                <a:gd name="connsiteX15" fmla="*/ 835029 w 3402546"/>
                <a:gd name="connsiteY15" fmla="*/ 154516 h 4517605"/>
                <a:gd name="connsiteX16" fmla="*/ 149229 w 3402546"/>
                <a:gd name="connsiteY16" fmla="*/ 594783 h 4517605"/>
                <a:gd name="connsiteX0" fmla="*/ 149229 w 3402546"/>
                <a:gd name="connsiteY0" fmla="*/ 594783 h 4372976"/>
                <a:gd name="connsiteX1" fmla="*/ 236013 w 3402546"/>
                <a:gd name="connsiteY1" fmla="*/ 732366 h 4372976"/>
                <a:gd name="connsiteX2" fmla="*/ 352429 w 3402546"/>
                <a:gd name="connsiteY2" fmla="*/ 1411816 h 4372976"/>
                <a:gd name="connsiteX3" fmla="*/ 138646 w 3402546"/>
                <a:gd name="connsiteY3" fmla="*/ 1693333 h 4372976"/>
                <a:gd name="connsiteX4" fmla="*/ 246596 w 3402546"/>
                <a:gd name="connsiteY4" fmla="*/ 1875366 h 4372976"/>
                <a:gd name="connsiteX5" fmla="*/ 267763 w 3402546"/>
                <a:gd name="connsiteY5" fmla="*/ 2656416 h 4372976"/>
                <a:gd name="connsiteX6" fmla="*/ 22229 w 3402546"/>
                <a:gd name="connsiteY6" fmla="*/ 3083983 h 4372976"/>
                <a:gd name="connsiteX7" fmla="*/ 172513 w 3402546"/>
                <a:gd name="connsiteY7" fmla="*/ 3151716 h 4372976"/>
                <a:gd name="connsiteX8" fmla="*/ 297396 w 3402546"/>
                <a:gd name="connsiteY8" fmla="*/ 3960284 h 4372976"/>
                <a:gd name="connsiteX9" fmla="*/ 53979 w 3402546"/>
                <a:gd name="connsiteY9" fmla="*/ 4366684 h 4372976"/>
                <a:gd name="connsiteX10" fmla="*/ 1194863 w 3402546"/>
                <a:gd name="connsiteY10" fmla="*/ 3240616 h 4372976"/>
                <a:gd name="connsiteX11" fmla="*/ 2864913 w 3402546"/>
                <a:gd name="connsiteY11" fmla="*/ 3198283 h 4372976"/>
                <a:gd name="connsiteX12" fmla="*/ 3402546 w 3402546"/>
                <a:gd name="connsiteY12" fmla="*/ 819150 h 4372976"/>
                <a:gd name="connsiteX13" fmla="*/ 3163363 w 3402546"/>
                <a:gd name="connsiteY13" fmla="*/ 0 h 4372976"/>
                <a:gd name="connsiteX14" fmla="*/ 835029 w 3402546"/>
                <a:gd name="connsiteY14" fmla="*/ 154516 h 4372976"/>
                <a:gd name="connsiteX15" fmla="*/ 149229 w 3402546"/>
                <a:gd name="connsiteY15" fmla="*/ 594783 h 4372976"/>
                <a:gd name="connsiteX0" fmla="*/ 127000 w 3380317"/>
                <a:gd name="connsiteY0" fmla="*/ 594783 h 3960550"/>
                <a:gd name="connsiteX1" fmla="*/ 213784 w 3380317"/>
                <a:gd name="connsiteY1" fmla="*/ 732366 h 3960550"/>
                <a:gd name="connsiteX2" fmla="*/ 330200 w 3380317"/>
                <a:gd name="connsiteY2" fmla="*/ 1411816 h 3960550"/>
                <a:gd name="connsiteX3" fmla="*/ 116417 w 3380317"/>
                <a:gd name="connsiteY3" fmla="*/ 1693333 h 3960550"/>
                <a:gd name="connsiteX4" fmla="*/ 224367 w 3380317"/>
                <a:gd name="connsiteY4" fmla="*/ 1875366 h 3960550"/>
                <a:gd name="connsiteX5" fmla="*/ 245534 w 3380317"/>
                <a:gd name="connsiteY5" fmla="*/ 2656416 h 3960550"/>
                <a:gd name="connsiteX6" fmla="*/ 0 w 3380317"/>
                <a:gd name="connsiteY6" fmla="*/ 3083983 h 3960550"/>
                <a:gd name="connsiteX7" fmla="*/ 150284 w 3380317"/>
                <a:gd name="connsiteY7" fmla="*/ 3151716 h 3960550"/>
                <a:gd name="connsiteX8" fmla="*/ 275167 w 3380317"/>
                <a:gd name="connsiteY8" fmla="*/ 3960284 h 3960550"/>
                <a:gd name="connsiteX9" fmla="*/ 1172634 w 3380317"/>
                <a:gd name="connsiteY9" fmla="*/ 3240616 h 3960550"/>
                <a:gd name="connsiteX10" fmla="*/ 2842684 w 3380317"/>
                <a:gd name="connsiteY10" fmla="*/ 3198283 h 3960550"/>
                <a:gd name="connsiteX11" fmla="*/ 3380317 w 3380317"/>
                <a:gd name="connsiteY11" fmla="*/ 819150 h 3960550"/>
                <a:gd name="connsiteX12" fmla="*/ 3141134 w 3380317"/>
                <a:gd name="connsiteY12" fmla="*/ 0 h 3960550"/>
                <a:gd name="connsiteX13" fmla="*/ 812800 w 3380317"/>
                <a:gd name="connsiteY13" fmla="*/ 154516 h 3960550"/>
                <a:gd name="connsiteX14" fmla="*/ 127000 w 3380317"/>
                <a:gd name="connsiteY14" fmla="*/ 594783 h 3960550"/>
                <a:gd name="connsiteX0" fmla="*/ 127000 w 3380317"/>
                <a:gd name="connsiteY0" fmla="*/ 594783 h 3892850"/>
                <a:gd name="connsiteX1" fmla="*/ 213784 w 3380317"/>
                <a:gd name="connsiteY1" fmla="*/ 732366 h 3892850"/>
                <a:gd name="connsiteX2" fmla="*/ 330200 w 3380317"/>
                <a:gd name="connsiteY2" fmla="*/ 1411816 h 3892850"/>
                <a:gd name="connsiteX3" fmla="*/ 116417 w 3380317"/>
                <a:gd name="connsiteY3" fmla="*/ 1693333 h 3892850"/>
                <a:gd name="connsiteX4" fmla="*/ 224367 w 3380317"/>
                <a:gd name="connsiteY4" fmla="*/ 1875366 h 3892850"/>
                <a:gd name="connsiteX5" fmla="*/ 245534 w 3380317"/>
                <a:gd name="connsiteY5" fmla="*/ 2656416 h 3892850"/>
                <a:gd name="connsiteX6" fmla="*/ 0 w 3380317"/>
                <a:gd name="connsiteY6" fmla="*/ 3083983 h 3892850"/>
                <a:gd name="connsiteX7" fmla="*/ 150284 w 3380317"/>
                <a:gd name="connsiteY7" fmla="*/ 3151716 h 3892850"/>
                <a:gd name="connsiteX8" fmla="*/ 402167 w 3380317"/>
                <a:gd name="connsiteY8" fmla="*/ 3892551 h 3892850"/>
                <a:gd name="connsiteX9" fmla="*/ 1172634 w 3380317"/>
                <a:gd name="connsiteY9" fmla="*/ 3240616 h 3892850"/>
                <a:gd name="connsiteX10" fmla="*/ 2842684 w 3380317"/>
                <a:gd name="connsiteY10" fmla="*/ 3198283 h 3892850"/>
                <a:gd name="connsiteX11" fmla="*/ 3380317 w 3380317"/>
                <a:gd name="connsiteY11" fmla="*/ 819150 h 3892850"/>
                <a:gd name="connsiteX12" fmla="*/ 3141134 w 3380317"/>
                <a:gd name="connsiteY12" fmla="*/ 0 h 3892850"/>
                <a:gd name="connsiteX13" fmla="*/ 812800 w 3380317"/>
                <a:gd name="connsiteY13" fmla="*/ 154516 h 3892850"/>
                <a:gd name="connsiteX14" fmla="*/ 127000 w 3380317"/>
                <a:gd name="connsiteY14" fmla="*/ 594783 h 3892850"/>
                <a:gd name="connsiteX0" fmla="*/ 127000 w 3380317"/>
                <a:gd name="connsiteY0" fmla="*/ 594783 h 3893410"/>
                <a:gd name="connsiteX1" fmla="*/ 213784 w 3380317"/>
                <a:gd name="connsiteY1" fmla="*/ 732366 h 3893410"/>
                <a:gd name="connsiteX2" fmla="*/ 330200 w 3380317"/>
                <a:gd name="connsiteY2" fmla="*/ 1411816 h 3893410"/>
                <a:gd name="connsiteX3" fmla="*/ 116417 w 3380317"/>
                <a:gd name="connsiteY3" fmla="*/ 1693333 h 3893410"/>
                <a:gd name="connsiteX4" fmla="*/ 224367 w 3380317"/>
                <a:gd name="connsiteY4" fmla="*/ 1875366 h 3893410"/>
                <a:gd name="connsiteX5" fmla="*/ 245534 w 3380317"/>
                <a:gd name="connsiteY5" fmla="*/ 2656416 h 3893410"/>
                <a:gd name="connsiteX6" fmla="*/ 0 w 3380317"/>
                <a:gd name="connsiteY6" fmla="*/ 3083983 h 3893410"/>
                <a:gd name="connsiteX7" fmla="*/ 150284 w 3380317"/>
                <a:gd name="connsiteY7" fmla="*/ 3151716 h 3893410"/>
                <a:gd name="connsiteX8" fmla="*/ 402167 w 3380317"/>
                <a:gd name="connsiteY8" fmla="*/ 3892551 h 3893410"/>
                <a:gd name="connsiteX9" fmla="*/ 1322918 w 3380317"/>
                <a:gd name="connsiteY9" fmla="*/ 3600449 h 3893410"/>
                <a:gd name="connsiteX10" fmla="*/ 2842684 w 3380317"/>
                <a:gd name="connsiteY10" fmla="*/ 3198283 h 3893410"/>
                <a:gd name="connsiteX11" fmla="*/ 3380317 w 3380317"/>
                <a:gd name="connsiteY11" fmla="*/ 819150 h 3893410"/>
                <a:gd name="connsiteX12" fmla="*/ 3141134 w 3380317"/>
                <a:gd name="connsiteY12" fmla="*/ 0 h 3893410"/>
                <a:gd name="connsiteX13" fmla="*/ 812800 w 3380317"/>
                <a:gd name="connsiteY13" fmla="*/ 154516 h 3893410"/>
                <a:gd name="connsiteX14" fmla="*/ 127000 w 3380317"/>
                <a:gd name="connsiteY14" fmla="*/ 594783 h 3893410"/>
                <a:gd name="connsiteX0" fmla="*/ 135466 w 3380317"/>
                <a:gd name="connsiteY0" fmla="*/ 592666 h 3893410"/>
                <a:gd name="connsiteX1" fmla="*/ 213784 w 3380317"/>
                <a:gd name="connsiteY1" fmla="*/ 732366 h 3893410"/>
                <a:gd name="connsiteX2" fmla="*/ 330200 w 3380317"/>
                <a:gd name="connsiteY2" fmla="*/ 1411816 h 3893410"/>
                <a:gd name="connsiteX3" fmla="*/ 116417 w 3380317"/>
                <a:gd name="connsiteY3" fmla="*/ 1693333 h 3893410"/>
                <a:gd name="connsiteX4" fmla="*/ 224367 w 3380317"/>
                <a:gd name="connsiteY4" fmla="*/ 1875366 h 3893410"/>
                <a:gd name="connsiteX5" fmla="*/ 245534 w 3380317"/>
                <a:gd name="connsiteY5" fmla="*/ 2656416 h 3893410"/>
                <a:gd name="connsiteX6" fmla="*/ 0 w 3380317"/>
                <a:gd name="connsiteY6" fmla="*/ 3083983 h 3893410"/>
                <a:gd name="connsiteX7" fmla="*/ 150284 w 3380317"/>
                <a:gd name="connsiteY7" fmla="*/ 3151716 h 3893410"/>
                <a:gd name="connsiteX8" fmla="*/ 402167 w 3380317"/>
                <a:gd name="connsiteY8" fmla="*/ 3892551 h 3893410"/>
                <a:gd name="connsiteX9" fmla="*/ 1322918 w 3380317"/>
                <a:gd name="connsiteY9" fmla="*/ 3600449 h 3893410"/>
                <a:gd name="connsiteX10" fmla="*/ 2842684 w 3380317"/>
                <a:gd name="connsiteY10" fmla="*/ 3198283 h 3893410"/>
                <a:gd name="connsiteX11" fmla="*/ 3380317 w 3380317"/>
                <a:gd name="connsiteY11" fmla="*/ 819150 h 3893410"/>
                <a:gd name="connsiteX12" fmla="*/ 3141134 w 3380317"/>
                <a:gd name="connsiteY12" fmla="*/ 0 h 3893410"/>
                <a:gd name="connsiteX13" fmla="*/ 812800 w 3380317"/>
                <a:gd name="connsiteY13" fmla="*/ 154516 h 3893410"/>
                <a:gd name="connsiteX14" fmla="*/ 135466 w 3380317"/>
                <a:gd name="connsiteY14" fmla="*/ 592666 h 3893410"/>
                <a:gd name="connsiteX0" fmla="*/ 135466 w 3380317"/>
                <a:gd name="connsiteY0" fmla="*/ 592666 h 3893410"/>
                <a:gd name="connsiteX1" fmla="*/ 220134 w 3380317"/>
                <a:gd name="connsiteY1" fmla="*/ 721783 h 3893410"/>
                <a:gd name="connsiteX2" fmla="*/ 330200 w 3380317"/>
                <a:gd name="connsiteY2" fmla="*/ 1411816 h 3893410"/>
                <a:gd name="connsiteX3" fmla="*/ 116417 w 3380317"/>
                <a:gd name="connsiteY3" fmla="*/ 1693333 h 3893410"/>
                <a:gd name="connsiteX4" fmla="*/ 224367 w 3380317"/>
                <a:gd name="connsiteY4" fmla="*/ 1875366 h 3893410"/>
                <a:gd name="connsiteX5" fmla="*/ 245534 w 3380317"/>
                <a:gd name="connsiteY5" fmla="*/ 2656416 h 3893410"/>
                <a:gd name="connsiteX6" fmla="*/ 0 w 3380317"/>
                <a:gd name="connsiteY6" fmla="*/ 3083983 h 3893410"/>
                <a:gd name="connsiteX7" fmla="*/ 150284 w 3380317"/>
                <a:gd name="connsiteY7" fmla="*/ 3151716 h 3893410"/>
                <a:gd name="connsiteX8" fmla="*/ 402167 w 3380317"/>
                <a:gd name="connsiteY8" fmla="*/ 3892551 h 3893410"/>
                <a:gd name="connsiteX9" fmla="*/ 1322918 w 3380317"/>
                <a:gd name="connsiteY9" fmla="*/ 3600449 h 3893410"/>
                <a:gd name="connsiteX10" fmla="*/ 2842684 w 3380317"/>
                <a:gd name="connsiteY10" fmla="*/ 3198283 h 3893410"/>
                <a:gd name="connsiteX11" fmla="*/ 3380317 w 3380317"/>
                <a:gd name="connsiteY11" fmla="*/ 819150 h 3893410"/>
                <a:gd name="connsiteX12" fmla="*/ 3141134 w 3380317"/>
                <a:gd name="connsiteY12" fmla="*/ 0 h 3893410"/>
                <a:gd name="connsiteX13" fmla="*/ 812800 w 3380317"/>
                <a:gd name="connsiteY13" fmla="*/ 154516 h 3893410"/>
                <a:gd name="connsiteX14" fmla="*/ 135466 w 3380317"/>
                <a:gd name="connsiteY14" fmla="*/ 592666 h 3893410"/>
                <a:gd name="connsiteX0" fmla="*/ 124883 w 3380317"/>
                <a:gd name="connsiteY0" fmla="*/ 592666 h 3893410"/>
                <a:gd name="connsiteX1" fmla="*/ 220134 w 3380317"/>
                <a:gd name="connsiteY1" fmla="*/ 721783 h 3893410"/>
                <a:gd name="connsiteX2" fmla="*/ 330200 w 3380317"/>
                <a:gd name="connsiteY2" fmla="*/ 1411816 h 3893410"/>
                <a:gd name="connsiteX3" fmla="*/ 116417 w 3380317"/>
                <a:gd name="connsiteY3" fmla="*/ 1693333 h 3893410"/>
                <a:gd name="connsiteX4" fmla="*/ 224367 w 3380317"/>
                <a:gd name="connsiteY4" fmla="*/ 1875366 h 3893410"/>
                <a:gd name="connsiteX5" fmla="*/ 245534 w 3380317"/>
                <a:gd name="connsiteY5" fmla="*/ 2656416 h 3893410"/>
                <a:gd name="connsiteX6" fmla="*/ 0 w 3380317"/>
                <a:gd name="connsiteY6" fmla="*/ 3083983 h 3893410"/>
                <a:gd name="connsiteX7" fmla="*/ 150284 w 3380317"/>
                <a:gd name="connsiteY7" fmla="*/ 3151716 h 3893410"/>
                <a:gd name="connsiteX8" fmla="*/ 402167 w 3380317"/>
                <a:gd name="connsiteY8" fmla="*/ 3892551 h 3893410"/>
                <a:gd name="connsiteX9" fmla="*/ 1322918 w 3380317"/>
                <a:gd name="connsiteY9" fmla="*/ 3600449 h 3893410"/>
                <a:gd name="connsiteX10" fmla="*/ 2842684 w 3380317"/>
                <a:gd name="connsiteY10" fmla="*/ 3198283 h 3893410"/>
                <a:gd name="connsiteX11" fmla="*/ 3380317 w 3380317"/>
                <a:gd name="connsiteY11" fmla="*/ 819150 h 3893410"/>
                <a:gd name="connsiteX12" fmla="*/ 3141134 w 3380317"/>
                <a:gd name="connsiteY12" fmla="*/ 0 h 3893410"/>
                <a:gd name="connsiteX13" fmla="*/ 812800 w 3380317"/>
                <a:gd name="connsiteY13" fmla="*/ 154516 h 3893410"/>
                <a:gd name="connsiteX14" fmla="*/ 124883 w 3380317"/>
                <a:gd name="connsiteY14" fmla="*/ 592666 h 3893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380317" h="3893410">
                  <a:moveTo>
                    <a:pt x="124883" y="592666"/>
                  </a:moveTo>
                  <a:lnTo>
                    <a:pt x="220134" y="721783"/>
                  </a:lnTo>
                  <a:lnTo>
                    <a:pt x="330200" y="1411816"/>
                  </a:lnTo>
                  <a:lnTo>
                    <a:pt x="116417" y="1693333"/>
                  </a:lnTo>
                  <a:lnTo>
                    <a:pt x="224367" y="1875366"/>
                  </a:lnTo>
                  <a:lnTo>
                    <a:pt x="245534" y="2656416"/>
                  </a:lnTo>
                  <a:lnTo>
                    <a:pt x="0" y="3083983"/>
                  </a:lnTo>
                  <a:lnTo>
                    <a:pt x="150284" y="3151716"/>
                  </a:lnTo>
                  <a:lnTo>
                    <a:pt x="402167" y="3892551"/>
                  </a:lnTo>
                  <a:cubicBezTo>
                    <a:pt x="572559" y="3907368"/>
                    <a:pt x="894999" y="3727449"/>
                    <a:pt x="1322918" y="3600449"/>
                  </a:cubicBezTo>
                  <a:lnTo>
                    <a:pt x="2842684" y="3198283"/>
                  </a:lnTo>
                  <a:lnTo>
                    <a:pt x="3380317" y="819150"/>
                  </a:lnTo>
                  <a:lnTo>
                    <a:pt x="3141134" y="0"/>
                  </a:lnTo>
                  <a:lnTo>
                    <a:pt x="812800" y="154516"/>
                  </a:lnTo>
                  <a:lnTo>
                    <a:pt x="124883" y="59266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603E96D-DEFA-0903-BC9D-6E218D5FD39E}"/>
                </a:ext>
              </a:extLst>
            </p:cNvPr>
            <p:cNvSpPr/>
            <p:nvPr/>
          </p:nvSpPr>
          <p:spPr>
            <a:xfrm>
              <a:off x="8204200" y="3515782"/>
              <a:ext cx="3289300" cy="1784350"/>
            </a:xfrm>
            <a:custGeom>
              <a:avLst/>
              <a:gdLst>
                <a:gd name="connsiteX0" fmla="*/ 91017 w 3289300"/>
                <a:gd name="connsiteY0" fmla="*/ 679450 h 1784350"/>
                <a:gd name="connsiteX1" fmla="*/ 0 w 3289300"/>
                <a:gd name="connsiteY1" fmla="*/ 1100667 h 1784350"/>
                <a:gd name="connsiteX2" fmla="*/ 165100 w 3289300"/>
                <a:gd name="connsiteY2" fmla="*/ 1162050 h 1784350"/>
                <a:gd name="connsiteX3" fmla="*/ 531284 w 3289300"/>
                <a:gd name="connsiteY3" fmla="*/ 1784350 h 1784350"/>
                <a:gd name="connsiteX4" fmla="*/ 2901950 w 3289300"/>
                <a:gd name="connsiteY4" fmla="*/ 1543050 h 1784350"/>
                <a:gd name="connsiteX5" fmla="*/ 3289300 w 3289300"/>
                <a:gd name="connsiteY5" fmla="*/ 186267 h 1784350"/>
                <a:gd name="connsiteX6" fmla="*/ 3083984 w 3289300"/>
                <a:gd name="connsiteY6" fmla="*/ 0 h 1784350"/>
                <a:gd name="connsiteX7" fmla="*/ 91017 w 3289300"/>
                <a:gd name="connsiteY7" fmla="*/ 679450 h 178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89300" h="1784350">
                  <a:moveTo>
                    <a:pt x="91017" y="679450"/>
                  </a:moveTo>
                  <a:lnTo>
                    <a:pt x="0" y="1100667"/>
                  </a:lnTo>
                  <a:lnTo>
                    <a:pt x="165100" y="1162050"/>
                  </a:lnTo>
                  <a:lnTo>
                    <a:pt x="531284" y="1784350"/>
                  </a:lnTo>
                  <a:lnTo>
                    <a:pt x="2901950" y="1543050"/>
                  </a:lnTo>
                  <a:lnTo>
                    <a:pt x="3289300" y="186267"/>
                  </a:lnTo>
                  <a:lnTo>
                    <a:pt x="3083984" y="0"/>
                  </a:lnTo>
                  <a:lnTo>
                    <a:pt x="91017" y="67945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75772182-28DC-6641-ED25-378EF85AD6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910" r="317"/>
          <a:stretch/>
        </p:blipFill>
        <p:spPr>
          <a:xfrm>
            <a:off x="37088" y="1445630"/>
            <a:ext cx="2498440" cy="5637195"/>
          </a:xfrm>
          <a:prstGeom prst="rect">
            <a:avLst/>
          </a:prstGeom>
        </p:spPr>
      </p:pic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645CB3A1-77AC-A0AB-98DD-A6ED878E60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6222" y="0"/>
          <a:ext cx="1701800" cy="511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1701360" imgH="5117400" progId="Photoshop.Image.13">
                  <p:embed/>
                </p:oleObj>
              </mc:Choice>
              <mc:Fallback>
                <p:oleObj name="Image" r:id="rId4" imgW="1701360" imgH="5117400" progId="Photoshop.Image.13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645CB3A1-77AC-A0AB-98DD-A6ED878E60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56222" y="0"/>
                        <a:ext cx="1701800" cy="5118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3390486C-C395-2487-A2D9-5AC4E8A462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67647" y="1498766"/>
          <a:ext cx="444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6" imgW="444240" imgH="431640" progId="Photoshop.Image.13">
                  <p:embed/>
                </p:oleObj>
              </mc:Choice>
              <mc:Fallback>
                <p:oleObj name="Image" r:id="rId6" imgW="444240" imgH="431640" progId="Photoshop.Image.13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3390486C-C395-2487-A2D9-5AC4E8A462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467647" y="1498766"/>
                        <a:ext cx="4445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4363F4F2-9707-CDE2-E08F-50082CBD32D8}"/>
              </a:ext>
            </a:extLst>
          </p:cNvPr>
          <p:cNvSpPr/>
          <p:nvPr/>
        </p:nvSpPr>
        <p:spPr>
          <a:xfrm rot="20431081">
            <a:off x="4655777" y="1890213"/>
            <a:ext cx="277888" cy="21836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C843E3A-46D2-5C1A-EB5B-20980DA07A2C}"/>
              </a:ext>
            </a:extLst>
          </p:cNvPr>
          <p:cNvCxnSpPr/>
          <p:nvPr/>
        </p:nvCxnSpPr>
        <p:spPr>
          <a:xfrm flipV="1">
            <a:off x="2008682" y="2432921"/>
            <a:ext cx="796668" cy="70436"/>
          </a:xfrm>
          <a:prstGeom prst="straightConnector1">
            <a:avLst/>
          </a:prstGeom>
          <a:ln w="38100">
            <a:tailEnd type="arrow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1364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4"/>
          <p:cNvPicPr>
            <a:picLocks noChangeAspect="1"/>
          </p:cNvPicPr>
          <p:nvPr/>
        </p:nvPicPr>
        <p:blipFill rotWithShape="1">
          <a:blip r:embed="rId2"/>
          <a:srcRect l="79910" r="317"/>
          <a:stretch/>
        </p:blipFill>
        <p:spPr>
          <a:xfrm>
            <a:off x="37088" y="1445630"/>
            <a:ext cx="2498440" cy="5637195"/>
          </a:xfrm>
          <a:prstGeom prst="rect">
            <a:avLst/>
          </a:prstGeom>
        </p:spPr>
      </p:pic>
      <p:cxnSp>
        <p:nvCxnSpPr>
          <p:cNvPr id="4" name="Straight Arrow Connector 3"/>
          <p:cNvCxnSpPr/>
          <p:nvPr/>
        </p:nvCxnSpPr>
        <p:spPr>
          <a:xfrm flipV="1">
            <a:off x="2008682" y="2432921"/>
            <a:ext cx="796668" cy="70436"/>
          </a:xfrm>
          <a:prstGeom prst="straightConnector1">
            <a:avLst/>
          </a:prstGeom>
          <a:ln w="38100">
            <a:tailEnd type="arrow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8559384" y="464697"/>
            <a:ext cx="3372786" cy="40773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3656222" y="0"/>
          <a:ext cx="1701800" cy="511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1701360" imgH="5117400" progId="Photoshop.Image.13">
                  <p:embed/>
                </p:oleObj>
              </mc:Choice>
              <mc:Fallback>
                <p:oleObj name="Image" r:id="rId3" imgW="1701360" imgH="5117400" progId="Photoshop.Image.13">
                  <p:embed/>
                  <p:pic>
                    <p:nvPicPr>
                      <p:cNvPr id="11" name="Object 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56222" y="0"/>
                        <a:ext cx="1701800" cy="5118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4467647" y="1498766"/>
          <a:ext cx="444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444240" imgH="431640" progId="Photoshop.Image.13">
                  <p:embed/>
                </p:oleObj>
              </mc:Choice>
              <mc:Fallback>
                <p:oleObj name="Image" r:id="rId5" imgW="444240" imgH="431640" progId="Photoshop.Image.13">
                  <p:embed/>
                  <p:pic>
                    <p:nvPicPr>
                      <p:cNvPr id="13" name="Object 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67647" y="1498766"/>
                        <a:ext cx="4445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/>
          <p:cNvSpPr/>
          <p:nvPr/>
        </p:nvSpPr>
        <p:spPr>
          <a:xfrm rot="20431081">
            <a:off x="4655777" y="1890213"/>
            <a:ext cx="277888" cy="21836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Freeform 14"/>
          <p:cNvSpPr/>
          <p:nvPr/>
        </p:nvSpPr>
        <p:spPr>
          <a:xfrm>
            <a:off x="4933666" y="1685419"/>
            <a:ext cx="511791" cy="122947"/>
          </a:xfrm>
          <a:custGeom>
            <a:avLst/>
            <a:gdLst>
              <a:gd name="connsiteX0" fmla="*/ 0 w 511791"/>
              <a:gd name="connsiteY0" fmla="*/ 88792 h 122947"/>
              <a:gd name="connsiteX1" fmla="*/ 61415 w 511791"/>
              <a:gd name="connsiteY1" fmla="*/ 13729 h 122947"/>
              <a:gd name="connsiteX2" fmla="*/ 129653 w 511791"/>
              <a:gd name="connsiteY2" fmla="*/ 122911 h 122947"/>
              <a:gd name="connsiteX3" fmla="*/ 232012 w 511791"/>
              <a:gd name="connsiteY3" fmla="*/ 81 h 122947"/>
              <a:gd name="connsiteX4" fmla="*/ 307074 w 511791"/>
              <a:gd name="connsiteY4" fmla="*/ 102440 h 122947"/>
              <a:gd name="connsiteX5" fmla="*/ 375313 w 511791"/>
              <a:gd name="connsiteY5" fmla="*/ 6905 h 122947"/>
              <a:gd name="connsiteX6" fmla="*/ 423080 w 511791"/>
              <a:gd name="connsiteY6" fmla="*/ 47849 h 122947"/>
              <a:gd name="connsiteX7" fmla="*/ 511791 w 511791"/>
              <a:gd name="connsiteY7" fmla="*/ 54672 h 12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1791" h="122947">
                <a:moveTo>
                  <a:pt x="0" y="88792"/>
                </a:moveTo>
                <a:cubicBezTo>
                  <a:pt x="19903" y="48417"/>
                  <a:pt x="39806" y="8043"/>
                  <a:pt x="61415" y="13729"/>
                </a:cubicBezTo>
                <a:cubicBezTo>
                  <a:pt x="83024" y="19415"/>
                  <a:pt x="101220" y="125186"/>
                  <a:pt x="129653" y="122911"/>
                </a:cubicBezTo>
                <a:cubicBezTo>
                  <a:pt x="158086" y="120636"/>
                  <a:pt x="202442" y="3493"/>
                  <a:pt x="232012" y="81"/>
                </a:cubicBezTo>
                <a:cubicBezTo>
                  <a:pt x="261582" y="-3331"/>
                  <a:pt x="283191" y="101303"/>
                  <a:pt x="307074" y="102440"/>
                </a:cubicBezTo>
                <a:cubicBezTo>
                  <a:pt x="330957" y="103577"/>
                  <a:pt x="355979" y="16003"/>
                  <a:pt x="375313" y="6905"/>
                </a:cubicBezTo>
                <a:cubicBezTo>
                  <a:pt x="394647" y="-2193"/>
                  <a:pt x="400334" y="39888"/>
                  <a:pt x="423080" y="47849"/>
                </a:cubicBezTo>
                <a:cubicBezTo>
                  <a:pt x="445826" y="55810"/>
                  <a:pt x="478808" y="55241"/>
                  <a:pt x="511791" y="5467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Isosceles Triangle 15"/>
          <p:cNvSpPr/>
          <p:nvPr/>
        </p:nvSpPr>
        <p:spPr>
          <a:xfrm rot="5400000">
            <a:off x="5461369" y="1650644"/>
            <a:ext cx="53135" cy="172302"/>
          </a:xfrm>
          <a:prstGeom prst="triangl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8447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4"/>
          <p:cNvPicPr>
            <a:picLocks noChangeAspect="1"/>
          </p:cNvPicPr>
          <p:nvPr/>
        </p:nvPicPr>
        <p:blipFill rotWithShape="1">
          <a:blip r:embed="rId2"/>
          <a:srcRect l="79910" r="317"/>
          <a:stretch/>
        </p:blipFill>
        <p:spPr>
          <a:xfrm>
            <a:off x="37088" y="1445630"/>
            <a:ext cx="2498440" cy="5637195"/>
          </a:xfrm>
          <a:prstGeom prst="rect">
            <a:avLst/>
          </a:prstGeom>
        </p:spPr>
      </p:pic>
      <p:cxnSp>
        <p:nvCxnSpPr>
          <p:cNvPr id="4" name="Straight Arrow Connector 3"/>
          <p:cNvCxnSpPr/>
          <p:nvPr/>
        </p:nvCxnSpPr>
        <p:spPr>
          <a:xfrm flipV="1">
            <a:off x="2008682" y="2432921"/>
            <a:ext cx="796668" cy="70436"/>
          </a:xfrm>
          <a:prstGeom prst="straightConnector1">
            <a:avLst/>
          </a:prstGeom>
          <a:ln w="38100">
            <a:tailEnd type="arrow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8559384" y="464697"/>
            <a:ext cx="3372786" cy="40773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3656222" y="0"/>
          <a:ext cx="1701800" cy="511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1701360" imgH="5117400" progId="Photoshop.Image.13">
                  <p:embed/>
                </p:oleObj>
              </mc:Choice>
              <mc:Fallback>
                <p:oleObj name="Image" r:id="rId3" imgW="1701360" imgH="5117400" progId="Photoshop.Image.13">
                  <p:embed/>
                  <p:pic>
                    <p:nvPicPr>
                      <p:cNvPr id="11" name="Object 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56222" y="0"/>
                        <a:ext cx="1701800" cy="5118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4467647" y="1498766"/>
          <a:ext cx="444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444240" imgH="431640" progId="Photoshop.Image.13">
                  <p:embed/>
                </p:oleObj>
              </mc:Choice>
              <mc:Fallback>
                <p:oleObj name="Image" r:id="rId5" imgW="444240" imgH="431640" progId="Photoshop.Image.13">
                  <p:embed/>
                  <p:pic>
                    <p:nvPicPr>
                      <p:cNvPr id="13" name="Object 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67647" y="1498766"/>
                        <a:ext cx="4445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/>
          <p:cNvSpPr/>
          <p:nvPr/>
        </p:nvSpPr>
        <p:spPr>
          <a:xfrm rot="20431081">
            <a:off x="4655777" y="1890213"/>
            <a:ext cx="277888" cy="21836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Freeform 14"/>
          <p:cNvSpPr/>
          <p:nvPr/>
        </p:nvSpPr>
        <p:spPr>
          <a:xfrm>
            <a:off x="4933666" y="1685419"/>
            <a:ext cx="511791" cy="122947"/>
          </a:xfrm>
          <a:custGeom>
            <a:avLst/>
            <a:gdLst>
              <a:gd name="connsiteX0" fmla="*/ 0 w 511791"/>
              <a:gd name="connsiteY0" fmla="*/ 88792 h 122947"/>
              <a:gd name="connsiteX1" fmla="*/ 61415 w 511791"/>
              <a:gd name="connsiteY1" fmla="*/ 13729 h 122947"/>
              <a:gd name="connsiteX2" fmla="*/ 129653 w 511791"/>
              <a:gd name="connsiteY2" fmla="*/ 122911 h 122947"/>
              <a:gd name="connsiteX3" fmla="*/ 232012 w 511791"/>
              <a:gd name="connsiteY3" fmla="*/ 81 h 122947"/>
              <a:gd name="connsiteX4" fmla="*/ 307074 w 511791"/>
              <a:gd name="connsiteY4" fmla="*/ 102440 h 122947"/>
              <a:gd name="connsiteX5" fmla="*/ 375313 w 511791"/>
              <a:gd name="connsiteY5" fmla="*/ 6905 h 122947"/>
              <a:gd name="connsiteX6" fmla="*/ 423080 w 511791"/>
              <a:gd name="connsiteY6" fmla="*/ 47849 h 122947"/>
              <a:gd name="connsiteX7" fmla="*/ 511791 w 511791"/>
              <a:gd name="connsiteY7" fmla="*/ 54672 h 12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1791" h="122947">
                <a:moveTo>
                  <a:pt x="0" y="88792"/>
                </a:moveTo>
                <a:cubicBezTo>
                  <a:pt x="19903" y="48417"/>
                  <a:pt x="39806" y="8043"/>
                  <a:pt x="61415" y="13729"/>
                </a:cubicBezTo>
                <a:cubicBezTo>
                  <a:pt x="83024" y="19415"/>
                  <a:pt x="101220" y="125186"/>
                  <a:pt x="129653" y="122911"/>
                </a:cubicBezTo>
                <a:cubicBezTo>
                  <a:pt x="158086" y="120636"/>
                  <a:pt x="202442" y="3493"/>
                  <a:pt x="232012" y="81"/>
                </a:cubicBezTo>
                <a:cubicBezTo>
                  <a:pt x="261582" y="-3331"/>
                  <a:pt x="283191" y="101303"/>
                  <a:pt x="307074" y="102440"/>
                </a:cubicBezTo>
                <a:cubicBezTo>
                  <a:pt x="330957" y="103577"/>
                  <a:pt x="355979" y="16003"/>
                  <a:pt x="375313" y="6905"/>
                </a:cubicBezTo>
                <a:cubicBezTo>
                  <a:pt x="394647" y="-2193"/>
                  <a:pt x="400334" y="39888"/>
                  <a:pt x="423080" y="47849"/>
                </a:cubicBezTo>
                <a:cubicBezTo>
                  <a:pt x="445826" y="55810"/>
                  <a:pt x="478808" y="55241"/>
                  <a:pt x="511791" y="5467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Isosceles Triangle 15"/>
          <p:cNvSpPr/>
          <p:nvPr/>
        </p:nvSpPr>
        <p:spPr>
          <a:xfrm rot="5400000">
            <a:off x="5461369" y="1650644"/>
            <a:ext cx="53135" cy="172302"/>
          </a:xfrm>
          <a:prstGeom prst="triangl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5" name="Freeform 24"/>
          <p:cNvSpPr/>
          <p:nvPr/>
        </p:nvSpPr>
        <p:spPr>
          <a:xfrm>
            <a:off x="4905389" y="2134149"/>
            <a:ext cx="511791" cy="122947"/>
          </a:xfrm>
          <a:custGeom>
            <a:avLst/>
            <a:gdLst>
              <a:gd name="connsiteX0" fmla="*/ 0 w 511791"/>
              <a:gd name="connsiteY0" fmla="*/ 88792 h 122947"/>
              <a:gd name="connsiteX1" fmla="*/ 61415 w 511791"/>
              <a:gd name="connsiteY1" fmla="*/ 13729 h 122947"/>
              <a:gd name="connsiteX2" fmla="*/ 129653 w 511791"/>
              <a:gd name="connsiteY2" fmla="*/ 122911 h 122947"/>
              <a:gd name="connsiteX3" fmla="*/ 232012 w 511791"/>
              <a:gd name="connsiteY3" fmla="*/ 81 h 122947"/>
              <a:gd name="connsiteX4" fmla="*/ 307074 w 511791"/>
              <a:gd name="connsiteY4" fmla="*/ 102440 h 122947"/>
              <a:gd name="connsiteX5" fmla="*/ 375313 w 511791"/>
              <a:gd name="connsiteY5" fmla="*/ 6905 h 122947"/>
              <a:gd name="connsiteX6" fmla="*/ 423080 w 511791"/>
              <a:gd name="connsiteY6" fmla="*/ 47849 h 122947"/>
              <a:gd name="connsiteX7" fmla="*/ 511791 w 511791"/>
              <a:gd name="connsiteY7" fmla="*/ 54672 h 12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1791" h="122947">
                <a:moveTo>
                  <a:pt x="0" y="88792"/>
                </a:moveTo>
                <a:cubicBezTo>
                  <a:pt x="19903" y="48417"/>
                  <a:pt x="39806" y="8043"/>
                  <a:pt x="61415" y="13729"/>
                </a:cubicBezTo>
                <a:cubicBezTo>
                  <a:pt x="83024" y="19415"/>
                  <a:pt x="101220" y="125186"/>
                  <a:pt x="129653" y="122911"/>
                </a:cubicBezTo>
                <a:cubicBezTo>
                  <a:pt x="158086" y="120636"/>
                  <a:pt x="202442" y="3493"/>
                  <a:pt x="232012" y="81"/>
                </a:cubicBezTo>
                <a:cubicBezTo>
                  <a:pt x="261582" y="-3331"/>
                  <a:pt x="283191" y="101303"/>
                  <a:pt x="307074" y="102440"/>
                </a:cubicBezTo>
                <a:cubicBezTo>
                  <a:pt x="330957" y="103577"/>
                  <a:pt x="355979" y="16003"/>
                  <a:pt x="375313" y="6905"/>
                </a:cubicBezTo>
                <a:cubicBezTo>
                  <a:pt x="394647" y="-2193"/>
                  <a:pt x="400334" y="39888"/>
                  <a:pt x="423080" y="47849"/>
                </a:cubicBezTo>
                <a:cubicBezTo>
                  <a:pt x="445826" y="55810"/>
                  <a:pt x="478808" y="55241"/>
                  <a:pt x="511791" y="54672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6" name="Isosceles Triangle 25"/>
          <p:cNvSpPr/>
          <p:nvPr/>
        </p:nvSpPr>
        <p:spPr>
          <a:xfrm rot="5400000">
            <a:off x="5433092" y="2099374"/>
            <a:ext cx="53135" cy="172302"/>
          </a:xfrm>
          <a:prstGeom prst="triangl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4461297" y="1905844"/>
          <a:ext cx="457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456840" imgH="444240" progId="Photoshop.Image.13">
                  <p:embed/>
                </p:oleObj>
              </mc:Choice>
              <mc:Fallback>
                <p:oleObj name="Image" r:id="rId7" imgW="456840" imgH="444240" progId="Photoshop.Image.13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61297" y="1905844"/>
                        <a:ext cx="4572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Rectangle 30"/>
          <p:cNvSpPr/>
          <p:nvPr/>
        </p:nvSpPr>
        <p:spPr>
          <a:xfrm rot="20431081">
            <a:off x="4664873" y="2308750"/>
            <a:ext cx="277888" cy="21836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5115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25" grpId="0" animBg="1"/>
      <p:bldP spid="26" grpId="0" animBg="1"/>
      <p:bldP spid="3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4"/>
          <p:cNvPicPr>
            <a:picLocks noChangeAspect="1"/>
          </p:cNvPicPr>
          <p:nvPr/>
        </p:nvPicPr>
        <p:blipFill rotWithShape="1">
          <a:blip r:embed="rId2"/>
          <a:srcRect l="79910" r="317"/>
          <a:stretch/>
        </p:blipFill>
        <p:spPr>
          <a:xfrm>
            <a:off x="37088" y="1445630"/>
            <a:ext cx="2498440" cy="5637195"/>
          </a:xfrm>
          <a:prstGeom prst="rect">
            <a:avLst/>
          </a:prstGeom>
        </p:spPr>
      </p:pic>
      <p:cxnSp>
        <p:nvCxnSpPr>
          <p:cNvPr id="4" name="Straight Arrow Connector 3"/>
          <p:cNvCxnSpPr/>
          <p:nvPr/>
        </p:nvCxnSpPr>
        <p:spPr>
          <a:xfrm flipV="1">
            <a:off x="2008682" y="2432921"/>
            <a:ext cx="796668" cy="70436"/>
          </a:xfrm>
          <a:prstGeom prst="straightConnector1">
            <a:avLst/>
          </a:prstGeom>
          <a:ln w="38100">
            <a:tailEnd type="arrow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8559384" y="464697"/>
            <a:ext cx="3372786" cy="40773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3656222" y="0"/>
          <a:ext cx="1701800" cy="511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1701360" imgH="5117400" progId="Photoshop.Image.13">
                  <p:embed/>
                </p:oleObj>
              </mc:Choice>
              <mc:Fallback>
                <p:oleObj name="Image" r:id="rId3" imgW="1701360" imgH="5117400" progId="Photoshop.Image.13">
                  <p:embed/>
                  <p:pic>
                    <p:nvPicPr>
                      <p:cNvPr id="11" name="Object 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56222" y="0"/>
                        <a:ext cx="1701800" cy="5118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4467647" y="1498766"/>
          <a:ext cx="444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444240" imgH="431640" progId="Photoshop.Image.13">
                  <p:embed/>
                </p:oleObj>
              </mc:Choice>
              <mc:Fallback>
                <p:oleObj name="Image" r:id="rId5" imgW="444240" imgH="431640" progId="Photoshop.Image.13">
                  <p:embed/>
                  <p:pic>
                    <p:nvPicPr>
                      <p:cNvPr id="13" name="Object 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67647" y="1498766"/>
                        <a:ext cx="4445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Freeform 24"/>
          <p:cNvSpPr/>
          <p:nvPr/>
        </p:nvSpPr>
        <p:spPr>
          <a:xfrm>
            <a:off x="4905389" y="2134149"/>
            <a:ext cx="511791" cy="122947"/>
          </a:xfrm>
          <a:custGeom>
            <a:avLst/>
            <a:gdLst>
              <a:gd name="connsiteX0" fmla="*/ 0 w 511791"/>
              <a:gd name="connsiteY0" fmla="*/ 88792 h 122947"/>
              <a:gd name="connsiteX1" fmla="*/ 61415 w 511791"/>
              <a:gd name="connsiteY1" fmla="*/ 13729 h 122947"/>
              <a:gd name="connsiteX2" fmla="*/ 129653 w 511791"/>
              <a:gd name="connsiteY2" fmla="*/ 122911 h 122947"/>
              <a:gd name="connsiteX3" fmla="*/ 232012 w 511791"/>
              <a:gd name="connsiteY3" fmla="*/ 81 h 122947"/>
              <a:gd name="connsiteX4" fmla="*/ 307074 w 511791"/>
              <a:gd name="connsiteY4" fmla="*/ 102440 h 122947"/>
              <a:gd name="connsiteX5" fmla="*/ 375313 w 511791"/>
              <a:gd name="connsiteY5" fmla="*/ 6905 h 122947"/>
              <a:gd name="connsiteX6" fmla="*/ 423080 w 511791"/>
              <a:gd name="connsiteY6" fmla="*/ 47849 h 122947"/>
              <a:gd name="connsiteX7" fmla="*/ 511791 w 511791"/>
              <a:gd name="connsiteY7" fmla="*/ 54672 h 12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1791" h="122947">
                <a:moveTo>
                  <a:pt x="0" y="88792"/>
                </a:moveTo>
                <a:cubicBezTo>
                  <a:pt x="19903" y="48417"/>
                  <a:pt x="39806" y="8043"/>
                  <a:pt x="61415" y="13729"/>
                </a:cubicBezTo>
                <a:cubicBezTo>
                  <a:pt x="83024" y="19415"/>
                  <a:pt x="101220" y="125186"/>
                  <a:pt x="129653" y="122911"/>
                </a:cubicBezTo>
                <a:cubicBezTo>
                  <a:pt x="158086" y="120636"/>
                  <a:pt x="202442" y="3493"/>
                  <a:pt x="232012" y="81"/>
                </a:cubicBezTo>
                <a:cubicBezTo>
                  <a:pt x="261582" y="-3331"/>
                  <a:pt x="283191" y="101303"/>
                  <a:pt x="307074" y="102440"/>
                </a:cubicBezTo>
                <a:cubicBezTo>
                  <a:pt x="330957" y="103577"/>
                  <a:pt x="355979" y="16003"/>
                  <a:pt x="375313" y="6905"/>
                </a:cubicBezTo>
                <a:cubicBezTo>
                  <a:pt x="394647" y="-2193"/>
                  <a:pt x="400334" y="39888"/>
                  <a:pt x="423080" y="47849"/>
                </a:cubicBezTo>
                <a:cubicBezTo>
                  <a:pt x="445826" y="55810"/>
                  <a:pt x="478808" y="55241"/>
                  <a:pt x="511791" y="54672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6" name="Isosceles Triangle 25"/>
          <p:cNvSpPr/>
          <p:nvPr/>
        </p:nvSpPr>
        <p:spPr>
          <a:xfrm rot="5400000">
            <a:off x="5433092" y="2099374"/>
            <a:ext cx="53135" cy="172302"/>
          </a:xfrm>
          <a:prstGeom prst="triangl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Freeform 26"/>
          <p:cNvSpPr/>
          <p:nvPr/>
        </p:nvSpPr>
        <p:spPr>
          <a:xfrm>
            <a:off x="4912147" y="2578649"/>
            <a:ext cx="511791" cy="122947"/>
          </a:xfrm>
          <a:custGeom>
            <a:avLst/>
            <a:gdLst>
              <a:gd name="connsiteX0" fmla="*/ 0 w 511791"/>
              <a:gd name="connsiteY0" fmla="*/ 88792 h 122947"/>
              <a:gd name="connsiteX1" fmla="*/ 61415 w 511791"/>
              <a:gd name="connsiteY1" fmla="*/ 13729 h 122947"/>
              <a:gd name="connsiteX2" fmla="*/ 129653 w 511791"/>
              <a:gd name="connsiteY2" fmla="*/ 122911 h 122947"/>
              <a:gd name="connsiteX3" fmla="*/ 232012 w 511791"/>
              <a:gd name="connsiteY3" fmla="*/ 81 h 122947"/>
              <a:gd name="connsiteX4" fmla="*/ 307074 w 511791"/>
              <a:gd name="connsiteY4" fmla="*/ 102440 h 122947"/>
              <a:gd name="connsiteX5" fmla="*/ 375313 w 511791"/>
              <a:gd name="connsiteY5" fmla="*/ 6905 h 122947"/>
              <a:gd name="connsiteX6" fmla="*/ 423080 w 511791"/>
              <a:gd name="connsiteY6" fmla="*/ 47849 h 122947"/>
              <a:gd name="connsiteX7" fmla="*/ 511791 w 511791"/>
              <a:gd name="connsiteY7" fmla="*/ 54672 h 12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1791" h="122947">
                <a:moveTo>
                  <a:pt x="0" y="88792"/>
                </a:moveTo>
                <a:cubicBezTo>
                  <a:pt x="19903" y="48417"/>
                  <a:pt x="39806" y="8043"/>
                  <a:pt x="61415" y="13729"/>
                </a:cubicBezTo>
                <a:cubicBezTo>
                  <a:pt x="83024" y="19415"/>
                  <a:pt x="101220" y="125186"/>
                  <a:pt x="129653" y="122911"/>
                </a:cubicBezTo>
                <a:cubicBezTo>
                  <a:pt x="158086" y="120636"/>
                  <a:pt x="202442" y="3493"/>
                  <a:pt x="232012" y="81"/>
                </a:cubicBezTo>
                <a:cubicBezTo>
                  <a:pt x="261582" y="-3331"/>
                  <a:pt x="283191" y="101303"/>
                  <a:pt x="307074" y="102440"/>
                </a:cubicBezTo>
                <a:cubicBezTo>
                  <a:pt x="330957" y="103577"/>
                  <a:pt x="355979" y="16003"/>
                  <a:pt x="375313" y="6905"/>
                </a:cubicBezTo>
                <a:cubicBezTo>
                  <a:pt x="394647" y="-2193"/>
                  <a:pt x="400334" y="39888"/>
                  <a:pt x="423080" y="47849"/>
                </a:cubicBezTo>
                <a:cubicBezTo>
                  <a:pt x="445826" y="55810"/>
                  <a:pt x="478808" y="55241"/>
                  <a:pt x="511791" y="54672"/>
                </a:cubicBezTo>
              </a:path>
            </a:pathLst>
          </a:custGeom>
          <a:noFill/>
          <a:ln>
            <a:solidFill>
              <a:srgbClr val="D66F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8" name="Isosceles Triangle 27"/>
          <p:cNvSpPr/>
          <p:nvPr/>
        </p:nvSpPr>
        <p:spPr>
          <a:xfrm rot="5400000">
            <a:off x="5446502" y="2547090"/>
            <a:ext cx="53135" cy="172302"/>
          </a:xfrm>
          <a:prstGeom prst="triangle">
            <a:avLst/>
          </a:prstGeom>
          <a:solidFill>
            <a:srgbClr val="D66F08"/>
          </a:solidFill>
          <a:ln>
            <a:solidFill>
              <a:srgbClr val="D66F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4461297" y="1912668"/>
          <a:ext cx="457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456840" imgH="444240" progId="Photoshop.Image.13">
                  <p:embed/>
                </p:oleObj>
              </mc:Choice>
              <mc:Fallback>
                <p:oleObj name="Image" r:id="rId7" imgW="456840" imgH="444240" progId="Photoshop.Image.13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61297" y="1912668"/>
                        <a:ext cx="4572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Rectangle 30"/>
          <p:cNvSpPr/>
          <p:nvPr/>
        </p:nvSpPr>
        <p:spPr>
          <a:xfrm rot="20431081">
            <a:off x="4664873" y="2308750"/>
            <a:ext cx="277888" cy="21836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4461205" y="2358996"/>
          <a:ext cx="444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9" imgW="444240" imgH="444240" progId="Photoshop.Image.13">
                  <p:embed/>
                </p:oleObj>
              </mc:Choice>
              <mc:Fallback>
                <p:oleObj name="Image" r:id="rId9" imgW="444240" imgH="444240" progId="Photoshop.Image.13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461205" y="2358996"/>
                        <a:ext cx="4445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Rectangle 31"/>
          <p:cNvSpPr/>
          <p:nvPr/>
        </p:nvSpPr>
        <p:spPr>
          <a:xfrm rot="20431081">
            <a:off x="4651226" y="2760971"/>
            <a:ext cx="277888" cy="21836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6549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31" grpId="0" animBg="1"/>
      <p:bldP spid="3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4"/>
          <p:cNvPicPr>
            <a:picLocks noChangeAspect="1"/>
          </p:cNvPicPr>
          <p:nvPr/>
        </p:nvPicPr>
        <p:blipFill rotWithShape="1">
          <a:blip r:embed="rId2"/>
          <a:srcRect l="79910" r="317"/>
          <a:stretch/>
        </p:blipFill>
        <p:spPr>
          <a:xfrm>
            <a:off x="37088" y="1445630"/>
            <a:ext cx="2498440" cy="5637195"/>
          </a:xfrm>
          <a:prstGeom prst="rect">
            <a:avLst/>
          </a:prstGeom>
        </p:spPr>
      </p:pic>
      <p:cxnSp>
        <p:nvCxnSpPr>
          <p:cNvPr id="4" name="Straight Arrow Connector 3"/>
          <p:cNvCxnSpPr/>
          <p:nvPr/>
        </p:nvCxnSpPr>
        <p:spPr>
          <a:xfrm flipV="1">
            <a:off x="2008682" y="2432921"/>
            <a:ext cx="796668" cy="70436"/>
          </a:xfrm>
          <a:prstGeom prst="straightConnector1">
            <a:avLst/>
          </a:prstGeom>
          <a:ln w="38100">
            <a:tailEnd type="arrow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8559384" y="464697"/>
            <a:ext cx="3372786" cy="40773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3656222" y="0"/>
          <a:ext cx="1701800" cy="511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1701360" imgH="5117400" progId="Photoshop.Image.13">
                  <p:embed/>
                </p:oleObj>
              </mc:Choice>
              <mc:Fallback>
                <p:oleObj name="Image" r:id="rId3" imgW="1701360" imgH="5117400" progId="Photoshop.Image.13">
                  <p:embed/>
                  <p:pic>
                    <p:nvPicPr>
                      <p:cNvPr id="11" name="Object 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56222" y="0"/>
                        <a:ext cx="1701800" cy="5118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4467647" y="1498766"/>
          <a:ext cx="444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444240" imgH="431640" progId="Photoshop.Image.13">
                  <p:embed/>
                </p:oleObj>
              </mc:Choice>
              <mc:Fallback>
                <p:oleObj name="Image" r:id="rId5" imgW="444240" imgH="431640" progId="Photoshop.Image.13">
                  <p:embed/>
                  <p:pic>
                    <p:nvPicPr>
                      <p:cNvPr id="13" name="Object 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67647" y="1498766"/>
                        <a:ext cx="4445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Freeform 26"/>
          <p:cNvSpPr/>
          <p:nvPr/>
        </p:nvSpPr>
        <p:spPr>
          <a:xfrm>
            <a:off x="4912147" y="2578649"/>
            <a:ext cx="511791" cy="122947"/>
          </a:xfrm>
          <a:custGeom>
            <a:avLst/>
            <a:gdLst>
              <a:gd name="connsiteX0" fmla="*/ 0 w 511791"/>
              <a:gd name="connsiteY0" fmla="*/ 88792 h 122947"/>
              <a:gd name="connsiteX1" fmla="*/ 61415 w 511791"/>
              <a:gd name="connsiteY1" fmla="*/ 13729 h 122947"/>
              <a:gd name="connsiteX2" fmla="*/ 129653 w 511791"/>
              <a:gd name="connsiteY2" fmla="*/ 122911 h 122947"/>
              <a:gd name="connsiteX3" fmla="*/ 232012 w 511791"/>
              <a:gd name="connsiteY3" fmla="*/ 81 h 122947"/>
              <a:gd name="connsiteX4" fmla="*/ 307074 w 511791"/>
              <a:gd name="connsiteY4" fmla="*/ 102440 h 122947"/>
              <a:gd name="connsiteX5" fmla="*/ 375313 w 511791"/>
              <a:gd name="connsiteY5" fmla="*/ 6905 h 122947"/>
              <a:gd name="connsiteX6" fmla="*/ 423080 w 511791"/>
              <a:gd name="connsiteY6" fmla="*/ 47849 h 122947"/>
              <a:gd name="connsiteX7" fmla="*/ 511791 w 511791"/>
              <a:gd name="connsiteY7" fmla="*/ 54672 h 12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1791" h="122947">
                <a:moveTo>
                  <a:pt x="0" y="88792"/>
                </a:moveTo>
                <a:cubicBezTo>
                  <a:pt x="19903" y="48417"/>
                  <a:pt x="39806" y="8043"/>
                  <a:pt x="61415" y="13729"/>
                </a:cubicBezTo>
                <a:cubicBezTo>
                  <a:pt x="83024" y="19415"/>
                  <a:pt x="101220" y="125186"/>
                  <a:pt x="129653" y="122911"/>
                </a:cubicBezTo>
                <a:cubicBezTo>
                  <a:pt x="158086" y="120636"/>
                  <a:pt x="202442" y="3493"/>
                  <a:pt x="232012" y="81"/>
                </a:cubicBezTo>
                <a:cubicBezTo>
                  <a:pt x="261582" y="-3331"/>
                  <a:pt x="283191" y="101303"/>
                  <a:pt x="307074" y="102440"/>
                </a:cubicBezTo>
                <a:cubicBezTo>
                  <a:pt x="330957" y="103577"/>
                  <a:pt x="355979" y="16003"/>
                  <a:pt x="375313" y="6905"/>
                </a:cubicBezTo>
                <a:cubicBezTo>
                  <a:pt x="394647" y="-2193"/>
                  <a:pt x="400334" y="39888"/>
                  <a:pt x="423080" y="47849"/>
                </a:cubicBezTo>
                <a:cubicBezTo>
                  <a:pt x="445826" y="55810"/>
                  <a:pt x="478808" y="55241"/>
                  <a:pt x="511791" y="54672"/>
                </a:cubicBezTo>
              </a:path>
            </a:pathLst>
          </a:custGeom>
          <a:noFill/>
          <a:ln>
            <a:solidFill>
              <a:srgbClr val="D66F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8" name="Isosceles Triangle 27"/>
          <p:cNvSpPr/>
          <p:nvPr/>
        </p:nvSpPr>
        <p:spPr>
          <a:xfrm rot="5400000">
            <a:off x="5446502" y="2547090"/>
            <a:ext cx="53135" cy="172302"/>
          </a:xfrm>
          <a:prstGeom prst="triangle">
            <a:avLst/>
          </a:prstGeom>
          <a:solidFill>
            <a:srgbClr val="D66F08"/>
          </a:solidFill>
          <a:ln>
            <a:solidFill>
              <a:srgbClr val="D66F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Freeform 28"/>
          <p:cNvSpPr/>
          <p:nvPr/>
        </p:nvSpPr>
        <p:spPr>
          <a:xfrm>
            <a:off x="4904784" y="3013408"/>
            <a:ext cx="511791" cy="122947"/>
          </a:xfrm>
          <a:custGeom>
            <a:avLst/>
            <a:gdLst>
              <a:gd name="connsiteX0" fmla="*/ 0 w 511791"/>
              <a:gd name="connsiteY0" fmla="*/ 88792 h 122947"/>
              <a:gd name="connsiteX1" fmla="*/ 61415 w 511791"/>
              <a:gd name="connsiteY1" fmla="*/ 13729 h 122947"/>
              <a:gd name="connsiteX2" fmla="*/ 129653 w 511791"/>
              <a:gd name="connsiteY2" fmla="*/ 122911 h 122947"/>
              <a:gd name="connsiteX3" fmla="*/ 232012 w 511791"/>
              <a:gd name="connsiteY3" fmla="*/ 81 h 122947"/>
              <a:gd name="connsiteX4" fmla="*/ 307074 w 511791"/>
              <a:gd name="connsiteY4" fmla="*/ 102440 h 122947"/>
              <a:gd name="connsiteX5" fmla="*/ 375313 w 511791"/>
              <a:gd name="connsiteY5" fmla="*/ 6905 h 122947"/>
              <a:gd name="connsiteX6" fmla="*/ 423080 w 511791"/>
              <a:gd name="connsiteY6" fmla="*/ 47849 h 122947"/>
              <a:gd name="connsiteX7" fmla="*/ 511791 w 511791"/>
              <a:gd name="connsiteY7" fmla="*/ 54672 h 12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1791" h="122947">
                <a:moveTo>
                  <a:pt x="0" y="88792"/>
                </a:moveTo>
                <a:cubicBezTo>
                  <a:pt x="19903" y="48417"/>
                  <a:pt x="39806" y="8043"/>
                  <a:pt x="61415" y="13729"/>
                </a:cubicBezTo>
                <a:cubicBezTo>
                  <a:pt x="83024" y="19415"/>
                  <a:pt x="101220" y="125186"/>
                  <a:pt x="129653" y="122911"/>
                </a:cubicBezTo>
                <a:cubicBezTo>
                  <a:pt x="158086" y="120636"/>
                  <a:pt x="202442" y="3493"/>
                  <a:pt x="232012" y="81"/>
                </a:cubicBezTo>
                <a:cubicBezTo>
                  <a:pt x="261582" y="-3331"/>
                  <a:pt x="283191" y="101303"/>
                  <a:pt x="307074" y="102440"/>
                </a:cubicBezTo>
                <a:cubicBezTo>
                  <a:pt x="330957" y="103577"/>
                  <a:pt x="355979" y="16003"/>
                  <a:pt x="375313" y="6905"/>
                </a:cubicBezTo>
                <a:cubicBezTo>
                  <a:pt x="394647" y="-2193"/>
                  <a:pt x="400334" y="39888"/>
                  <a:pt x="423080" y="47849"/>
                </a:cubicBezTo>
                <a:cubicBezTo>
                  <a:pt x="445826" y="55810"/>
                  <a:pt x="478808" y="55241"/>
                  <a:pt x="511791" y="5467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0" name="Isosceles Triangle 29"/>
          <p:cNvSpPr/>
          <p:nvPr/>
        </p:nvSpPr>
        <p:spPr>
          <a:xfrm rot="5400000">
            <a:off x="5432487" y="2978633"/>
            <a:ext cx="53135" cy="17230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4461297" y="1912668"/>
          <a:ext cx="457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456840" imgH="444240" progId="Photoshop.Image.13">
                  <p:embed/>
                </p:oleObj>
              </mc:Choice>
              <mc:Fallback>
                <p:oleObj name="Image" r:id="rId7" imgW="456840" imgH="444240" progId="Photoshop.Image.13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61297" y="1912668"/>
                        <a:ext cx="4572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4461205" y="2358996"/>
          <a:ext cx="444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9" imgW="444240" imgH="444240" progId="Photoshop.Image.13">
                  <p:embed/>
                </p:oleObj>
              </mc:Choice>
              <mc:Fallback>
                <p:oleObj name="Image" r:id="rId9" imgW="444240" imgH="444240" progId="Photoshop.Image.13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461205" y="2358996"/>
                        <a:ext cx="4445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Rectangle 31"/>
          <p:cNvSpPr/>
          <p:nvPr/>
        </p:nvSpPr>
        <p:spPr>
          <a:xfrm rot="20431081">
            <a:off x="4651226" y="2760971"/>
            <a:ext cx="277888" cy="21836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4468025" y="2802548"/>
          <a:ext cx="444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1" imgW="444240" imgH="444240" progId="Photoshop.Image.13">
                  <p:embed/>
                </p:oleObj>
              </mc:Choice>
              <mc:Fallback>
                <p:oleObj name="Image" r:id="rId11" imgW="444240" imgH="444240" progId="Photoshop.Image.13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468025" y="2802548"/>
                        <a:ext cx="4445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32"/>
          <p:cNvSpPr/>
          <p:nvPr/>
        </p:nvSpPr>
        <p:spPr>
          <a:xfrm rot="20431081">
            <a:off x="4653498" y="3199980"/>
            <a:ext cx="277888" cy="21836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0695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32" grpId="0" animBg="1"/>
      <p:bldP spid="3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4"/>
          <p:cNvPicPr>
            <a:picLocks noChangeAspect="1"/>
          </p:cNvPicPr>
          <p:nvPr/>
        </p:nvPicPr>
        <p:blipFill rotWithShape="1">
          <a:blip r:embed="rId2"/>
          <a:srcRect l="79910" r="317"/>
          <a:stretch/>
        </p:blipFill>
        <p:spPr>
          <a:xfrm>
            <a:off x="37088" y="1445630"/>
            <a:ext cx="2498440" cy="5637195"/>
          </a:xfrm>
          <a:prstGeom prst="rect">
            <a:avLst/>
          </a:prstGeom>
        </p:spPr>
      </p:pic>
      <p:cxnSp>
        <p:nvCxnSpPr>
          <p:cNvPr id="4" name="Straight Arrow Connector 3"/>
          <p:cNvCxnSpPr/>
          <p:nvPr/>
        </p:nvCxnSpPr>
        <p:spPr>
          <a:xfrm flipV="1">
            <a:off x="2008682" y="2432921"/>
            <a:ext cx="796668" cy="70436"/>
          </a:xfrm>
          <a:prstGeom prst="straightConnector1">
            <a:avLst/>
          </a:prstGeom>
          <a:ln w="38100">
            <a:tailEnd type="arrow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8559384" y="464697"/>
            <a:ext cx="3372786" cy="40773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3656222" y="0"/>
          <a:ext cx="1701800" cy="511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1701360" imgH="5117400" progId="Photoshop.Image.13">
                  <p:embed/>
                </p:oleObj>
              </mc:Choice>
              <mc:Fallback>
                <p:oleObj name="Image" r:id="rId3" imgW="1701360" imgH="5117400" progId="Photoshop.Image.13">
                  <p:embed/>
                  <p:pic>
                    <p:nvPicPr>
                      <p:cNvPr id="11" name="Object 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56222" y="0"/>
                        <a:ext cx="1701800" cy="5118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4467647" y="1498766"/>
          <a:ext cx="444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444240" imgH="431640" progId="Photoshop.Image.13">
                  <p:embed/>
                </p:oleObj>
              </mc:Choice>
              <mc:Fallback>
                <p:oleObj name="Image" r:id="rId5" imgW="444240" imgH="431640" progId="Photoshop.Image.13">
                  <p:embed/>
                  <p:pic>
                    <p:nvPicPr>
                      <p:cNvPr id="13" name="Object 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67647" y="1498766"/>
                        <a:ext cx="4445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Freeform 22"/>
          <p:cNvSpPr/>
          <p:nvPr/>
        </p:nvSpPr>
        <p:spPr>
          <a:xfrm>
            <a:off x="4922287" y="3373195"/>
            <a:ext cx="511791" cy="122947"/>
          </a:xfrm>
          <a:custGeom>
            <a:avLst/>
            <a:gdLst>
              <a:gd name="connsiteX0" fmla="*/ 0 w 511791"/>
              <a:gd name="connsiteY0" fmla="*/ 88792 h 122947"/>
              <a:gd name="connsiteX1" fmla="*/ 61415 w 511791"/>
              <a:gd name="connsiteY1" fmla="*/ 13729 h 122947"/>
              <a:gd name="connsiteX2" fmla="*/ 129653 w 511791"/>
              <a:gd name="connsiteY2" fmla="*/ 122911 h 122947"/>
              <a:gd name="connsiteX3" fmla="*/ 232012 w 511791"/>
              <a:gd name="connsiteY3" fmla="*/ 81 h 122947"/>
              <a:gd name="connsiteX4" fmla="*/ 307074 w 511791"/>
              <a:gd name="connsiteY4" fmla="*/ 102440 h 122947"/>
              <a:gd name="connsiteX5" fmla="*/ 375313 w 511791"/>
              <a:gd name="connsiteY5" fmla="*/ 6905 h 122947"/>
              <a:gd name="connsiteX6" fmla="*/ 423080 w 511791"/>
              <a:gd name="connsiteY6" fmla="*/ 47849 h 122947"/>
              <a:gd name="connsiteX7" fmla="*/ 511791 w 511791"/>
              <a:gd name="connsiteY7" fmla="*/ 54672 h 12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1791" h="122947">
                <a:moveTo>
                  <a:pt x="0" y="88792"/>
                </a:moveTo>
                <a:cubicBezTo>
                  <a:pt x="19903" y="48417"/>
                  <a:pt x="39806" y="8043"/>
                  <a:pt x="61415" y="13729"/>
                </a:cubicBezTo>
                <a:cubicBezTo>
                  <a:pt x="83024" y="19415"/>
                  <a:pt x="101220" y="125186"/>
                  <a:pt x="129653" y="122911"/>
                </a:cubicBezTo>
                <a:cubicBezTo>
                  <a:pt x="158086" y="120636"/>
                  <a:pt x="202442" y="3493"/>
                  <a:pt x="232012" y="81"/>
                </a:cubicBezTo>
                <a:cubicBezTo>
                  <a:pt x="261582" y="-3331"/>
                  <a:pt x="283191" y="101303"/>
                  <a:pt x="307074" y="102440"/>
                </a:cubicBezTo>
                <a:cubicBezTo>
                  <a:pt x="330957" y="103577"/>
                  <a:pt x="355979" y="16003"/>
                  <a:pt x="375313" y="6905"/>
                </a:cubicBezTo>
                <a:cubicBezTo>
                  <a:pt x="394647" y="-2193"/>
                  <a:pt x="400334" y="39888"/>
                  <a:pt x="423080" y="47849"/>
                </a:cubicBezTo>
                <a:cubicBezTo>
                  <a:pt x="445826" y="55810"/>
                  <a:pt x="478808" y="55241"/>
                  <a:pt x="511791" y="54672"/>
                </a:cubicBezTo>
              </a:path>
            </a:pathLst>
          </a:custGeom>
          <a:noFill/>
          <a:ln>
            <a:solidFill>
              <a:srgbClr val="D25E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4" name="Isosceles Triangle 23"/>
          <p:cNvSpPr/>
          <p:nvPr/>
        </p:nvSpPr>
        <p:spPr>
          <a:xfrm rot="5400000">
            <a:off x="5449990" y="3338420"/>
            <a:ext cx="53135" cy="172302"/>
          </a:xfrm>
          <a:prstGeom prst="triangle">
            <a:avLst/>
          </a:prstGeom>
          <a:solidFill>
            <a:srgbClr val="D25ED5"/>
          </a:solidFill>
          <a:ln>
            <a:solidFill>
              <a:srgbClr val="D25E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Freeform 28"/>
          <p:cNvSpPr/>
          <p:nvPr/>
        </p:nvSpPr>
        <p:spPr>
          <a:xfrm>
            <a:off x="4904784" y="3013408"/>
            <a:ext cx="511791" cy="122947"/>
          </a:xfrm>
          <a:custGeom>
            <a:avLst/>
            <a:gdLst>
              <a:gd name="connsiteX0" fmla="*/ 0 w 511791"/>
              <a:gd name="connsiteY0" fmla="*/ 88792 h 122947"/>
              <a:gd name="connsiteX1" fmla="*/ 61415 w 511791"/>
              <a:gd name="connsiteY1" fmla="*/ 13729 h 122947"/>
              <a:gd name="connsiteX2" fmla="*/ 129653 w 511791"/>
              <a:gd name="connsiteY2" fmla="*/ 122911 h 122947"/>
              <a:gd name="connsiteX3" fmla="*/ 232012 w 511791"/>
              <a:gd name="connsiteY3" fmla="*/ 81 h 122947"/>
              <a:gd name="connsiteX4" fmla="*/ 307074 w 511791"/>
              <a:gd name="connsiteY4" fmla="*/ 102440 h 122947"/>
              <a:gd name="connsiteX5" fmla="*/ 375313 w 511791"/>
              <a:gd name="connsiteY5" fmla="*/ 6905 h 122947"/>
              <a:gd name="connsiteX6" fmla="*/ 423080 w 511791"/>
              <a:gd name="connsiteY6" fmla="*/ 47849 h 122947"/>
              <a:gd name="connsiteX7" fmla="*/ 511791 w 511791"/>
              <a:gd name="connsiteY7" fmla="*/ 54672 h 12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1791" h="122947">
                <a:moveTo>
                  <a:pt x="0" y="88792"/>
                </a:moveTo>
                <a:cubicBezTo>
                  <a:pt x="19903" y="48417"/>
                  <a:pt x="39806" y="8043"/>
                  <a:pt x="61415" y="13729"/>
                </a:cubicBezTo>
                <a:cubicBezTo>
                  <a:pt x="83024" y="19415"/>
                  <a:pt x="101220" y="125186"/>
                  <a:pt x="129653" y="122911"/>
                </a:cubicBezTo>
                <a:cubicBezTo>
                  <a:pt x="158086" y="120636"/>
                  <a:pt x="202442" y="3493"/>
                  <a:pt x="232012" y="81"/>
                </a:cubicBezTo>
                <a:cubicBezTo>
                  <a:pt x="261582" y="-3331"/>
                  <a:pt x="283191" y="101303"/>
                  <a:pt x="307074" y="102440"/>
                </a:cubicBezTo>
                <a:cubicBezTo>
                  <a:pt x="330957" y="103577"/>
                  <a:pt x="355979" y="16003"/>
                  <a:pt x="375313" y="6905"/>
                </a:cubicBezTo>
                <a:cubicBezTo>
                  <a:pt x="394647" y="-2193"/>
                  <a:pt x="400334" y="39888"/>
                  <a:pt x="423080" y="47849"/>
                </a:cubicBezTo>
                <a:cubicBezTo>
                  <a:pt x="445826" y="55810"/>
                  <a:pt x="478808" y="55241"/>
                  <a:pt x="511791" y="5467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0" name="Isosceles Triangle 29"/>
          <p:cNvSpPr/>
          <p:nvPr/>
        </p:nvSpPr>
        <p:spPr>
          <a:xfrm rot="5400000">
            <a:off x="5432487" y="2978633"/>
            <a:ext cx="53135" cy="17230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4461297" y="1912668"/>
          <a:ext cx="457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456840" imgH="444240" progId="Photoshop.Image.13">
                  <p:embed/>
                </p:oleObj>
              </mc:Choice>
              <mc:Fallback>
                <p:oleObj name="Image" r:id="rId7" imgW="456840" imgH="444240" progId="Photoshop.Image.13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61297" y="1912668"/>
                        <a:ext cx="4572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4461205" y="2358996"/>
          <a:ext cx="444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9" imgW="444240" imgH="444240" progId="Photoshop.Image.13">
                  <p:embed/>
                </p:oleObj>
              </mc:Choice>
              <mc:Fallback>
                <p:oleObj name="Image" r:id="rId9" imgW="444240" imgH="444240" progId="Photoshop.Image.13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461205" y="2358996"/>
                        <a:ext cx="4445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4468025" y="2802548"/>
          <a:ext cx="444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1" imgW="444240" imgH="444240" progId="Photoshop.Image.13">
                  <p:embed/>
                </p:oleObj>
              </mc:Choice>
              <mc:Fallback>
                <p:oleObj name="Image" r:id="rId11" imgW="444240" imgH="444240" progId="Photoshop.Image.13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468025" y="2802548"/>
                        <a:ext cx="4445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32"/>
          <p:cNvSpPr/>
          <p:nvPr/>
        </p:nvSpPr>
        <p:spPr>
          <a:xfrm rot="20431081">
            <a:off x="4653498" y="3199980"/>
            <a:ext cx="277888" cy="21836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4474848" y="3218811"/>
          <a:ext cx="444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444240" imgH="444240" progId="Photoshop.Image.13">
                  <p:embed/>
                </p:oleObj>
              </mc:Choice>
              <mc:Fallback>
                <p:oleObj name="Image" r:id="rId13" imgW="444240" imgH="444240" progId="Photoshop.Image.13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474848" y="3218811"/>
                        <a:ext cx="4445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5"/>
          <p:cNvSpPr/>
          <p:nvPr/>
        </p:nvSpPr>
        <p:spPr>
          <a:xfrm rot="20431081">
            <a:off x="4655770" y="3598044"/>
            <a:ext cx="277888" cy="21836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7640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9" grpId="0" animBg="1"/>
      <p:bldP spid="30" grpId="0" animBg="1"/>
      <p:bldP spid="33" grpId="0" animBg="1"/>
      <p:bldP spid="2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4"/>
          <p:cNvPicPr>
            <a:picLocks noChangeAspect="1"/>
          </p:cNvPicPr>
          <p:nvPr/>
        </p:nvPicPr>
        <p:blipFill rotWithShape="1">
          <a:blip r:embed="rId2"/>
          <a:srcRect l="79910" r="317"/>
          <a:stretch/>
        </p:blipFill>
        <p:spPr>
          <a:xfrm>
            <a:off x="37088" y="1445630"/>
            <a:ext cx="2498440" cy="5637195"/>
          </a:xfrm>
          <a:prstGeom prst="rect">
            <a:avLst/>
          </a:prstGeom>
        </p:spPr>
      </p:pic>
      <p:cxnSp>
        <p:nvCxnSpPr>
          <p:cNvPr id="4" name="Straight Arrow Connector 3"/>
          <p:cNvCxnSpPr/>
          <p:nvPr/>
        </p:nvCxnSpPr>
        <p:spPr>
          <a:xfrm flipV="1">
            <a:off x="2008682" y="2432921"/>
            <a:ext cx="796668" cy="70436"/>
          </a:xfrm>
          <a:prstGeom prst="straightConnector1">
            <a:avLst/>
          </a:prstGeom>
          <a:ln w="38100">
            <a:tailEnd type="arrow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6593806" y="970029"/>
          <a:ext cx="5258984" cy="39268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5574600" imgH="3911040" progId="Photoshop.Image.13">
                  <p:embed/>
                </p:oleObj>
              </mc:Choice>
              <mc:Fallback>
                <p:oleObj name="Image" r:id="rId3" imgW="5574600" imgH="3911040" progId="Photoshop.Image.13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93806" y="970029"/>
                        <a:ext cx="5258984" cy="39268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3656222" y="0"/>
          <a:ext cx="1701800" cy="511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1701360" imgH="5117400" progId="Photoshop.Image.13">
                  <p:embed/>
                </p:oleObj>
              </mc:Choice>
              <mc:Fallback>
                <p:oleObj name="Image" r:id="rId5" imgW="1701360" imgH="5117400" progId="Photoshop.Image.13">
                  <p:embed/>
                  <p:pic>
                    <p:nvPicPr>
                      <p:cNvPr id="11" name="Object 1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56222" y="0"/>
                        <a:ext cx="1701800" cy="5118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4467647" y="1498766"/>
          <a:ext cx="444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444240" imgH="431640" progId="Photoshop.Image.13">
                  <p:embed/>
                </p:oleObj>
              </mc:Choice>
              <mc:Fallback>
                <p:oleObj name="Image" r:id="rId7" imgW="444240" imgH="431640" progId="Photoshop.Image.13">
                  <p:embed/>
                  <p:pic>
                    <p:nvPicPr>
                      <p:cNvPr id="13" name="Object 1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67647" y="1498766"/>
                        <a:ext cx="4445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Freeform 22"/>
          <p:cNvSpPr/>
          <p:nvPr/>
        </p:nvSpPr>
        <p:spPr>
          <a:xfrm>
            <a:off x="4922287" y="3373195"/>
            <a:ext cx="511791" cy="122947"/>
          </a:xfrm>
          <a:custGeom>
            <a:avLst/>
            <a:gdLst>
              <a:gd name="connsiteX0" fmla="*/ 0 w 511791"/>
              <a:gd name="connsiteY0" fmla="*/ 88792 h 122947"/>
              <a:gd name="connsiteX1" fmla="*/ 61415 w 511791"/>
              <a:gd name="connsiteY1" fmla="*/ 13729 h 122947"/>
              <a:gd name="connsiteX2" fmla="*/ 129653 w 511791"/>
              <a:gd name="connsiteY2" fmla="*/ 122911 h 122947"/>
              <a:gd name="connsiteX3" fmla="*/ 232012 w 511791"/>
              <a:gd name="connsiteY3" fmla="*/ 81 h 122947"/>
              <a:gd name="connsiteX4" fmla="*/ 307074 w 511791"/>
              <a:gd name="connsiteY4" fmla="*/ 102440 h 122947"/>
              <a:gd name="connsiteX5" fmla="*/ 375313 w 511791"/>
              <a:gd name="connsiteY5" fmla="*/ 6905 h 122947"/>
              <a:gd name="connsiteX6" fmla="*/ 423080 w 511791"/>
              <a:gd name="connsiteY6" fmla="*/ 47849 h 122947"/>
              <a:gd name="connsiteX7" fmla="*/ 511791 w 511791"/>
              <a:gd name="connsiteY7" fmla="*/ 54672 h 12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1791" h="122947">
                <a:moveTo>
                  <a:pt x="0" y="88792"/>
                </a:moveTo>
                <a:cubicBezTo>
                  <a:pt x="19903" y="48417"/>
                  <a:pt x="39806" y="8043"/>
                  <a:pt x="61415" y="13729"/>
                </a:cubicBezTo>
                <a:cubicBezTo>
                  <a:pt x="83024" y="19415"/>
                  <a:pt x="101220" y="125186"/>
                  <a:pt x="129653" y="122911"/>
                </a:cubicBezTo>
                <a:cubicBezTo>
                  <a:pt x="158086" y="120636"/>
                  <a:pt x="202442" y="3493"/>
                  <a:pt x="232012" y="81"/>
                </a:cubicBezTo>
                <a:cubicBezTo>
                  <a:pt x="261582" y="-3331"/>
                  <a:pt x="283191" y="101303"/>
                  <a:pt x="307074" y="102440"/>
                </a:cubicBezTo>
                <a:cubicBezTo>
                  <a:pt x="330957" y="103577"/>
                  <a:pt x="355979" y="16003"/>
                  <a:pt x="375313" y="6905"/>
                </a:cubicBezTo>
                <a:cubicBezTo>
                  <a:pt x="394647" y="-2193"/>
                  <a:pt x="400334" y="39888"/>
                  <a:pt x="423080" y="47849"/>
                </a:cubicBezTo>
                <a:cubicBezTo>
                  <a:pt x="445826" y="55810"/>
                  <a:pt x="478808" y="55241"/>
                  <a:pt x="511791" y="54672"/>
                </a:cubicBezTo>
              </a:path>
            </a:pathLst>
          </a:custGeom>
          <a:noFill/>
          <a:ln>
            <a:solidFill>
              <a:srgbClr val="D25E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4" name="Isosceles Triangle 23"/>
          <p:cNvSpPr/>
          <p:nvPr/>
        </p:nvSpPr>
        <p:spPr>
          <a:xfrm rot="5400000">
            <a:off x="5449990" y="3338420"/>
            <a:ext cx="53135" cy="172302"/>
          </a:xfrm>
          <a:prstGeom prst="triangle">
            <a:avLst/>
          </a:prstGeom>
          <a:solidFill>
            <a:srgbClr val="D25ED5"/>
          </a:solidFill>
          <a:ln>
            <a:solidFill>
              <a:srgbClr val="D25E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4461297" y="1912668"/>
          <a:ext cx="457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9" imgW="456840" imgH="444240" progId="Photoshop.Image.13">
                  <p:embed/>
                </p:oleObj>
              </mc:Choice>
              <mc:Fallback>
                <p:oleObj name="Image" r:id="rId9" imgW="456840" imgH="444240" progId="Photoshop.Image.13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461297" y="1912668"/>
                        <a:ext cx="4572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4461205" y="2358996"/>
          <a:ext cx="444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1" imgW="444240" imgH="444240" progId="Photoshop.Image.13">
                  <p:embed/>
                </p:oleObj>
              </mc:Choice>
              <mc:Fallback>
                <p:oleObj name="Image" r:id="rId11" imgW="444240" imgH="444240" progId="Photoshop.Image.13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461205" y="2358996"/>
                        <a:ext cx="4445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4468025" y="2802548"/>
          <a:ext cx="444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444240" imgH="444240" progId="Photoshop.Image.13">
                  <p:embed/>
                </p:oleObj>
              </mc:Choice>
              <mc:Fallback>
                <p:oleObj name="Image" r:id="rId13" imgW="444240" imgH="444240" progId="Photoshop.Image.13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468025" y="2802548"/>
                        <a:ext cx="4445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4474848" y="3218811"/>
          <a:ext cx="444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5" imgW="444240" imgH="444240" progId="Photoshop.Image.13">
                  <p:embed/>
                </p:oleObj>
              </mc:Choice>
              <mc:Fallback>
                <p:oleObj name="Image" r:id="rId15" imgW="444240" imgH="444240" progId="Photoshop.Image.13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474848" y="3218811"/>
                        <a:ext cx="4445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5"/>
          <p:cNvSpPr/>
          <p:nvPr/>
        </p:nvSpPr>
        <p:spPr>
          <a:xfrm rot="20431081">
            <a:off x="4655770" y="3598044"/>
            <a:ext cx="277888" cy="21836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4673219" y="3704645"/>
            <a:ext cx="20472" cy="5029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581189" y="5834322"/>
            <a:ext cx="46490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Typically a run consists of 50 to 150 cycles.</a:t>
            </a:r>
          </a:p>
          <a:p>
            <a:pPr algn="ctr"/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&gt; This determines read length</a:t>
            </a:r>
          </a:p>
        </p:txBody>
      </p:sp>
      <p:pic>
        <p:nvPicPr>
          <p:cNvPr id="11318" name="Picture 54" descr="Illumina Sequencing By Synthesis GIF | Gfycat"/>
          <p:cNvPicPr>
            <a:picLocks noChangeAspect="1" noChangeArrowheads="1" noCrop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2703" y="970681"/>
            <a:ext cx="8655216" cy="4864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3705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6" grpId="0" animBg="1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31" y="0"/>
            <a:ext cx="10935567" cy="4676931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725830" y="4704021"/>
            <a:ext cx="101677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+mj-lt"/>
              </a:rPr>
              <a:t>Every sequencing cycle for each spot a base is called and a quality value is given.</a:t>
            </a:r>
          </a:p>
          <a:p>
            <a:r>
              <a:rPr lang="en-US" sz="2400" dirty="0">
                <a:latin typeface="+mj-lt"/>
              </a:rPr>
              <a:t>(for Illumina, from 0 to 40)</a:t>
            </a:r>
          </a:p>
        </p:txBody>
      </p:sp>
      <p:sp>
        <p:nvSpPr>
          <p:cNvPr id="2" name="Rectangle 1"/>
          <p:cNvSpPr/>
          <p:nvPr/>
        </p:nvSpPr>
        <p:spPr>
          <a:xfrm>
            <a:off x="2043112" y="1884389"/>
            <a:ext cx="1181100" cy="12477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214687" y="1884390"/>
            <a:ext cx="1181100" cy="12459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398818" y="1882597"/>
            <a:ext cx="1276350" cy="12459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560002" y="1920697"/>
            <a:ext cx="1276350" cy="12459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759286" y="1903719"/>
            <a:ext cx="1276350" cy="12459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968095" y="1920697"/>
            <a:ext cx="1276350" cy="12459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92968" y="1878182"/>
            <a:ext cx="1700645" cy="12459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8967" y="1882597"/>
            <a:ext cx="1276350" cy="12459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494714" y="160364"/>
            <a:ext cx="386973" cy="733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707250" y="3845920"/>
            <a:ext cx="386973" cy="695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6385866" y="3838957"/>
            <a:ext cx="386973" cy="695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6709456" y="3845920"/>
            <a:ext cx="386973" cy="695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033045" y="3862392"/>
            <a:ext cx="386973" cy="695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340311" y="3854035"/>
            <a:ext cx="386973" cy="695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680224" y="3884482"/>
            <a:ext cx="386973" cy="695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8026111" y="3884483"/>
            <a:ext cx="386973" cy="695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6062275" y="3845920"/>
            <a:ext cx="386973" cy="695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414902" y="3884482"/>
            <a:ext cx="657660" cy="695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8219596" y="160363"/>
            <a:ext cx="852965" cy="733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231245" y="198435"/>
            <a:ext cx="386973" cy="733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533591" y="207931"/>
            <a:ext cx="386973" cy="733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6830404" y="226923"/>
            <a:ext cx="386973" cy="733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199776" y="199833"/>
            <a:ext cx="386973" cy="733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6256714" y="922364"/>
            <a:ext cx="386973" cy="733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553411" y="218434"/>
            <a:ext cx="386973" cy="733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6561514" y="1227164"/>
            <a:ext cx="386973" cy="733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7899298" y="160812"/>
            <a:ext cx="386973" cy="733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5868085" y="129792"/>
            <a:ext cx="386973" cy="733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11667687" y="1960590"/>
            <a:ext cx="341749" cy="12459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FASTQ format">
            <a:extLst>
              <a:ext uri="{FF2B5EF4-FFF2-40B4-BE49-F238E27FC236}">
                <a16:creationId xmlns:a16="http://schemas.microsoft.com/office/drawing/2014/main" id="{812861CF-67CA-10E9-99E4-9E98C41244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7626"/>
          <a:stretch>
            <a:fillRect/>
          </a:stretch>
        </p:blipFill>
        <p:spPr>
          <a:xfrm>
            <a:off x="1441806" y="5526395"/>
            <a:ext cx="9451807" cy="107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052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3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9" grpId="0" animBg="1"/>
      <p:bldP spid="33" grpId="0" animBg="1"/>
      <p:bldP spid="3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 is a FASTQ file?">
            <a:extLst>
              <a:ext uri="{FF2B5EF4-FFF2-40B4-BE49-F238E27FC236}">
                <a16:creationId xmlns:a16="http://schemas.microsoft.com/office/drawing/2014/main" id="{05BEEE08-FDA6-06B0-27AB-60E1B4768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029" y="1114426"/>
            <a:ext cx="9400222" cy="527911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C4324EA-0F96-9C59-C9CD-B01DEBD259A4}"/>
              </a:ext>
            </a:extLst>
          </p:cNvPr>
          <p:cNvSpPr txBox="1">
            <a:spLocks/>
          </p:cNvSpPr>
          <p:nvPr/>
        </p:nvSpPr>
        <p:spPr>
          <a:xfrm>
            <a:off x="628651" y="229054"/>
            <a:ext cx="1128032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36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Results</a:t>
            </a:r>
            <a:r>
              <a:rPr lang="nl-NL" sz="3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.</a:t>
            </a:r>
            <a:r>
              <a:rPr lang="nl-NL" sz="36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fastq</a:t>
            </a:r>
            <a:r>
              <a:rPr lang="nl-NL" sz="3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file </a:t>
            </a:r>
            <a:r>
              <a:rPr lang="nl-NL" sz="36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with</a:t>
            </a:r>
            <a:r>
              <a:rPr lang="nl-NL" sz="3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6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millions</a:t>
            </a:r>
            <a:r>
              <a:rPr lang="nl-NL" sz="3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of entries like </a:t>
            </a:r>
            <a:r>
              <a:rPr lang="nl-NL" sz="36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</a:t>
            </a:r>
            <a:r>
              <a:rPr lang="nl-NL" sz="3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</a:t>
            </a:r>
            <a:endParaRPr lang="en-NL" sz="36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9867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855450" y="6606619"/>
            <a:ext cx="152400" cy="15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45" dirty="0">
                <a:solidFill>
                  <a:srgbClr val="888888"/>
                </a:solidFill>
                <a:latin typeface="Calibri"/>
                <a:cs typeface="Calibri"/>
              </a:rPr>
              <a:t>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 descr="Read mapping or alignment | Functional genomics II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62250" y="1752598"/>
            <a:ext cx="6667500" cy="501967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000837" y="2530949"/>
            <a:ext cx="581660" cy="41554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>
              <a:lnSpc>
                <a:spcPts val="919"/>
              </a:lnSpc>
            </a:pPr>
            <a:r>
              <a:rPr sz="950" spc="-25" dirty="0">
                <a:latin typeface="Calibri"/>
                <a:cs typeface="Calibri"/>
              </a:rPr>
              <a:t>EBI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r>
              <a:rPr sz="950" dirty="0">
                <a:latin typeface="Calibri"/>
                <a:cs typeface="Calibri"/>
                <a:hlinkClick r:id="rId3"/>
              </a:rPr>
              <a:t>https://www.ebi.ac.uk/training/online/courses/functional-genomics-ii-</a:t>
            </a:r>
            <a:r>
              <a:rPr sz="950" spc="-10" dirty="0">
                <a:latin typeface="Calibri"/>
                <a:cs typeface="Calibri"/>
                <a:hlinkClick r:id="rId3"/>
              </a:rPr>
              <a:t>common-</a:t>
            </a:r>
            <a:endParaRPr sz="950">
              <a:latin typeface="Calibri"/>
              <a:cs typeface="Calibri"/>
            </a:endParaRPr>
          </a:p>
          <a:p>
            <a:pPr marR="12700">
              <a:lnSpc>
                <a:spcPct val="105300"/>
              </a:lnSpc>
            </a:pPr>
            <a:r>
              <a:rPr sz="950" dirty="0">
                <a:latin typeface="Calibri"/>
                <a:cs typeface="Calibri"/>
              </a:rPr>
              <a:t>technologies-and-data-analysis-methods/rna-sequencing/performing-a-rna-</a:t>
            </a:r>
            <a:r>
              <a:rPr sz="950" spc="-20" dirty="0">
                <a:latin typeface="Calibri"/>
                <a:cs typeface="Calibri"/>
              </a:rPr>
              <a:t>seq-</a:t>
            </a:r>
            <a:r>
              <a:rPr sz="950" dirty="0">
                <a:latin typeface="Calibri"/>
                <a:cs typeface="Calibri"/>
              </a:rPr>
              <a:t>experiment/data-analysis/read-mapping-or-</a:t>
            </a:r>
            <a:r>
              <a:rPr sz="950" spc="-10" dirty="0">
                <a:latin typeface="Calibri"/>
                <a:cs typeface="Calibri"/>
              </a:rPr>
              <a:t>alignment/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6" name="object 6" descr="fastq_file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1200" y="1501538"/>
            <a:ext cx="11220450" cy="51815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866900" y="3676650"/>
            <a:ext cx="4314825" cy="771525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19685" rIns="0" bIns="0" rtlCol="0">
            <a:spAutoFit/>
          </a:bodyPr>
          <a:lstStyle/>
          <a:p>
            <a:pPr marL="922655">
              <a:lnSpc>
                <a:spcPct val="100000"/>
              </a:lnSpc>
              <a:spcBef>
                <a:spcPts val="155"/>
              </a:spcBef>
            </a:pPr>
            <a:r>
              <a:rPr sz="4400" b="1" dirty="0">
                <a:solidFill>
                  <a:srgbClr val="FFFFFF"/>
                </a:solidFill>
                <a:latin typeface="Calibri"/>
                <a:cs typeface="Calibri"/>
              </a:rPr>
              <a:t>RAW</a:t>
            </a:r>
            <a:r>
              <a:rPr sz="4400" b="1" spc="-2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b="1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4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43725" y="1743075"/>
            <a:ext cx="5153025" cy="486727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524750" y="3676650"/>
            <a:ext cx="4305300" cy="771525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19685" rIns="0" bIns="0" rtlCol="0">
            <a:spAutoFit/>
          </a:bodyPr>
          <a:lstStyle/>
          <a:p>
            <a:pPr marL="1090295">
              <a:lnSpc>
                <a:spcPct val="100000"/>
              </a:lnSpc>
              <a:spcBef>
                <a:spcPts val="155"/>
              </a:spcBef>
            </a:pPr>
            <a:r>
              <a:rPr sz="4400" b="1" spc="-10" dirty="0">
                <a:solidFill>
                  <a:srgbClr val="FFFFFF"/>
                </a:solidFill>
                <a:latin typeface="Calibri"/>
                <a:cs typeface="Calibri"/>
              </a:rPr>
              <a:t>GENOME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1E639C3-F2E0-77F7-D213-1C1EC238FC51}"/>
              </a:ext>
            </a:extLst>
          </p:cNvPr>
          <p:cNvSpPr txBox="1">
            <a:spLocks/>
          </p:cNvSpPr>
          <p:nvPr/>
        </p:nvSpPr>
        <p:spPr>
          <a:xfrm>
            <a:off x="1646010" y="238598"/>
            <a:ext cx="9350829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nl-NL" sz="3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We </a:t>
            </a:r>
            <a:r>
              <a:rPr lang="nl-NL" sz="36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need</a:t>
            </a:r>
            <a:r>
              <a:rPr lang="nl-NL" sz="3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6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  <a:r>
              <a:rPr lang="nl-NL" sz="3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6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find</a:t>
            </a:r>
            <a:r>
              <a:rPr lang="nl-NL" sz="3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out </a:t>
            </a:r>
            <a:r>
              <a:rPr lang="nl-NL" sz="36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where</a:t>
            </a:r>
            <a:r>
              <a:rPr lang="nl-NL" sz="3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6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each</a:t>
            </a:r>
            <a:r>
              <a:rPr lang="nl-NL" sz="3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6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read</a:t>
            </a:r>
            <a:r>
              <a:rPr lang="nl-NL" sz="3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6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came</a:t>
            </a:r>
            <a:r>
              <a:rPr lang="nl-NL" sz="3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6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from</a:t>
            </a:r>
            <a:r>
              <a:rPr lang="nl-NL" sz="3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in </a:t>
            </a:r>
            <a:r>
              <a:rPr lang="nl-NL" sz="36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3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6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genome</a:t>
            </a:r>
            <a:r>
              <a:rPr lang="nl-NL" sz="3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endParaRPr lang="en-NL" sz="36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5A7D5239-49B3-F030-7E03-7902802C9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49" y="720687"/>
            <a:ext cx="11036301" cy="5416625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64EEFD-FFE1-2A19-E81D-B026E60F3C7A}"/>
              </a:ext>
            </a:extLst>
          </p:cNvPr>
          <p:cNvSpPr txBox="1">
            <a:spLocks/>
          </p:cNvSpPr>
          <p:nvPr/>
        </p:nvSpPr>
        <p:spPr>
          <a:xfrm>
            <a:off x="1513114" y="6178624"/>
            <a:ext cx="5965371" cy="5682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Tools run on a command line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C05A2C4-6883-519E-25DA-E8FAD701ED0E}"/>
              </a:ext>
            </a:extLst>
          </p:cNvPr>
          <p:cNvSpPr txBox="1">
            <a:spLocks/>
          </p:cNvSpPr>
          <p:nvPr/>
        </p:nvSpPr>
        <p:spPr>
          <a:xfrm>
            <a:off x="8671858" y="6178624"/>
            <a:ext cx="2796242" cy="5682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 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786670-6994-5C1C-998A-762190EA8B7C}"/>
              </a:ext>
            </a:extLst>
          </p:cNvPr>
          <p:cNvSpPr txBox="1">
            <a:spLocks/>
          </p:cNvSpPr>
          <p:nvPr/>
        </p:nvSpPr>
        <p:spPr>
          <a:xfrm>
            <a:off x="838199" y="111088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nl-NL" sz="40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Typical</a:t>
            </a:r>
            <a:r>
              <a:rPr lang="nl-NL" sz="4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RNA-</a:t>
            </a:r>
            <a:r>
              <a:rPr lang="nl-NL" sz="40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seq</a:t>
            </a:r>
            <a:r>
              <a:rPr lang="nl-NL" sz="4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pipeline</a:t>
            </a:r>
            <a:endParaRPr lang="en-NL" sz="40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12638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6EF83-6A3C-570E-439F-36A5652C9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5E03F97D-BD80-44D2-BD67-AC79B84331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5607"/>
          <a:stretch>
            <a:fillRect/>
          </a:stretch>
        </p:blipFill>
        <p:spPr>
          <a:xfrm>
            <a:off x="577850" y="720687"/>
            <a:ext cx="1588408" cy="54166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900C52-949D-6037-E1EF-D9BD4FB3C29A}"/>
              </a:ext>
            </a:extLst>
          </p:cNvPr>
          <p:cNvSpPr txBox="1">
            <a:spLocks/>
          </p:cNvSpPr>
          <p:nvPr/>
        </p:nvSpPr>
        <p:spPr>
          <a:xfrm>
            <a:off x="1098550" y="111088"/>
            <a:ext cx="10515600" cy="60959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40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Quality</a:t>
            </a:r>
            <a:r>
              <a:rPr lang="nl-NL" sz="4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control: </a:t>
            </a:r>
            <a:r>
              <a:rPr lang="nl-NL" sz="40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fastqc</a:t>
            </a:r>
            <a:endParaRPr lang="en-NL" sz="40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0D8BA2-0632-F977-9475-4C04F9882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8283" y="1583695"/>
            <a:ext cx="9125867" cy="369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2740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CFB0A-BFA2-9350-A6AD-E08C293E3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10117190-7959-79CA-1E6B-0FF49E29D7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4894"/>
          <a:stretch>
            <a:fillRect/>
          </a:stretch>
        </p:blipFill>
        <p:spPr>
          <a:xfrm>
            <a:off x="577850" y="720687"/>
            <a:ext cx="3874408" cy="54166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E5A649-E8CA-BAA0-2887-6381BE32E2E8}"/>
              </a:ext>
            </a:extLst>
          </p:cNvPr>
          <p:cNvSpPr txBox="1">
            <a:spLocks/>
          </p:cNvSpPr>
          <p:nvPr/>
        </p:nvSpPr>
        <p:spPr>
          <a:xfrm>
            <a:off x="1098550" y="111088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3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Read </a:t>
            </a:r>
            <a:r>
              <a:rPr lang="nl-NL" sz="36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trimming</a:t>
            </a:r>
            <a:r>
              <a:rPr lang="nl-NL" sz="3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</a:t>
            </a:r>
            <a:r>
              <a:rPr lang="nl-NL" sz="36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fastp</a:t>
            </a:r>
            <a:endParaRPr lang="en-NL" sz="36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693754C-746A-7A05-BEF3-F4CFB65E05FD}"/>
              </a:ext>
            </a:extLst>
          </p:cNvPr>
          <p:cNvSpPr txBox="1">
            <a:spLocks/>
          </p:cNvSpPr>
          <p:nvPr/>
        </p:nvSpPr>
        <p:spPr>
          <a:xfrm>
            <a:off x="5084537" y="1425502"/>
            <a:ext cx="6008913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Removal of sequencing adapters</a:t>
            </a:r>
          </a:p>
          <a:p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Removal of (parts of) bad quality reads</a:t>
            </a:r>
          </a:p>
          <a:p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 gives you a new .fastq file! </a:t>
            </a:r>
          </a:p>
        </p:txBody>
      </p:sp>
    </p:spTree>
    <p:extLst>
      <p:ext uri="{BB962C8B-B14F-4D97-AF65-F5344CB8AC3E}">
        <p14:creationId xmlns:p14="http://schemas.microsoft.com/office/powerpoint/2010/main" val="12402047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AB9A8-03B7-DB33-4336-FE197DD02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13541-5BDE-BAB7-E61B-0E92E10C0BC1}"/>
              </a:ext>
            </a:extLst>
          </p:cNvPr>
          <p:cNvSpPr txBox="1">
            <a:spLocks/>
          </p:cNvSpPr>
          <p:nvPr/>
        </p:nvSpPr>
        <p:spPr>
          <a:xfrm>
            <a:off x="838200" y="276999"/>
            <a:ext cx="10515600" cy="93274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4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Read </a:t>
            </a:r>
            <a:r>
              <a:rPr lang="nl-NL" sz="40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mapping</a:t>
            </a:r>
            <a:r>
              <a:rPr lang="nl-NL" sz="4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STAR (or equivalent tools)</a:t>
            </a:r>
            <a:endParaRPr lang="en-NL" sz="40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721BAC7D-9D17-6F3D-26B8-5D2FC3F943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129" r="44314"/>
          <a:stretch>
            <a:fillRect/>
          </a:stretch>
        </p:blipFill>
        <p:spPr>
          <a:xfrm>
            <a:off x="331258" y="948732"/>
            <a:ext cx="3482788" cy="54166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5B7B79-19A3-56B0-C9E6-7A76D2F91C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8342" y="1855660"/>
            <a:ext cx="7772400" cy="31466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C3E5CB6-AC23-00E6-23BD-62A4DD272C11}"/>
              </a:ext>
            </a:extLst>
          </p:cNvPr>
          <p:cNvSpPr txBox="1"/>
          <p:nvPr/>
        </p:nvSpPr>
        <p:spPr>
          <a:xfrm>
            <a:off x="4278086" y="6581001"/>
            <a:ext cx="86867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1200" dirty="0"/>
              <a:t>https://training.galaxyproject.org/training-material/topics/sequence-analysis/tutorials/mapping/tutorial.html</a:t>
            </a:r>
          </a:p>
        </p:txBody>
      </p:sp>
    </p:spTree>
    <p:extLst>
      <p:ext uri="{BB962C8B-B14F-4D97-AF65-F5344CB8AC3E}">
        <p14:creationId xmlns:p14="http://schemas.microsoft.com/office/powerpoint/2010/main" val="24039180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0F8B1-7B23-0628-A682-FD337C3ACC59}"/>
              </a:ext>
            </a:extLst>
          </p:cNvPr>
          <p:cNvSpPr txBox="1">
            <a:spLocks/>
          </p:cNvSpPr>
          <p:nvPr/>
        </p:nvSpPr>
        <p:spPr>
          <a:xfrm>
            <a:off x="1210672" y="290937"/>
            <a:ext cx="10515600" cy="93274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3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Read </a:t>
            </a:r>
            <a:r>
              <a:rPr lang="nl-NL" sz="36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mapping</a:t>
            </a:r>
            <a:r>
              <a:rPr lang="nl-NL" sz="3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STAR (or equivalent tools)</a:t>
            </a:r>
            <a:endParaRPr lang="en-NL" sz="36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endParaRPr lang="en-NL" sz="3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D9354100-23CB-6830-B4B3-FBA1217ED5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129" r="44314"/>
          <a:stretch>
            <a:fillRect/>
          </a:stretch>
        </p:blipFill>
        <p:spPr>
          <a:xfrm>
            <a:off x="331258" y="948732"/>
            <a:ext cx="3482788" cy="5416625"/>
          </a:xfrm>
          <a:prstGeom prst="rect">
            <a:avLst/>
          </a:prstGeom>
        </p:spPr>
      </p:pic>
      <p:pic>
        <p:nvPicPr>
          <p:cNvPr id="4" name="object 3">
            <a:extLst>
              <a:ext uri="{FF2B5EF4-FFF2-40B4-BE49-F238E27FC236}">
                <a16:creationId xmlns:a16="http://schemas.microsoft.com/office/drawing/2014/main" id="{74F6EC86-0AA0-88EA-1755-9188A8ABA75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26629" y="952404"/>
            <a:ext cx="3465142" cy="2639896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34E46FE0-7E06-219C-6D34-5EEEE748914A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23858" y="3794006"/>
            <a:ext cx="4441371" cy="25713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04B77A-219C-BE30-8CCF-52FAD94A65AF}"/>
              </a:ext>
            </a:extLst>
          </p:cNvPr>
          <p:cNvSpPr txBox="1"/>
          <p:nvPr/>
        </p:nvSpPr>
        <p:spPr>
          <a:xfrm>
            <a:off x="5630272" y="6567063"/>
            <a:ext cx="6096000" cy="248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GB" sz="1200" spc="-10" dirty="0">
                <a:latin typeface="Calibri"/>
                <a:cs typeface="Calibri"/>
                <a:hlinkClick r:id="rId6"/>
              </a:rPr>
              <a:t>https://hbctraining.github.io/Intro-to-rnaseq-hpc-O2/lessons/03_alignment.html</a:t>
            </a:r>
            <a:endParaRPr lang="en-GB" sz="1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61449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diagram&#10;&#10;AI-generated content may be incorrect.">
            <a:extLst>
              <a:ext uri="{FF2B5EF4-FFF2-40B4-BE49-F238E27FC236}">
                <a16:creationId xmlns:a16="http://schemas.microsoft.com/office/drawing/2014/main" id="{C8DCBCA2-A0E2-FD3D-5E9F-30BF77EDB1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207" r="16655"/>
          <a:stretch>
            <a:fillRect/>
          </a:stretch>
        </p:blipFill>
        <p:spPr>
          <a:xfrm>
            <a:off x="161365" y="841711"/>
            <a:ext cx="4208930" cy="541662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C8838E2-4645-6915-66D7-F57855A00AF4}"/>
              </a:ext>
            </a:extLst>
          </p:cNvPr>
          <p:cNvSpPr/>
          <p:nvPr/>
        </p:nvSpPr>
        <p:spPr>
          <a:xfrm>
            <a:off x="2748323" y="2735796"/>
            <a:ext cx="1976077" cy="35365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DBEC56-50A4-16C5-792B-268F976D6E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9806" y="528697"/>
            <a:ext cx="6761581" cy="273744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2EC7E68-93D8-8749-2694-92FF1CD7E6D4}"/>
              </a:ext>
            </a:extLst>
          </p:cNvPr>
          <p:cNvSpPr/>
          <p:nvPr/>
        </p:nvSpPr>
        <p:spPr>
          <a:xfrm>
            <a:off x="5319482" y="3562116"/>
            <a:ext cx="1843714" cy="32451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6B5695-AB7D-69A0-1ECC-844A02DA9074}"/>
              </a:ext>
            </a:extLst>
          </p:cNvPr>
          <p:cNvSpPr/>
          <p:nvPr/>
        </p:nvSpPr>
        <p:spPr>
          <a:xfrm>
            <a:off x="7656481" y="3562115"/>
            <a:ext cx="2231571" cy="32451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537F91-7736-13FF-34B2-7E64AE19BD32}"/>
              </a:ext>
            </a:extLst>
          </p:cNvPr>
          <p:cNvSpPr txBox="1"/>
          <p:nvPr/>
        </p:nvSpPr>
        <p:spPr>
          <a:xfrm>
            <a:off x="5827683" y="3562115"/>
            <a:ext cx="939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1600" dirty="0"/>
              <a:t>Gene 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BCF54E-0BD3-A657-CD65-91485033EB38}"/>
              </a:ext>
            </a:extLst>
          </p:cNvPr>
          <p:cNvSpPr txBox="1"/>
          <p:nvPr/>
        </p:nvSpPr>
        <p:spPr>
          <a:xfrm>
            <a:off x="8353168" y="3562115"/>
            <a:ext cx="939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1600" dirty="0"/>
              <a:t>Gene 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83C2C3-23CE-B95B-6954-4A9EA29C38AA}"/>
              </a:ext>
            </a:extLst>
          </p:cNvPr>
          <p:cNvSpPr txBox="1"/>
          <p:nvPr/>
        </p:nvSpPr>
        <p:spPr>
          <a:xfrm>
            <a:off x="3949181" y="3407229"/>
            <a:ext cx="13355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1600" dirty="0"/>
              <a:t>Genome annotation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32FCED7-13B6-61F9-D2C0-8A175AA56054}"/>
              </a:ext>
            </a:extLst>
          </p:cNvPr>
          <p:cNvCxnSpPr>
            <a:cxnSpLocks/>
          </p:cNvCxnSpPr>
          <p:nvPr/>
        </p:nvCxnSpPr>
        <p:spPr>
          <a:xfrm>
            <a:off x="4826197" y="4186298"/>
            <a:ext cx="64443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C48200C-DC99-C5B5-8303-95F813F881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21437"/>
              </p:ext>
            </p:extLst>
          </p:nvPr>
        </p:nvGraphicFramePr>
        <p:xfrm>
          <a:off x="4370295" y="4705187"/>
          <a:ext cx="6894287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66480451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65864682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73447232"/>
                    </a:ext>
                  </a:extLst>
                </a:gridCol>
                <a:gridCol w="482602">
                  <a:extLst>
                    <a:ext uri="{9D8B030D-6E8A-4147-A177-3AD203B41FA5}">
                      <a16:colId xmlns:a16="http://schemas.microsoft.com/office/drawing/2014/main" val="309506056"/>
                    </a:ext>
                  </a:extLst>
                </a:gridCol>
                <a:gridCol w="1534885">
                  <a:extLst>
                    <a:ext uri="{9D8B030D-6E8A-4147-A177-3AD203B41FA5}">
                      <a16:colId xmlns:a16="http://schemas.microsoft.com/office/drawing/2014/main" val="26718594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</a:t>
                      </a:r>
                      <a:r>
                        <a:rPr lang="en-NL" dirty="0"/>
                        <a:t>ample1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</a:t>
                      </a:r>
                      <a:r>
                        <a:rPr lang="en-NL" dirty="0"/>
                        <a:t>ample2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sample 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158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Gene X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335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L" dirty="0"/>
                        <a:t>Gene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1625839"/>
                  </a:ext>
                </a:extLst>
              </a:tr>
              <a:tr h="177288">
                <a:tc>
                  <a:txBody>
                    <a:bodyPr/>
                    <a:lstStyle/>
                    <a:p>
                      <a:r>
                        <a:rPr lang="en-NL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268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L" dirty="0"/>
                        <a:t>Gene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2937890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E3F2ABDF-4F1B-E0D8-7252-BD85843C8194}"/>
              </a:ext>
            </a:extLst>
          </p:cNvPr>
          <p:cNvSpPr txBox="1"/>
          <p:nvPr/>
        </p:nvSpPr>
        <p:spPr>
          <a:xfrm>
            <a:off x="3304692" y="5455575"/>
            <a:ext cx="9638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1600" dirty="0"/>
              <a:t>1000s of genes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49DEE2-3311-A0A0-642F-603EC05F4F62}"/>
              </a:ext>
            </a:extLst>
          </p:cNvPr>
          <p:cNvSpPr txBox="1"/>
          <p:nvPr/>
        </p:nvSpPr>
        <p:spPr>
          <a:xfrm>
            <a:off x="6971572" y="4380593"/>
            <a:ext cx="2916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1600" dirty="0"/>
              <a:t>10s to 100s of samples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5C5FA98-FE91-C4B8-C76E-71BABA8B3238}"/>
              </a:ext>
            </a:extLst>
          </p:cNvPr>
          <p:cNvSpPr txBox="1">
            <a:spLocks/>
          </p:cNvSpPr>
          <p:nvPr/>
        </p:nvSpPr>
        <p:spPr>
          <a:xfrm>
            <a:off x="302668" y="133291"/>
            <a:ext cx="10515600" cy="93274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nl-NL" sz="36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Counting</a:t>
            </a:r>
            <a:r>
              <a:rPr lang="nl-NL" sz="3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</a:t>
            </a:r>
            <a:r>
              <a:rPr lang="nl-NL" sz="36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featureCounts</a:t>
            </a:r>
            <a:endParaRPr lang="en-NL" sz="36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2855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/>
      <p:bldP spid="9" grpId="0"/>
      <p:bldP spid="14" grpId="0"/>
      <p:bldP spid="1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A36F319-72AA-7387-FBA1-4B47FE4247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664398"/>
              </p:ext>
            </p:extLst>
          </p:nvPr>
        </p:nvGraphicFramePr>
        <p:xfrm>
          <a:off x="2648856" y="1579880"/>
          <a:ext cx="6894287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66480451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65864682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73447232"/>
                    </a:ext>
                  </a:extLst>
                </a:gridCol>
                <a:gridCol w="482602">
                  <a:extLst>
                    <a:ext uri="{9D8B030D-6E8A-4147-A177-3AD203B41FA5}">
                      <a16:colId xmlns:a16="http://schemas.microsoft.com/office/drawing/2014/main" val="309506056"/>
                    </a:ext>
                  </a:extLst>
                </a:gridCol>
                <a:gridCol w="1534885">
                  <a:extLst>
                    <a:ext uri="{9D8B030D-6E8A-4147-A177-3AD203B41FA5}">
                      <a16:colId xmlns:a16="http://schemas.microsoft.com/office/drawing/2014/main" val="26718594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</a:t>
                      </a:r>
                      <a:r>
                        <a:rPr lang="en-NL" dirty="0"/>
                        <a:t>ample1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</a:t>
                      </a:r>
                      <a:r>
                        <a:rPr lang="en-NL" dirty="0"/>
                        <a:t>ample2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sample 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158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7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335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L" dirty="0"/>
                        <a:t>Gene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1625839"/>
                  </a:ext>
                </a:extLst>
              </a:tr>
              <a:tr h="177288">
                <a:tc>
                  <a:txBody>
                    <a:bodyPr/>
                    <a:lstStyle/>
                    <a:p>
                      <a:r>
                        <a:rPr lang="en-NL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268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L" dirty="0"/>
                        <a:t>Gene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293789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D763B57-17C2-594E-E5E1-FFE4FF46FF74}"/>
              </a:ext>
            </a:extLst>
          </p:cNvPr>
          <p:cNvSpPr txBox="1"/>
          <p:nvPr/>
        </p:nvSpPr>
        <p:spPr>
          <a:xfrm>
            <a:off x="1583253" y="2330268"/>
            <a:ext cx="9638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1600" dirty="0"/>
              <a:t>1000s of genes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87FEDF-A059-518F-8470-49419AA66010}"/>
              </a:ext>
            </a:extLst>
          </p:cNvPr>
          <p:cNvSpPr txBox="1"/>
          <p:nvPr/>
        </p:nvSpPr>
        <p:spPr>
          <a:xfrm>
            <a:off x="5250133" y="1255286"/>
            <a:ext cx="2916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1600" dirty="0"/>
              <a:t>10s to 100s of samples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947F429-18AD-8B2A-9558-F6A0AE23937C}"/>
              </a:ext>
            </a:extLst>
          </p:cNvPr>
          <p:cNvSpPr txBox="1">
            <a:spLocks/>
          </p:cNvSpPr>
          <p:nvPr/>
        </p:nvSpPr>
        <p:spPr>
          <a:xfrm>
            <a:off x="532413" y="4176669"/>
            <a:ext cx="11387444" cy="123242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 gene X higher expressed in Sample2 than in Sample1?</a:t>
            </a:r>
          </a:p>
          <a:p>
            <a:pPr lvl="1"/>
            <a:r>
              <a:rPr lang="en-NL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No, </a:t>
            </a:r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we just sequenced way more reads in sample2.</a:t>
            </a:r>
          </a:p>
          <a:p>
            <a:pPr lvl="1"/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absolute number of reads needs to be </a:t>
            </a:r>
            <a:r>
              <a:rPr lang="en-NL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normalized</a:t>
            </a:r>
            <a:endParaRPr lang="en-NL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0D0737D-B473-BE2C-CFD3-DD9CFFE42EBF}"/>
              </a:ext>
            </a:extLst>
          </p:cNvPr>
          <p:cNvSpPr txBox="1">
            <a:spLocks/>
          </p:cNvSpPr>
          <p:nvPr/>
        </p:nvSpPr>
        <p:spPr>
          <a:xfrm>
            <a:off x="838199" y="300338"/>
            <a:ext cx="10515600" cy="93274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nl-NL" sz="3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RNA-</a:t>
            </a:r>
            <a:r>
              <a:rPr lang="nl-NL" sz="36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seq</a:t>
            </a:r>
            <a:r>
              <a:rPr lang="nl-NL" sz="3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data </a:t>
            </a:r>
            <a:r>
              <a:rPr lang="nl-NL" sz="36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challenges</a:t>
            </a:r>
            <a:r>
              <a:rPr lang="nl-NL" sz="3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</a:t>
            </a:r>
            <a:r>
              <a:rPr lang="nl-NL" sz="36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library</a:t>
            </a:r>
            <a:r>
              <a:rPr lang="nl-NL" sz="3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6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size</a:t>
            </a:r>
            <a:endParaRPr lang="en-NL" sz="36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2840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96AB1A-F287-7789-8742-CFC1ABC09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1DD9168-FF6E-C3DA-BD7A-C8DF4C80ECFF}"/>
              </a:ext>
            </a:extLst>
          </p:cNvPr>
          <p:cNvSpPr txBox="1">
            <a:spLocks/>
          </p:cNvSpPr>
          <p:nvPr/>
        </p:nvSpPr>
        <p:spPr>
          <a:xfrm>
            <a:off x="838200" y="184805"/>
            <a:ext cx="10515600" cy="15058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RNA-seq data challenges: highly expressed genes tend to have a higher variation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F4E731-18AE-8950-9CF7-69CC32B27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286" y="1690688"/>
            <a:ext cx="9223427" cy="4450303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0EEF12D-92E2-707C-CCC3-ED4A4D8CE4AA}"/>
              </a:ext>
            </a:extLst>
          </p:cNvPr>
          <p:cNvSpPr txBox="1">
            <a:spLocks/>
          </p:cNvSpPr>
          <p:nvPr/>
        </p:nvSpPr>
        <p:spPr>
          <a:xfrm>
            <a:off x="532413" y="4176669"/>
            <a:ext cx="11387444" cy="123242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NL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5922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ADDE6-E7AA-D224-20C9-A80FA3686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L" sz="4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RNA-seq data challenges: there are many many genes!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CCDCEBB-D635-1DA8-013D-140F5ADB0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4572"/>
            <a:ext cx="10995558" cy="4351338"/>
          </a:xfrm>
        </p:spPr>
        <p:txBody>
          <a:bodyPr/>
          <a:lstStyle/>
          <a:p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 an RNA-seq experiment, you will measure the expression of 1000s of genes</a:t>
            </a:r>
          </a:p>
          <a:p>
            <a:pPr lvl="1"/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Risk of </a:t>
            </a:r>
            <a:r>
              <a:rPr lang="en-NL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false positives </a:t>
            </a:r>
            <a:endParaRPr lang="en-NL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endParaRPr lang="en-NL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Essentially, we try to answer the question ”</a:t>
            </a:r>
            <a:r>
              <a:rPr lang="en-NL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</a:t>
            </a:r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NL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Gene x differentially expressed and higher in treatment y than treatment z?” </a:t>
            </a:r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many times</a:t>
            </a:r>
          </a:p>
        </p:txBody>
      </p:sp>
    </p:spTree>
    <p:extLst>
      <p:ext uri="{BB962C8B-B14F-4D97-AF65-F5344CB8AC3E}">
        <p14:creationId xmlns:p14="http://schemas.microsoft.com/office/powerpoint/2010/main" val="89991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E7D06-B60F-58D4-8FD6-2E766EAA8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2ACB23F-B3CA-2BF6-C3A1-4D0AF93482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5017"/>
          <a:stretch>
            <a:fillRect/>
          </a:stretch>
        </p:blipFill>
        <p:spPr>
          <a:xfrm>
            <a:off x="1319182" y="1516743"/>
            <a:ext cx="4078458" cy="4351338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1B18A3E-099E-79D8-5F16-694A690E311E}"/>
              </a:ext>
            </a:extLst>
          </p:cNvPr>
          <p:cNvCxnSpPr>
            <a:cxnSpLocks/>
          </p:cNvCxnSpPr>
          <p:nvPr/>
        </p:nvCxnSpPr>
        <p:spPr>
          <a:xfrm flipH="1">
            <a:off x="5208814" y="2140178"/>
            <a:ext cx="141514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A0832BD-DDB3-CF20-908D-148D6E9CD241}"/>
              </a:ext>
            </a:extLst>
          </p:cNvPr>
          <p:cNvSpPr txBox="1">
            <a:spLocks/>
          </p:cNvSpPr>
          <p:nvPr/>
        </p:nvSpPr>
        <p:spPr>
          <a:xfrm>
            <a:off x="6819900" y="1690687"/>
            <a:ext cx="5110074" cy="15678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Median: measure of </a:t>
            </a:r>
            <a:r>
              <a:rPr lang="en-NL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central tendency</a:t>
            </a:r>
          </a:p>
          <a:p>
            <a:pPr marL="0" indent="0">
              <a:buNone/>
            </a:pPr>
            <a:r>
              <a:rPr lang="en-NL" dirty="0">
                <a:solidFill>
                  <a:schemeClr val="bg1">
                    <a:lumMod val="6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Alternative: ?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B6998445-ECB9-2EC2-1CAB-3E27ED46718F}"/>
              </a:ext>
            </a:extLst>
          </p:cNvPr>
          <p:cNvSpPr/>
          <p:nvPr/>
        </p:nvSpPr>
        <p:spPr>
          <a:xfrm>
            <a:off x="3630386" y="3555320"/>
            <a:ext cx="174171" cy="555172"/>
          </a:xfrm>
          <a:prstGeom prst="rightBrac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D005322-9CB5-93CA-29EB-10D3A1FA76C0}"/>
              </a:ext>
            </a:extLst>
          </p:cNvPr>
          <p:cNvSpPr txBox="1">
            <a:spLocks/>
          </p:cNvSpPr>
          <p:nvPr/>
        </p:nvSpPr>
        <p:spPr>
          <a:xfrm>
            <a:off x="3868616" y="3599464"/>
            <a:ext cx="5110074" cy="1477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Quantiles: measure of </a:t>
            </a:r>
            <a:r>
              <a:rPr lang="en-NL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spread</a:t>
            </a:r>
          </a:p>
          <a:p>
            <a:pPr marL="0" indent="0">
              <a:buNone/>
            </a:pPr>
            <a:r>
              <a:rPr lang="en-NL" dirty="0">
                <a:solidFill>
                  <a:schemeClr val="bg1">
                    <a:lumMod val="6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Alternative: ?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B092916-95F8-9F72-F5C2-5E0CAE7CC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500799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CA37D-3AE8-D8C6-0DA8-997CB6468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0942898-4DB8-D902-6D19-8C2450A369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5017"/>
          <a:stretch>
            <a:fillRect/>
          </a:stretch>
        </p:blipFill>
        <p:spPr>
          <a:xfrm>
            <a:off x="1319182" y="1516743"/>
            <a:ext cx="4078458" cy="4351338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61C0087-0976-0D96-07EF-ACBDE00EB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E52A0A04-F000-8C9A-E363-50DFF0E0C8E6}"/>
              </a:ext>
            </a:extLst>
          </p:cNvPr>
          <p:cNvSpPr/>
          <p:nvPr/>
        </p:nvSpPr>
        <p:spPr>
          <a:xfrm>
            <a:off x="5207140" y="2198760"/>
            <a:ext cx="355460" cy="1622125"/>
          </a:xfrm>
          <a:prstGeom prst="rightBrac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7323ECE-31B6-6F0C-847E-F2D8EC046CC3}"/>
              </a:ext>
            </a:extLst>
          </p:cNvPr>
          <p:cNvSpPr txBox="1">
            <a:spLocks/>
          </p:cNvSpPr>
          <p:nvPr/>
        </p:nvSpPr>
        <p:spPr>
          <a:xfrm>
            <a:off x="6096000" y="2690037"/>
            <a:ext cx="5110074" cy="1477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Fold change: how far are the group means apart from each other?</a:t>
            </a:r>
            <a:endParaRPr lang="en-NL" dirty="0">
              <a:solidFill>
                <a:schemeClr val="bg1">
                  <a:lumMod val="6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98082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09F82-75E6-4726-FA5E-A788E93CF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163ECD4-EC0D-85FB-6773-40BC0BD629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5017"/>
          <a:stretch>
            <a:fillRect/>
          </a:stretch>
        </p:blipFill>
        <p:spPr>
          <a:xfrm>
            <a:off x="1319182" y="1516743"/>
            <a:ext cx="4078458" cy="4351338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782E8522-969C-D62E-00EF-C5560E0F3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9655170-2675-2FE6-90EE-826217C26A80}"/>
              </a:ext>
            </a:extLst>
          </p:cNvPr>
          <p:cNvSpPr txBox="1">
            <a:spLocks/>
          </p:cNvSpPr>
          <p:nvPr/>
        </p:nvSpPr>
        <p:spPr>
          <a:xfrm>
            <a:off x="6096000" y="758825"/>
            <a:ext cx="573878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 this difference </a:t>
            </a:r>
            <a:r>
              <a:rPr lang="en-NL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significant?</a:t>
            </a:r>
            <a:endParaRPr lang="en-NL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endParaRPr lang="en-NL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</a:t>
            </a:r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-test / GLM / ….  gives p-value</a:t>
            </a:r>
          </a:p>
          <a:p>
            <a:endParaRPr lang="en-NL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</a:t>
            </a:r>
            <a:r>
              <a:rPr lang="en-NL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power </a:t>
            </a:r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a statistical test depends on:</a:t>
            </a:r>
          </a:p>
          <a:p>
            <a:pPr lvl="1"/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</a:t>
            </a:r>
            <a:r>
              <a:rPr lang="en-NL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spread</a:t>
            </a:r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in the data</a:t>
            </a:r>
          </a:p>
          <a:p>
            <a:pPr lvl="1"/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</a:t>
            </a:r>
            <a:r>
              <a:rPr lang="en-NL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effect size </a:t>
            </a:r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(log2 fold change)</a:t>
            </a:r>
          </a:p>
          <a:p>
            <a:pPr lvl="1"/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number of replicates</a:t>
            </a:r>
          </a:p>
          <a:p>
            <a:pPr lvl="1"/>
            <a:endParaRPr lang="en-NL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3678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FBA076-2A47-4536-9836-6D1AF85C8789}"/>
              </a:ext>
            </a:extLst>
          </p:cNvPr>
          <p:cNvSpPr txBox="1"/>
          <p:nvPr/>
        </p:nvSpPr>
        <p:spPr>
          <a:xfrm>
            <a:off x="464842" y="251022"/>
            <a:ext cx="60944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4000" b="1" i="0" dirty="0">
                <a:solidFill>
                  <a:srgbClr val="333333"/>
                </a:solidFill>
                <a:effectLst/>
                <a:latin typeface="Helvetica Neue"/>
              </a:rPr>
              <a:t>Type I and type II errors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62B1A6-08FB-4F3C-9903-CA05009860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8524"/>
          <a:stretch/>
        </p:blipFill>
        <p:spPr>
          <a:xfrm>
            <a:off x="655162" y="1103985"/>
            <a:ext cx="6687747" cy="550299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8D903D0-0014-4BD7-AE82-560A376FAF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670"/>
          <a:stretch/>
        </p:blipFill>
        <p:spPr>
          <a:xfrm>
            <a:off x="7342909" y="1103985"/>
            <a:ext cx="4278530" cy="550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182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DA695E-3B2C-AAE4-5D20-81941CDD7427}"/>
              </a:ext>
            </a:extLst>
          </p:cNvPr>
          <p:cNvSpPr txBox="1"/>
          <p:nvPr/>
        </p:nvSpPr>
        <p:spPr>
          <a:xfrm>
            <a:off x="1833775" y="577988"/>
            <a:ext cx="852444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i="0" dirty="0">
                <a:solidFill>
                  <a:srgbClr val="333333"/>
                </a:solidFill>
                <a:effectLst/>
                <a:latin typeface="Helvetica Neue"/>
              </a:rPr>
              <a:t>Power analysis for RNA-</a:t>
            </a:r>
            <a:r>
              <a:rPr lang="en-GB" sz="4000" b="1" i="0" dirty="0" err="1">
                <a:solidFill>
                  <a:srgbClr val="333333"/>
                </a:solidFill>
                <a:effectLst/>
                <a:latin typeface="Helvetica Neue"/>
              </a:rPr>
              <a:t>seq</a:t>
            </a:r>
            <a:endParaRPr lang="en-GB" sz="4000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44CD68-500E-51A5-1E06-A3578994074B}"/>
              </a:ext>
            </a:extLst>
          </p:cNvPr>
          <p:cNvSpPr txBox="1"/>
          <p:nvPr/>
        </p:nvSpPr>
        <p:spPr>
          <a:xfrm>
            <a:off x="1469336" y="2828835"/>
            <a:ext cx="92533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dirty="0">
                <a:solidFill>
                  <a:srgbClr val="333333"/>
                </a:solidFill>
                <a:latin typeface="Helvetica Neue"/>
              </a:rPr>
              <a:t>https://</a:t>
            </a:r>
            <a:r>
              <a:rPr lang="en-GB" sz="3600" dirty="0" err="1">
                <a:solidFill>
                  <a:srgbClr val="333333"/>
                </a:solidFill>
                <a:latin typeface="Helvetica Neue"/>
              </a:rPr>
              <a:t>rnaseq-power.serve.scilifelab.se</a:t>
            </a:r>
            <a:r>
              <a:rPr lang="en-GB" sz="3600" dirty="0">
                <a:solidFill>
                  <a:srgbClr val="333333"/>
                </a:solidFill>
                <a:latin typeface="Helvetica Neue"/>
              </a:rPr>
              <a:t>/app/</a:t>
            </a:r>
            <a:r>
              <a:rPr lang="en-GB" sz="3600" dirty="0" err="1">
                <a:solidFill>
                  <a:srgbClr val="333333"/>
                </a:solidFill>
                <a:latin typeface="Helvetica Neue"/>
              </a:rPr>
              <a:t>rnaseq</a:t>
            </a:r>
            <a:r>
              <a:rPr lang="en-GB" sz="3600" dirty="0">
                <a:solidFill>
                  <a:srgbClr val="333333"/>
                </a:solidFill>
                <a:latin typeface="Helvetica Neue"/>
              </a:rPr>
              <a:t>-power</a:t>
            </a:r>
            <a:endParaRPr lang="en-GB" sz="3600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8605755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0CEA02-2F5C-560F-4CDC-5BEF40A50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0213" y="1549027"/>
            <a:ext cx="6383787" cy="50833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7E14B7-479E-397F-87B5-FC85857BBFB9}"/>
              </a:ext>
            </a:extLst>
          </p:cNvPr>
          <p:cNvSpPr txBox="1"/>
          <p:nvPr/>
        </p:nvSpPr>
        <p:spPr>
          <a:xfrm>
            <a:off x="880553" y="225588"/>
            <a:ext cx="1043089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i="0" dirty="0">
                <a:solidFill>
                  <a:srgbClr val="333333"/>
                </a:solidFill>
                <a:effectLst/>
                <a:latin typeface="Helvetica Neue"/>
              </a:rPr>
              <a:t>This is not just theoretical: results from down-sampled experiment</a:t>
            </a:r>
          </a:p>
        </p:txBody>
      </p:sp>
    </p:spTree>
    <p:extLst>
      <p:ext uri="{BB962C8B-B14F-4D97-AF65-F5344CB8AC3E}">
        <p14:creationId xmlns:p14="http://schemas.microsoft.com/office/powerpoint/2010/main" val="136122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A55C0-2DC0-5011-553D-B27BE6EC8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8E41F84-2B6A-FC79-C2A1-FBED512BDE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5017"/>
          <a:stretch>
            <a:fillRect/>
          </a:stretch>
        </p:blipFill>
        <p:spPr>
          <a:xfrm>
            <a:off x="383010" y="1821543"/>
            <a:ext cx="4078458" cy="4351338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17C7EA40-8226-C605-0772-8BBF52FF3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1564"/>
            <a:ext cx="10744200" cy="1325563"/>
          </a:xfrm>
        </p:spPr>
        <p:txBody>
          <a:bodyPr>
            <a:normAutofit/>
          </a:bodyPr>
          <a:lstStyle/>
          <a:p>
            <a:r>
              <a:rPr lang="en-NL" sz="3600" b="1" dirty="0"/>
              <a:t>Between two conditions, we can visualize all differentially expressed genes in a volcano plot</a:t>
            </a: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70D9B8FB-1884-0C48-55FE-2DD113C9ECF0}"/>
              </a:ext>
            </a:extLst>
          </p:cNvPr>
          <p:cNvSpPr/>
          <p:nvPr/>
        </p:nvSpPr>
        <p:spPr>
          <a:xfrm>
            <a:off x="4106008" y="2413109"/>
            <a:ext cx="355460" cy="1622125"/>
          </a:xfrm>
          <a:prstGeom prst="rightBrac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53CEE43-530C-3CEF-FB97-D81BBFE6945A}"/>
              </a:ext>
            </a:extLst>
          </p:cNvPr>
          <p:cNvSpPr txBox="1">
            <a:spLocks/>
          </p:cNvSpPr>
          <p:nvPr/>
        </p:nvSpPr>
        <p:spPr>
          <a:xfrm>
            <a:off x="4562791" y="2788009"/>
            <a:ext cx="3167743" cy="1477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Fold change </a:t>
            </a:r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and stat test </a:t>
            </a:r>
            <a:r>
              <a:rPr lang="en-NL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p-value</a:t>
            </a:r>
            <a:endParaRPr lang="en-NL" i="1" dirty="0">
              <a:solidFill>
                <a:schemeClr val="bg1">
                  <a:lumMod val="6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2B9DA1A-944B-2B4A-5801-2D165B34A732}"/>
              </a:ext>
            </a:extLst>
          </p:cNvPr>
          <p:cNvSpPr txBox="1">
            <a:spLocks/>
          </p:cNvSpPr>
          <p:nvPr/>
        </p:nvSpPr>
        <p:spPr>
          <a:xfrm>
            <a:off x="8184466" y="2951294"/>
            <a:ext cx="3167743" cy="1477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X</a:t>
            </a:r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20,000 genes</a:t>
            </a:r>
            <a:endParaRPr lang="en-NL" dirty="0">
              <a:solidFill>
                <a:schemeClr val="bg1">
                  <a:lumMod val="6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2302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F2A46FC-A8BE-4771-BE51-D9123E9185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2612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4400B1F-972D-9B9E-A8BB-988BCAC252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5867"/>
          <a:stretch>
            <a:fillRect/>
          </a:stretch>
        </p:blipFill>
        <p:spPr>
          <a:xfrm>
            <a:off x="614266" y="985459"/>
            <a:ext cx="10960420" cy="5792694"/>
          </a:xfrm>
          <a:custGeom>
            <a:avLst/>
            <a:gdLst/>
            <a:ahLst/>
            <a:cxnLst/>
            <a:rect l="l" t="t" r="r" b="b"/>
            <a:pathLst>
              <a:path w="10485104" h="5523506">
                <a:moveTo>
                  <a:pt x="5949681" y="536"/>
                </a:moveTo>
                <a:cubicBezTo>
                  <a:pt x="6074035" y="-2131"/>
                  <a:pt x="6198411" y="5173"/>
                  <a:pt x="6321822" y="22405"/>
                </a:cubicBezTo>
                <a:cubicBezTo>
                  <a:pt x="6498937" y="51493"/>
                  <a:pt x="6677824" y="73364"/>
                  <a:pt x="6857694" y="55210"/>
                </a:cubicBezTo>
                <a:cubicBezTo>
                  <a:pt x="6981675" y="42526"/>
                  <a:pt x="7105459" y="35089"/>
                  <a:pt x="7230031" y="35528"/>
                </a:cubicBezTo>
                <a:cubicBezTo>
                  <a:pt x="7516370" y="35528"/>
                  <a:pt x="7802902" y="38152"/>
                  <a:pt x="8089242" y="32684"/>
                </a:cubicBezTo>
                <a:cubicBezTo>
                  <a:pt x="8344090" y="27873"/>
                  <a:pt x="8597956" y="17377"/>
                  <a:pt x="8853003" y="43837"/>
                </a:cubicBezTo>
                <a:cubicBezTo>
                  <a:pt x="9229472" y="82767"/>
                  <a:pt x="9607909" y="70300"/>
                  <a:pt x="9985559" y="65708"/>
                </a:cubicBezTo>
                <a:cubicBezTo>
                  <a:pt x="10083101" y="64320"/>
                  <a:pt x="10180599" y="61132"/>
                  <a:pt x="10278047" y="56140"/>
                </a:cubicBezTo>
                <a:lnTo>
                  <a:pt x="10449151" y="44199"/>
                </a:lnTo>
                <a:lnTo>
                  <a:pt x="10468533" y="198724"/>
                </a:lnTo>
                <a:cubicBezTo>
                  <a:pt x="10475933" y="234109"/>
                  <a:pt x="10480462" y="270161"/>
                  <a:pt x="10482057" y="306442"/>
                </a:cubicBezTo>
                <a:cubicBezTo>
                  <a:pt x="10492136" y="438884"/>
                  <a:pt x="10475168" y="569479"/>
                  <a:pt x="10461007" y="700359"/>
                </a:cubicBezTo>
                <a:cubicBezTo>
                  <a:pt x="10451566" y="783776"/>
                  <a:pt x="10437150" y="868045"/>
                  <a:pt x="10461007" y="950608"/>
                </a:cubicBezTo>
                <a:cubicBezTo>
                  <a:pt x="10477350" y="1008147"/>
                  <a:pt x="10480985" y="1069224"/>
                  <a:pt x="10471595" y="1128666"/>
                </a:cubicBezTo>
                <a:cubicBezTo>
                  <a:pt x="10455763" y="1234166"/>
                  <a:pt x="10452459" y="1341527"/>
                  <a:pt x="10461772" y="1447979"/>
                </a:cubicBezTo>
                <a:cubicBezTo>
                  <a:pt x="10467921" y="1518165"/>
                  <a:pt x="10466977" y="1588906"/>
                  <a:pt x="10458965" y="1658865"/>
                </a:cubicBezTo>
                <a:cubicBezTo>
                  <a:pt x="10448377" y="1752939"/>
                  <a:pt x="10431919" y="1848719"/>
                  <a:pt x="10451949" y="1943076"/>
                </a:cubicBezTo>
                <a:cubicBezTo>
                  <a:pt x="10483843" y="2092999"/>
                  <a:pt x="10477464" y="2242779"/>
                  <a:pt x="10464706" y="2393837"/>
                </a:cubicBezTo>
                <a:cubicBezTo>
                  <a:pt x="10455138" y="2506243"/>
                  <a:pt x="10444549" y="2619928"/>
                  <a:pt x="10463686" y="2733613"/>
                </a:cubicBezTo>
                <a:cubicBezTo>
                  <a:pt x="10471914" y="2786362"/>
                  <a:pt x="10471914" y="2840306"/>
                  <a:pt x="10463686" y="2893056"/>
                </a:cubicBezTo>
                <a:cubicBezTo>
                  <a:pt x="10453735" y="2964109"/>
                  <a:pt x="10444294" y="3034452"/>
                  <a:pt x="10457052" y="3106215"/>
                </a:cubicBezTo>
                <a:cubicBezTo>
                  <a:pt x="10462665" y="3137479"/>
                  <a:pt x="10466875" y="3169026"/>
                  <a:pt x="10469810" y="3200574"/>
                </a:cubicBezTo>
                <a:cubicBezTo>
                  <a:pt x="10475653" y="3281119"/>
                  <a:pt x="10473561" y="3362120"/>
                  <a:pt x="10463559" y="3442154"/>
                </a:cubicBezTo>
                <a:cubicBezTo>
                  <a:pt x="10453990" y="3535091"/>
                  <a:pt x="10469554" y="3628597"/>
                  <a:pt x="10456797" y="3721250"/>
                </a:cubicBezTo>
                <a:cubicBezTo>
                  <a:pt x="10447738" y="3795870"/>
                  <a:pt x="10447394" y="3871485"/>
                  <a:pt x="10455776" y="3946204"/>
                </a:cubicBezTo>
                <a:cubicBezTo>
                  <a:pt x="10470855" y="4087457"/>
                  <a:pt x="10469912" y="4230260"/>
                  <a:pt x="10452970" y="4371244"/>
                </a:cubicBezTo>
                <a:cubicBezTo>
                  <a:pt x="10442508" y="4453523"/>
                  <a:pt x="10436512" y="4538218"/>
                  <a:pt x="10455266" y="4618934"/>
                </a:cubicBezTo>
                <a:cubicBezTo>
                  <a:pt x="10499408" y="4808646"/>
                  <a:pt x="10473637" y="4998642"/>
                  <a:pt x="10455266" y="5187359"/>
                </a:cubicBezTo>
                <a:cubicBezTo>
                  <a:pt x="10444103" y="5288708"/>
                  <a:pt x="10443847" y="5391181"/>
                  <a:pt x="10454500" y="5492602"/>
                </a:cubicBezTo>
                <a:lnTo>
                  <a:pt x="10454510" y="5492731"/>
                </a:lnTo>
                <a:lnTo>
                  <a:pt x="10414967" y="5491139"/>
                </a:lnTo>
                <a:cubicBezTo>
                  <a:pt x="10117611" y="5495732"/>
                  <a:pt x="9820450" y="5526349"/>
                  <a:pt x="9523092" y="5507105"/>
                </a:cubicBezTo>
                <a:cubicBezTo>
                  <a:pt x="9272964" y="5490920"/>
                  <a:pt x="9023034" y="5477142"/>
                  <a:pt x="8772711" y="5490483"/>
                </a:cubicBezTo>
                <a:cubicBezTo>
                  <a:pt x="8636774" y="5499549"/>
                  <a:pt x="8500636" y="5503107"/>
                  <a:pt x="8364561" y="5501172"/>
                </a:cubicBezTo>
                <a:lnTo>
                  <a:pt x="8196562" y="5491993"/>
                </a:lnTo>
                <a:lnTo>
                  <a:pt x="8077075" y="5475562"/>
                </a:lnTo>
                <a:lnTo>
                  <a:pt x="7915670" y="5468917"/>
                </a:lnTo>
                <a:lnTo>
                  <a:pt x="7914092" y="5467957"/>
                </a:lnTo>
                <a:lnTo>
                  <a:pt x="7894412" y="5467957"/>
                </a:lnTo>
                <a:lnTo>
                  <a:pt x="7892834" y="5468758"/>
                </a:lnTo>
                <a:lnTo>
                  <a:pt x="7727602" y="5475562"/>
                </a:lnTo>
                <a:lnTo>
                  <a:pt x="7690606" y="5480649"/>
                </a:lnTo>
                <a:lnTo>
                  <a:pt x="7624212" y="5484579"/>
                </a:lnTo>
                <a:cubicBezTo>
                  <a:pt x="7434738" y="5508001"/>
                  <a:pt x="7243868" y="5514147"/>
                  <a:pt x="7053506" y="5502949"/>
                </a:cubicBezTo>
                <a:cubicBezTo>
                  <a:pt x="6777009" y="5485453"/>
                  <a:pt x="6500117" y="5474737"/>
                  <a:pt x="6223029" y="5498574"/>
                </a:cubicBezTo>
                <a:cubicBezTo>
                  <a:pt x="6065592" y="5511916"/>
                  <a:pt x="5908157" y="5526131"/>
                  <a:pt x="5750720" y="5507761"/>
                </a:cubicBezTo>
                <a:cubicBezTo>
                  <a:pt x="5616170" y="5490965"/>
                  <a:pt x="5480520" y="5488253"/>
                  <a:pt x="5345518" y="5499668"/>
                </a:cubicBezTo>
                <a:cubicBezTo>
                  <a:pt x="5197844" y="5511040"/>
                  <a:pt x="5049616" y="5511040"/>
                  <a:pt x="4901942" y="5499668"/>
                </a:cubicBezTo>
                <a:cubicBezTo>
                  <a:pt x="4760445" y="5490920"/>
                  <a:pt x="4618556" y="5476268"/>
                  <a:pt x="4477454" y="5492013"/>
                </a:cubicBezTo>
                <a:cubicBezTo>
                  <a:pt x="4279085" y="5513884"/>
                  <a:pt x="4081305" y="5506667"/>
                  <a:pt x="3883329" y="5493326"/>
                </a:cubicBezTo>
                <a:cubicBezTo>
                  <a:pt x="3719792" y="5482391"/>
                  <a:pt x="3555664" y="5466425"/>
                  <a:pt x="3392914" y="5492233"/>
                </a:cubicBezTo>
                <a:cubicBezTo>
                  <a:pt x="3175771" y="5523222"/>
                  <a:pt x="2956480" y="5531206"/>
                  <a:pt x="2737979" y="5516072"/>
                </a:cubicBezTo>
                <a:cubicBezTo>
                  <a:pt x="2289680" y="5492670"/>
                  <a:pt x="1840986" y="5498574"/>
                  <a:pt x="1392489" y="5480641"/>
                </a:cubicBezTo>
                <a:cubicBezTo>
                  <a:pt x="1244499" y="5474519"/>
                  <a:pt x="1097296" y="5507322"/>
                  <a:pt x="949699" y="5509072"/>
                </a:cubicBezTo>
                <a:cubicBezTo>
                  <a:pt x="684469" y="5512352"/>
                  <a:pt x="418241" y="5493120"/>
                  <a:pt x="151598" y="5492249"/>
                </a:cubicBezTo>
                <a:lnTo>
                  <a:pt x="1415" y="5496057"/>
                </a:lnTo>
                <a:lnTo>
                  <a:pt x="3772" y="5431261"/>
                </a:lnTo>
                <a:cubicBezTo>
                  <a:pt x="7163" y="5398149"/>
                  <a:pt x="12808" y="5364994"/>
                  <a:pt x="20909" y="5331792"/>
                </a:cubicBezTo>
                <a:cubicBezTo>
                  <a:pt x="51502" y="5208362"/>
                  <a:pt x="50009" y="5079152"/>
                  <a:pt x="16572" y="4956462"/>
                </a:cubicBezTo>
                <a:cubicBezTo>
                  <a:pt x="9172" y="4924695"/>
                  <a:pt x="4643" y="4892329"/>
                  <a:pt x="3048" y="4859758"/>
                </a:cubicBezTo>
                <a:cubicBezTo>
                  <a:pt x="-7031" y="4740857"/>
                  <a:pt x="9937" y="4623614"/>
                  <a:pt x="24098" y="4506116"/>
                </a:cubicBezTo>
                <a:cubicBezTo>
                  <a:pt x="33539" y="4431228"/>
                  <a:pt x="47955" y="4355575"/>
                  <a:pt x="24098" y="4281453"/>
                </a:cubicBezTo>
                <a:cubicBezTo>
                  <a:pt x="7755" y="4229797"/>
                  <a:pt x="4120" y="4174965"/>
                  <a:pt x="13510" y="4121600"/>
                </a:cubicBezTo>
                <a:cubicBezTo>
                  <a:pt x="29342" y="4026887"/>
                  <a:pt x="32646" y="3930503"/>
                  <a:pt x="23333" y="3834935"/>
                </a:cubicBezTo>
                <a:cubicBezTo>
                  <a:pt x="17184" y="3771925"/>
                  <a:pt x="18128" y="3708417"/>
                  <a:pt x="26140" y="3645611"/>
                </a:cubicBezTo>
                <a:cubicBezTo>
                  <a:pt x="36728" y="3561155"/>
                  <a:pt x="53186" y="3475168"/>
                  <a:pt x="33156" y="3390458"/>
                </a:cubicBezTo>
                <a:cubicBezTo>
                  <a:pt x="1262" y="3255864"/>
                  <a:pt x="7641" y="3121398"/>
                  <a:pt x="20399" y="2985784"/>
                </a:cubicBezTo>
                <a:cubicBezTo>
                  <a:pt x="29967" y="2884871"/>
                  <a:pt x="40556" y="2782810"/>
                  <a:pt x="21419" y="2680748"/>
                </a:cubicBezTo>
                <a:cubicBezTo>
                  <a:pt x="13191" y="2633392"/>
                  <a:pt x="13191" y="2584964"/>
                  <a:pt x="21419" y="2537607"/>
                </a:cubicBezTo>
                <a:cubicBezTo>
                  <a:pt x="31370" y="2473819"/>
                  <a:pt x="40811" y="2410668"/>
                  <a:pt x="28053" y="2346242"/>
                </a:cubicBezTo>
                <a:cubicBezTo>
                  <a:pt x="22440" y="2318175"/>
                  <a:pt x="18230" y="2289853"/>
                  <a:pt x="15295" y="2261531"/>
                </a:cubicBezTo>
                <a:cubicBezTo>
                  <a:pt x="9452" y="2189221"/>
                  <a:pt x="11544" y="2116502"/>
                  <a:pt x="21546" y="2044651"/>
                </a:cubicBezTo>
                <a:cubicBezTo>
                  <a:pt x="31115" y="1961216"/>
                  <a:pt x="15551" y="1877270"/>
                  <a:pt x="28308" y="1794090"/>
                </a:cubicBezTo>
                <a:cubicBezTo>
                  <a:pt x="37367" y="1727100"/>
                  <a:pt x="37711" y="1659216"/>
                  <a:pt x="29329" y="1592136"/>
                </a:cubicBezTo>
                <a:cubicBezTo>
                  <a:pt x="14250" y="1465325"/>
                  <a:pt x="15193" y="1337123"/>
                  <a:pt x="32135" y="1210554"/>
                </a:cubicBezTo>
                <a:cubicBezTo>
                  <a:pt x="42597" y="1136687"/>
                  <a:pt x="48593" y="1060652"/>
                  <a:pt x="29839" y="988188"/>
                </a:cubicBezTo>
                <a:cubicBezTo>
                  <a:pt x="-14303" y="817873"/>
                  <a:pt x="11468" y="647303"/>
                  <a:pt x="29839" y="477881"/>
                </a:cubicBezTo>
                <a:cubicBezTo>
                  <a:pt x="41002" y="386894"/>
                  <a:pt x="41258" y="294898"/>
                  <a:pt x="30605" y="203847"/>
                </a:cubicBezTo>
                <a:lnTo>
                  <a:pt x="17136" y="42362"/>
                </a:lnTo>
                <a:lnTo>
                  <a:pt x="155390" y="51827"/>
                </a:lnTo>
                <a:cubicBezTo>
                  <a:pt x="380715" y="63616"/>
                  <a:pt x="606095" y="63411"/>
                  <a:pt x="831032" y="41432"/>
                </a:cubicBezTo>
                <a:cubicBezTo>
                  <a:pt x="1107234" y="18075"/>
                  <a:pt x="1384519" y="14708"/>
                  <a:pt x="1661115" y="31372"/>
                </a:cubicBezTo>
                <a:cubicBezTo>
                  <a:pt x="1911045" y="42962"/>
                  <a:pt x="2160581" y="71395"/>
                  <a:pt x="2411103" y="47120"/>
                </a:cubicBezTo>
                <a:cubicBezTo>
                  <a:pt x="2497298" y="38807"/>
                  <a:pt x="2581920" y="18689"/>
                  <a:pt x="2668707" y="14096"/>
                </a:cubicBezTo>
                <a:cubicBezTo>
                  <a:pt x="3075287" y="-7775"/>
                  <a:pt x="3480488" y="25030"/>
                  <a:pt x="3885690" y="51930"/>
                </a:cubicBezTo>
                <a:cubicBezTo>
                  <a:pt x="4033287" y="61770"/>
                  <a:pt x="4180883" y="73799"/>
                  <a:pt x="4328480" y="46900"/>
                </a:cubicBezTo>
                <a:cubicBezTo>
                  <a:pt x="4453032" y="25577"/>
                  <a:pt x="4579453" y="21181"/>
                  <a:pt x="4704949" y="33778"/>
                </a:cubicBezTo>
                <a:cubicBezTo>
                  <a:pt x="4816098" y="46376"/>
                  <a:pt x="4927939" y="49371"/>
                  <a:pt x="5039501" y="42745"/>
                </a:cubicBezTo>
                <a:cubicBezTo>
                  <a:pt x="5342568" y="15407"/>
                  <a:pt x="5645828" y="318"/>
                  <a:pt x="5949681" y="536"/>
                </a:cubicBezTo>
                <a:close/>
              </a:path>
            </a:pathLst>
          </a:cu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498D7E56-9E75-114D-8680-319C7EB59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-1261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NL" sz="3200" b="1" dirty="0"/>
              <a:t>Between two conditions, we can visualize all differentially expressed genes in a volcano plot</a:t>
            </a:r>
            <a:endParaRPr lang="en-NL" sz="3200" dirty="0"/>
          </a:p>
        </p:txBody>
      </p:sp>
    </p:spTree>
    <p:extLst>
      <p:ext uri="{BB962C8B-B14F-4D97-AF65-F5344CB8AC3E}">
        <p14:creationId xmlns:p14="http://schemas.microsoft.com/office/powerpoint/2010/main" val="1969344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17B15-CCB5-BC37-CEAE-2443D2E52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619" y="0"/>
            <a:ext cx="6326454" cy="1325563"/>
          </a:xfrm>
        </p:spPr>
        <p:txBody>
          <a:bodyPr/>
          <a:lstStyle/>
          <a:p>
            <a:r>
              <a:rPr lang="en-NL" b="1" dirty="0"/>
              <a:t>Then, the biology starts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CE13BCE-09A2-630F-A684-4F8962B61A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9630"/>
          <a:stretch>
            <a:fillRect/>
          </a:stretch>
        </p:blipFill>
        <p:spPr>
          <a:xfrm>
            <a:off x="143619" y="1960562"/>
            <a:ext cx="6154812" cy="4351338"/>
          </a:xfrm>
          <a:custGeom>
            <a:avLst/>
            <a:gdLst/>
            <a:ahLst/>
            <a:cxnLst/>
            <a:rect l="l" t="t" r="r" b="b"/>
            <a:pathLst>
              <a:path w="10485104" h="5523506">
                <a:moveTo>
                  <a:pt x="5949681" y="536"/>
                </a:moveTo>
                <a:cubicBezTo>
                  <a:pt x="6074035" y="-2131"/>
                  <a:pt x="6198411" y="5173"/>
                  <a:pt x="6321822" y="22405"/>
                </a:cubicBezTo>
                <a:cubicBezTo>
                  <a:pt x="6498937" y="51493"/>
                  <a:pt x="6677824" y="73364"/>
                  <a:pt x="6857694" y="55210"/>
                </a:cubicBezTo>
                <a:cubicBezTo>
                  <a:pt x="6981675" y="42526"/>
                  <a:pt x="7105459" y="35089"/>
                  <a:pt x="7230031" y="35528"/>
                </a:cubicBezTo>
                <a:cubicBezTo>
                  <a:pt x="7516370" y="35528"/>
                  <a:pt x="7802902" y="38152"/>
                  <a:pt x="8089242" y="32684"/>
                </a:cubicBezTo>
                <a:cubicBezTo>
                  <a:pt x="8344090" y="27873"/>
                  <a:pt x="8597956" y="17377"/>
                  <a:pt x="8853003" y="43837"/>
                </a:cubicBezTo>
                <a:cubicBezTo>
                  <a:pt x="9229472" y="82767"/>
                  <a:pt x="9607909" y="70300"/>
                  <a:pt x="9985559" y="65708"/>
                </a:cubicBezTo>
                <a:cubicBezTo>
                  <a:pt x="10083101" y="64320"/>
                  <a:pt x="10180599" y="61132"/>
                  <a:pt x="10278047" y="56140"/>
                </a:cubicBezTo>
                <a:lnTo>
                  <a:pt x="10449151" y="44199"/>
                </a:lnTo>
                <a:lnTo>
                  <a:pt x="10468533" y="198724"/>
                </a:lnTo>
                <a:cubicBezTo>
                  <a:pt x="10475933" y="234109"/>
                  <a:pt x="10480462" y="270161"/>
                  <a:pt x="10482057" y="306442"/>
                </a:cubicBezTo>
                <a:cubicBezTo>
                  <a:pt x="10492136" y="438884"/>
                  <a:pt x="10475168" y="569479"/>
                  <a:pt x="10461007" y="700359"/>
                </a:cubicBezTo>
                <a:cubicBezTo>
                  <a:pt x="10451566" y="783776"/>
                  <a:pt x="10437150" y="868045"/>
                  <a:pt x="10461007" y="950608"/>
                </a:cubicBezTo>
                <a:cubicBezTo>
                  <a:pt x="10477350" y="1008147"/>
                  <a:pt x="10480985" y="1069224"/>
                  <a:pt x="10471595" y="1128666"/>
                </a:cubicBezTo>
                <a:cubicBezTo>
                  <a:pt x="10455763" y="1234166"/>
                  <a:pt x="10452459" y="1341527"/>
                  <a:pt x="10461772" y="1447979"/>
                </a:cubicBezTo>
                <a:cubicBezTo>
                  <a:pt x="10467921" y="1518165"/>
                  <a:pt x="10466977" y="1588906"/>
                  <a:pt x="10458965" y="1658865"/>
                </a:cubicBezTo>
                <a:cubicBezTo>
                  <a:pt x="10448377" y="1752939"/>
                  <a:pt x="10431919" y="1848719"/>
                  <a:pt x="10451949" y="1943076"/>
                </a:cubicBezTo>
                <a:cubicBezTo>
                  <a:pt x="10483843" y="2092999"/>
                  <a:pt x="10477464" y="2242779"/>
                  <a:pt x="10464706" y="2393837"/>
                </a:cubicBezTo>
                <a:cubicBezTo>
                  <a:pt x="10455138" y="2506243"/>
                  <a:pt x="10444549" y="2619928"/>
                  <a:pt x="10463686" y="2733613"/>
                </a:cubicBezTo>
                <a:cubicBezTo>
                  <a:pt x="10471914" y="2786362"/>
                  <a:pt x="10471914" y="2840306"/>
                  <a:pt x="10463686" y="2893056"/>
                </a:cubicBezTo>
                <a:cubicBezTo>
                  <a:pt x="10453735" y="2964109"/>
                  <a:pt x="10444294" y="3034452"/>
                  <a:pt x="10457052" y="3106215"/>
                </a:cubicBezTo>
                <a:cubicBezTo>
                  <a:pt x="10462665" y="3137479"/>
                  <a:pt x="10466875" y="3169026"/>
                  <a:pt x="10469810" y="3200574"/>
                </a:cubicBezTo>
                <a:cubicBezTo>
                  <a:pt x="10475653" y="3281119"/>
                  <a:pt x="10473561" y="3362120"/>
                  <a:pt x="10463559" y="3442154"/>
                </a:cubicBezTo>
                <a:cubicBezTo>
                  <a:pt x="10453990" y="3535091"/>
                  <a:pt x="10469554" y="3628597"/>
                  <a:pt x="10456797" y="3721250"/>
                </a:cubicBezTo>
                <a:cubicBezTo>
                  <a:pt x="10447738" y="3795870"/>
                  <a:pt x="10447394" y="3871485"/>
                  <a:pt x="10455776" y="3946204"/>
                </a:cubicBezTo>
                <a:cubicBezTo>
                  <a:pt x="10470855" y="4087457"/>
                  <a:pt x="10469912" y="4230260"/>
                  <a:pt x="10452970" y="4371244"/>
                </a:cubicBezTo>
                <a:cubicBezTo>
                  <a:pt x="10442508" y="4453523"/>
                  <a:pt x="10436512" y="4538218"/>
                  <a:pt x="10455266" y="4618934"/>
                </a:cubicBezTo>
                <a:cubicBezTo>
                  <a:pt x="10499408" y="4808646"/>
                  <a:pt x="10473637" y="4998642"/>
                  <a:pt x="10455266" y="5187359"/>
                </a:cubicBezTo>
                <a:cubicBezTo>
                  <a:pt x="10444103" y="5288708"/>
                  <a:pt x="10443847" y="5391181"/>
                  <a:pt x="10454500" y="5492602"/>
                </a:cubicBezTo>
                <a:lnTo>
                  <a:pt x="10454510" y="5492731"/>
                </a:lnTo>
                <a:lnTo>
                  <a:pt x="10414967" y="5491139"/>
                </a:lnTo>
                <a:cubicBezTo>
                  <a:pt x="10117611" y="5495732"/>
                  <a:pt x="9820450" y="5526349"/>
                  <a:pt x="9523092" y="5507105"/>
                </a:cubicBezTo>
                <a:cubicBezTo>
                  <a:pt x="9272964" y="5490920"/>
                  <a:pt x="9023034" y="5477142"/>
                  <a:pt x="8772711" y="5490483"/>
                </a:cubicBezTo>
                <a:cubicBezTo>
                  <a:pt x="8636774" y="5499549"/>
                  <a:pt x="8500636" y="5503107"/>
                  <a:pt x="8364561" y="5501172"/>
                </a:cubicBezTo>
                <a:lnTo>
                  <a:pt x="8196562" y="5491993"/>
                </a:lnTo>
                <a:lnTo>
                  <a:pt x="8077075" y="5475562"/>
                </a:lnTo>
                <a:lnTo>
                  <a:pt x="7915670" y="5468917"/>
                </a:lnTo>
                <a:lnTo>
                  <a:pt x="7914092" y="5467957"/>
                </a:lnTo>
                <a:lnTo>
                  <a:pt x="7894412" y="5467957"/>
                </a:lnTo>
                <a:lnTo>
                  <a:pt x="7892834" y="5468758"/>
                </a:lnTo>
                <a:lnTo>
                  <a:pt x="7727602" y="5475562"/>
                </a:lnTo>
                <a:lnTo>
                  <a:pt x="7690606" y="5480649"/>
                </a:lnTo>
                <a:lnTo>
                  <a:pt x="7624212" y="5484579"/>
                </a:lnTo>
                <a:cubicBezTo>
                  <a:pt x="7434738" y="5508001"/>
                  <a:pt x="7243868" y="5514147"/>
                  <a:pt x="7053506" y="5502949"/>
                </a:cubicBezTo>
                <a:cubicBezTo>
                  <a:pt x="6777009" y="5485453"/>
                  <a:pt x="6500117" y="5474737"/>
                  <a:pt x="6223029" y="5498574"/>
                </a:cubicBezTo>
                <a:cubicBezTo>
                  <a:pt x="6065592" y="5511916"/>
                  <a:pt x="5908157" y="5526131"/>
                  <a:pt x="5750720" y="5507761"/>
                </a:cubicBezTo>
                <a:cubicBezTo>
                  <a:pt x="5616170" y="5490965"/>
                  <a:pt x="5480520" y="5488253"/>
                  <a:pt x="5345518" y="5499668"/>
                </a:cubicBezTo>
                <a:cubicBezTo>
                  <a:pt x="5197844" y="5511040"/>
                  <a:pt x="5049616" y="5511040"/>
                  <a:pt x="4901942" y="5499668"/>
                </a:cubicBezTo>
                <a:cubicBezTo>
                  <a:pt x="4760445" y="5490920"/>
                  <a:pt x="4618556" y="5476268"/>
                  <a:pt x="4477454" y="5492013"/>
                </a:cubicBezTo>
                <a:cubicBezTo>
                  <a:pt x="4279085" y="5513884"/>
                  <a:pt x="4081305" y="5506667"/>
                  <a:pt x="3883329" y="5493326"/>
                </a:cubicBezTo>
                <a:cubicBezTo>
                  <a:pt x="3719792" y="5482391"/>
                  <a:pt x="3555664" y="5466425"/>
                  <a:pt x="3392914" y="5492233"/>
                </a:cubicBezTo>
                <a:cubicBezTo>
                  <a:pt x="3175771" y="5523222"/>
                  <a:pt x="2956480" y="5531206"/>
                  <a:pt x="2737979" y="5516072"/>
                </a:cubicBezTo>
                <a:cubicBezTo>
                  <a:pt x="2289680" y="5492670"/>
                  <a:pt x="1840986" y="5498574"/>
                  <a:pt x="1392489" y="5480641"/>
                </a:cubicBezTo>
                <a:cubicBezTo>
                  <a:pt x="1244499" y="5474519"/>
                  <a:pt x="1097296" y="5507322"/>
                  <a:pt x="949699" y="5509072"/>
                </a:cubicBezTo>
                <a:cubicBezTo>
                  <a:pt x="684469" y="5512352"/>
                  <a:pt x="418241" y="5493120"/>
                  <a:pt x="151598" y="5492249"/>
                </a:cubicBezTo>
                <a:lnTo>
                  <a:pt x="1415" y="5496057"/>
                </a:lnTo>
                <a:lnTo>
                  <a:pt x="3772" y="5431261"/>
                </a:lnTo>
                <a:cubicBezTo>
                  <a:pt x="7163" y="5398149"/>
                  <a:pt x="12808" y="5364994"/>
                  <a:pt x="20909" y="5331792"/>
                </a:cubicBezTo>
                <a:cubicBezTo>
                  <a:pt x="51502" y="5208362"/>
                  <a:pt x="50009" y="5079152"/>
                  <a:pt x="16572" y="4956462"/>
                </a:cubicBezTo>
                <a:cubicBezTo>
                  <a:pt x="9172" y="4924695"/>
                  <a:pt x="4643" y="4892329"/>
                  <a:pt x="3048" y="4859758"/>
                </a:cubicBezTo>
                <a:cubicBezTo>
                  <a:pt x="-7031" y="4740857"/>
                  <a:pt x="9937" y="4623614"/>
                  <a:pt x="24098" y="4506116"/>
                </a:cubicBezTo>
                <a:cubicBezTo>
                  <a:pt x="33539" y="4431228"/>
                  <a:pt x="47955" y="4355575"/>
                  <a:pt x="24098" y="4281453"/>
                </a:cubicBezTo>
                <a:cubicBezTo>
                  <a:pt x="7755" y="4229797"/>
                  <a:pt x="4120" y="4174965"/>
                  <a:pt x="13510" y="4121600"/>
                </a:cubicBezTo>
                <a:cubicBezTo>
                  <a:pt x="29342" y="4026887"/>
                  <a:pt x="32646" y="3930503"/>
                  <a:pt x="23333" y="3834935"/>
                </a:cubicBezTo>
                <a:cubicBezTo>
                  <a:pt x="17184" y="3771925"/>
                  <a:pt x="18128" y="3708417"/>
                  <a:pt x="26140" y="3645611"/>
                </a:cubicBezTo>
                <a:cubicBezTo>
                  <a:pt x="36728" y="3561155"/>
                  <a:pt x="53186" y="3475168"/>
                  <a:pt x="33156" y="3390458"/>
                </a:cubicBezTo>
                <a:cubicBezTo>
                  <a:pt x="1262" y="3255864"/>
                  <a:pt x="7641" y="3121398"/>
                  <a:pt x="20399" y="2985784"/>
                </a:cubicBezTo>
                <a:cubicBezTo>
                  <a:pt x="29967" y="2884871"/>
                  <a:pt x="40556" y="2782810"/>
                  <a:pt x="21419" y="2680748"/>
                </a:cubicBezTo>
                <a:cubicBezTo>
                  <a:pt x="13191" y="2633392"/>
                  <a:pt x="13191" y="2584964"/>
                  <a:pt x="21419" y="2537607"/>
                </a:cubicBezTo>
                <a:cubicBezTo>
                  <a:pt x="31370" y="2473819"/>
                  <a:pt x="40811" y="2410668"/>
                  <a:pt x="28053" y="2346242"/>
                </a:cubicBezTo>
                <a:cubicBezTo>
                  <a:pt x="22440" y="2318175"/>
                  <a:pt x="18230" y="2289853"/>
                  <a:pt x="15295" y="2261531"/>
                </a:cubicBezTo>
                <a:cubicBezTo>
                  <a:pt x="9452" y="2189221"/>
                  <a:pt x="11544" y="2116502"/>
                  <a:pt x="21546" y="2044651"/>
                </a:cubicBezTo>
                <a:cubicBezTo>
                  <a:pt x="31115" y="1961216"/>
                  <a:pt x="15551" y="1877270"/>
                  <a:pt x="28308" y="1794090"/>
                </a:cubicBezTo>
                <a:cubicBezTo>
                  <a:pt x="37367" y="1727100"/>
                  <a:pt x="37711" y="1659216"/>
                  <a:pt x="29329" y="1592136"/>
                </a:cubicBezTo>
                <a:cubicBezTo>
                  <a:pt x="14250" y="1465325"/>
                  <a:pt x="15193" y="1337123"/>
                  <a:pt x="32135" y="1210554"/>
                </a:cubicBezTo>
                <a:cubicBezTo>
                  <a:pt x="42597" y="1136687"/>
                  <a:pt x="48593" y="1060652"/>
                  <a:pt x="29839" y="988188"/>
                </a:cubicBezTo>
                <a:cubicBezTo>
                  <a:pt x="-14303" y="817873"/>
                  <a:pt x="11468" y="647303"/>
                  <a:pt x="29839" y="477881"/>
                </a:cubicBezTo>
                <a:cubicBezTo>
                  <a:pt x="41002" y="386894"/>
                  <a:pt x="41258" y="294898"/>
                  <a:pt x="30605" y="203847"/>
                </a:cubicBezTo>
                <a:lnTo>
                  <a:pt x="17136" y="42362"/>
                </a:lnTo>
                <a:lnTo>
                  <a:pt x="155390" y="51827"/>
                </a:lnTo>
                <a:cubicBezTo>
                  <a:pt x="380715" y="63616"/>
                  <a:pt x="606095" y="63411"/>
                  <a:pt x="831032" y="41432"/>
                </a:cubicBezTo>
                <a:cubicBezTo>
                  <a:pt x="1107234" y="18075"/>
                  <a:pt x="1384519" y="14708"/>
                  <a:pt x="1661115" y="31372"/>
                </a:cubicBezTo>
                <a:cubicBezTo>
                  <a:pt x="1911045" y="42962"/>
                  <a:pt x="2160581" y="71395"/>
                  <a:pt x="2411103" y="47120"/>
                </a:cubicBezTo>
                <a:cubicBezTo>
                  <a:pt x="2497298" y="38807"/>
                  <a:pt x="2581920" y="18689"/>
                  <a:pt x="2668707" y="14096"/>
                </a:cubicBezTo>
                <a:cubicBezTo>
                  <a:pt x="3075287" y="-7775"/>
                  <a:pt x="3480488" y="25030"/>
                  <a:pt x="3885690" y="51930"/>
                </a:cubicBezTo>
                <a:cubicBezTo>
                  <a:pt x="4033287" y="61770"/>
                  <a:pt x="4180883" y="73799"/>
                  <a:pt x="4328480" y="46900"/>
                </a:cubicBezTo>
                <a:cubicBezTo>
                  <a:pt x="4453032" y="25577"/>
                  <a:pt x="4579453" y="21181"/>
                  <a:pt x="4704949" y="33778"/>
                </a:cubicBezTo>
                <a:cubicBezTo>
                  <a:pt x="4816098" y="46376"/>
                  <a:pt x="4927939" y="49371"/>
                  <a:pt x="5039501" y="42745"/>
                </a:cubicBezTo>
                <a:cubicBezTo>
                  <a:pt x="5342568" y="15407"/>
                  <a:pt x="5645828" y="318"/>
                  <a:pt x="5949681" y="536"/>
                </a:cubicBezTo>
                <a:close/>
              </a:path>
            </a:pathLst>
          </a:cu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0634EE5-86C3-4782-9A2C-B738FD82D2AE}"/>
              </a:ext>
            </a:extLst>
          </p:cNvPr>
          <p:cNvSpPr txBox="1">
            <a:spLocks/>
          </p:cNvSpPr>
          <p:nvPr/>
        </p:nvSpPr>
        <p:spPr>
          <a:xfrm>
            <a:off x="6594997" y="1325563"/>
            <a:ext cx="5351928" cy="5416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Are there surprisingly many genes with a particular function among the upregulated genes?</a:t>
            </a:r>
          </a:p>
          <a:p>
            <a:pPr>
              <a:buFontTx/>
              <a:buChar char="-"/>
            </a:pPr>
            <a:endParaRPr lang="en-NL" dirty="0">
              <a:solidFill>
                <a:schemeClr val="bg1">
                  <a:lumMod val="6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buFontTx/>
              <a:buChar char="-"/>
            </a:pPr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 differentially expressed genes share regulatory elements in their promoter?</a:t>
            </a:r>
          </a:p>
          <a:p>
            <a:pPr>
              <a:buFontTx/>
              <a:buChar char="-"/>
            </a:pPr>
            <a:endParaRPr lang="en-NL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buFontTx/>
              <a:buChar char="-"/>
            </a:pPr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 my favorite gene of interest differentially expressed?</a:t>
            </a:r>
          </a:p>
        </p:txBody>
      </p:sp>
    </p:spTree>
    <p:extLst>
      <p:ext uri="{BB962C8B-B14F-4D97-AF65-F5344CB8AC3E}">
        <p14:creationId xmlns:p14="http://schemas.microsoft.com/office/powerpoint/2010/main" val="5722765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6279D-762A-42D4-830B-69C44C8CA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07F5E-6911-7FE6-B44C-197A9F922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NL" dirty="0"/>
              <a:t>RNA-seq captures a snapshot of which mRNAs are expressed under different conditions</a:t>
            </a:r>
          </a:p>
          <a:p>
            <a:r>
              <a:rPr lang="en-NL" dirty="0"/>
              <a:t>A computational pipeline of QC, trimming, mapping, and counting is necessary to turn reads into a count table</a:t>
            </a:r>
          </a:p>
          <a:p>
            <a:r>
              <a:rPr lang="en-NL" dirty="0"/>
              <a:t>The count table needs to be normalized first</a:t>
            </a:r>
          </a:p>
          <a:p>
            <a:r>
              <a:rPr lang="en-NL" dirty="0"/>
              <a:t>Differential gene expression analysis reveals gene lists that are differentially expressed in certain condition</a:t>
            </a:r>
          </a:p>
          <a:p>
            <a:r>
              <a:rPr lang="en-NL" dirty="0"/>
              <a:t>Follow-up analysis is required to give insights into a biological phenomenom</a:t>
            </a:r>
          </a:p>
        </p:txBody>
      </p:sp>
    </p:spTree>
    <p:extLst>
      <p:ext uri="{BB962C8B-B14F-4D97-AF65-F5344CB8AC3E}">
        <p14:creationId xmlns:p14="http://schemas.microsoft.com/office/powerpoint/2010/main" val="4233669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C54D5-EA51-804E-6946-CCCBBD32A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b="1" dirty="0"/>
              <a:t>Now what?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6A804-2767-0F5F-E20E-7A7690904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L" dirty="0"/>
              <a:t>We will practice all the steps we just discussed in tutorials (today and next week </a:t>
            </a:r>
            <a:r>
              <a:rPr lang="en-GB" dirty="0"/>
              <a:t>M</a:t>
            </a:r>
            <a:r>
              <a:rPr lang="en-NL" dirty="0"/>
              <a:t>onday)</a:t>
            </a:r>
          </a:p>
          <a:p>
            <a:r>
              <a:rPr lang="en-NL" dirty="0"/>
              <a:t>Then you will the R part of the analysis with a new dataset for the upcoming assignment (next week </a:t>
            </a:r>
            <a:r>
              <a:rPr lang="en-GB" dirty="0"/>
              <a:t>T</a:t>
            </a:r>
            <a:r>
              <a:rPr lang="en-NL" dirty="0"/>
              <a:t>uesday)</a:t>
            </a:r>
          </a:p>
        </p:txBody>
      </p:sp>
    </p:spTree>
    <p:extLst>
      <p:ext uri="{BB962C8B-B14F-4D97-AF65-F5344CB8AC3E}">
        <p14:creationId xmlns:p14="http://schemas.microsoft.com/office/powerpoint/2010/main" val="28515166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F3E47-794E-4785-8E68-6D0CF7DEB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161131"/>
            <a:ext cx="10515600" cy="1325563"/>
          </a:xfrm>
        </p:spPr>
        <p:txBody>
          <a:bodyPr/>
          <a:lstStyle/>
          <a:p>
            <a:r>
              <a:rPr lang="en-NL" dirty="0"/>
              <a:t>BKO questionaire: I need your feedback </a:t>
            </a:r>
            <a:r>
              <a:rPr lang="en-NL" dirty="0">
                <a:sym typeface="Wingdings" pitchFamily="2" charset="2"/>
              </a:rPr>
              <a:t></a:t>
            </a:r>
            <a:endParaRPr lang="en-NL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26CAEA-4E1D-AF58-B15A-837E3B3E9C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04782" y="1690688"/>
            <a:ext cx="4849018" cy="484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625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922</Words>
  <Application>Microsoft Macintosh PowerPoint</Application>
  <PresentationFormat>Widescreen</PresentationFormat>
  <Paragraphs>148</Paragraphs>
  <Slides>40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Aptos</vt:lpstr>
      <vt:lpstr>Aptos Display</vt:lpstr>
      <vt:lpstr>Arial</vt:lpstr>
      <vt:lpstr>Calibri</vt:lpstr>
      <vt:lpstr>Helvetica Neue</vt:lpstr>
      <vt:lpstr>Wingdings</vt:lpstr>
      <vt:lpstr>Office Theme</vt:lpstr>
      <vt:lpstr>Image</vt:lpstr>
      <vt:lpstr>RNA-seq</vt:lpstr>
      <vt:lpstr>PowerPoint Presentation</vt:lpstr>
      <vt:lpstr>Why study the transcriptome of organisms?</vt:lpstr>
      <vt:lpstr>One genome, many forms</vt:lpstr>
      <vt:lpstr>Gene expression</vt:lpstr>
      <vt:lpstr>Question posed in RNA-seq studies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RNA-seq data challenges: there are many many genes!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Between two conditions, we can visualize all differentially expressed genes in a volcano plot</vt:lpstr>
      <vt:lpstr>Between two conditions, we can visualize all differentially expressed genes in a volcano plot</vt:lpstr>
      <vt:lpstr>Then, the biology starts</vt:lpstr>
      <vt:lpstr>Summary</vt:lpstr>
      <vt:lpstr>Now what?</vt:lpstr>
      <vt:lpstr>BKO questionaire: I need your feedback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Misha Paauw</dc:creator>
  <cp:lastModifiedBy>Misha Paauw</cp:lastModifiedBy>
  <cp:revision>15</cp:revision>
  <dcterms:created xsi:type="dcterms:W3CDTF">2026-07-31T13:58:53Z</dcterms:created>
  <dcterms:modified xsi:type="dcterms:W3CDTF">2026-09-30T14:26:25Z</dcterms:modified>
</cp:coreProperties>
</file>