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9" r:id="rId2"/>
    <p:sldId id="260" r:id="rId3"/>
    <p:sldId id="264" r:id="rId4"/>
    <p:sldId id="261" r:id="rId5"/>
    <p:sldId id="263" r:id="rId6"/>
    <p:sldId id="25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7"/>
    <p:restoredTop sz="94312"/>
  </p:normalViewPr>
  <p:slideViewPr>
    <p:cSldViewPr snapToGrid="0">
      <p:cViewPr varScale="1">
        <p:scale>
          <a:sx n="116" d="100"/>
          <a:sy n="116" d="100"/>
        </p:scale>
        <p:origin x="4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B1E6A8-FC53-FE4D-B8D3-A5067DBF8E42}" type="datetimeFigureOut">
              <a:rPr lang="en-NL" smtClean="0"/>
              <a:t>15/09/2026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E64538-61E5-8542-9044-22695E5C089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05795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</a:t>
            </a:r>
            <a:r>
              <a:rPr lang="en-NL" dirty="0"/>
              <a:t>entral dogma figure: Khan academy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E64538-61E5-8542-9044-22695E5C0896}" type="slidenum">
              <a:rPr lang="en-NL" smtClean="0"/>
              <a:t>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5444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</a:t>
            </a:r>
            <a:r>
              <a:rPr lang="en-NL" dirty="0"/>
              <a:t>hell gif: </a:t>
            </a:r>
            <a:r>
              <a:rPr lang="en-GB" dirty="0"/>
              <a:t>https://</a:t>
            </a:r>
            <a:r>
              <a:rPr lang="en-GB" dirty="0" err="1"/>
              <a:t>levelup.gitconnected.com</a:t>
            </a:r>
            <a:r>
              <a:rPr lang="en-GB" dirty="0"/>
              <a:t>/in-your-shell-ls-l-2ba54eecb024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E64538-61E5-8542-9044-22695E5C0896}" type="slidenum">
              <a:rPr lang="en-NL" smtClean="0"/>
              <a:t>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092925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E64538-61E5-8542-9044-22695E5C0896}" type="slidenum">
              <a:rPr lang="en-NL" smtClean="0"/>
              <a:t>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701546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9CC96-A774-7B45-D90B-B948458A8E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B5DF34-33B5-726D-B3A3-BACA239CB2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85E7A8-4790-38FA-D3B6-ECA75EB87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53756-1F58-2EAC-45D3-5FC34CC1F6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0D297-DCD4-CC55-4BD6-F071B909E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785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698BA-418E-B73F-194F-9C3664180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E19D01-DCCB-0B50-994F-46C2A8582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19FD9D-EF30-E923-6E6F-CC3646DDE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D2D677-1F8D-A125-2B40-4353D8D68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77C52-8074-8F01-8C72-B389847A0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632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6F922-0DAC-5C5D-FD82-FF47FE010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F3544-0B69-17F7-6909-AB51045EF6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4EE9E-D931-87FD-98C2-4E48D4984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AAC553-133E-F8C6-835C-AE7000CC1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B33E5-079D-3E39-DEBD-9F7F209FB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2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BBFDF-DD7A-FBF9-9A8D-4A31F7E4D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60E58-409C-F338-7B60-792B643126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216C44-BE86-1A34-17C6-FE0338A6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1556C0-7DD6-98C2-DC61-4DD69B1B9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8F1DB5-DA89-F05F-F639-8435F2BFA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E9C73B-8BC5-253B-48A5-2BAF7B75D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445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9A3F3-36C5-BE7D-0A19-D71C3BA1F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B8F0E4-7448-CFB1-359F-86DA7E8CC2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B17469-3A8F-BC6A-820E-6ABCBA31A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7ED667-647A-AD21-704B-2E11A52F96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4E305D-C126-ADF0-6B1D-3A620AF6E4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024BF7-39BF-79B9-12B5-2ACF4F5E2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2DB5F6-5A55-5F80-4172-206B15521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2DC3FD-4C58-A465-B0BC-B3CD038D1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764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4B768-9A88-77B2-1A38-C69DBF600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7A1246-A982-FBD0-A8FB-E47A13099C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CBAAB6-AF19-BB72-0B2F-A12AE1BCF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7F5635-6268-69A1-8F04-D3BB47E40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487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5FDAC4-482D-B2A7-856E-CBCCBF1FC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478589-796E-2A1F-12BF-9DC05A66A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021E6C-032A-7799-FAAB-99335E327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1694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811C9-40B7-2B99-DF1E-3D216566F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D6055-9A20-1AF1-84D6-EDA26A55B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B5D23F-7419-E65B-682B-8C87E3CD40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19B66-4F94-F0C5-8197-54F8CCD28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8896F5-D7BF-936E-A668-060A0C2DB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EC9CA1-D68C-8797-4B56-2183A5B94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279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DF3C4-945D-FC53-96B9-81FFD7240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0DF601-9F9C-2D61-BD09-3CD4708882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2D093-8C85-A5AF-08D6-2085D60AF0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A3258A-AC58-1E06-442E-D34F4BDF3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E5A0C3-3E7E-3599-1780-9DF4B4A65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BB0A6E-D508-AA48-3DB7-EEAE4B9F2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2015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245B3-A156-C73A-D82C-B70911D29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E9D21A-7A68-982F-4560-EAD29663C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435443-C769-616D-5E52-A9C33FD62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56F726-8B57-D6F3-9224-901543CAB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ECFE22-4067-CADB-8493-B40E8158E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250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D9E39F-EC0B-F3DD-F1B4-AB67C250E5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C783AB-5D38-EEFD-A3CB-666B9C88BB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E0E155-111A-AF17-5DBD-A03DE80C4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BEEE6C-0D1C-5817-E30D-D2212453D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8E1D2-999F-BA3A-030A-15D463E21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75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50D1A7-E34D-239F-5154-23D3A2BF7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46F01B-34F5-2F7E-8274-948C2909FD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63FE39-91A3-7F76-A854-5B3220F486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985835-CC07-6F4B-9F71-9B303C0F427C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9898FC-5080-4939-0893-FDD0EE7EC6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3241C9-4B44-C6B9-F440-70211CC80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329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m.m.paauw@uva.n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jpg"/><Relationship Id="rId4" Type="http://schemas.openxmlformats.org/officeDocument/2006/relationships/hyperlink" Target="mailto:P.M.Bleeker@uva.nl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P.M.Bleeker@uva.nl" TargetMode="External"/><Relationship Id="rId2" Type="http://schemas.openxmlformats.org/officeDocument/2006/relationships/hyperlink" Target="mailto:m.m.paauw@uva.nl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mailto:P.M.Bleeker@uva.nl" TargetMode="External"/><Relationship Id="rId2" Type="http://schemas.openxmlformats.org/officeDocument/2006/relationships/hyperlink" Target="mailto:m.m.paauw@uva.nl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mailto:m.m.paauw@uva.n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gif"/><Relationship Id="rId4" Type="http://schemas.openxmlformats.org/officeDocument/2006/relationships/hyperlink" Target="mailto:P.M.Bleeker@uva.nl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mailto:m.m.paauw@uva.n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7F952-B183-EDC8-0B5C-D3CEF2469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D77C1573-15BD-0D17-12A2-2150E8D01E88}"/>
              </a:ext>
            </a:extLst>
          </p:cNvPr>
          <p:cNvSpPr/>
          <p:nvPr/>
        </p:nvSpPr>
        <p:spPr>
          <a:xfrm>
            <a:off x="0" y="340789"/>
            <a:ext cx="12192000" cy="12915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5ED5B0-D21C-34CC-3FE0-A6EC306BD9CD}"/>
              </a:ext>
            </a:extLst>
          </p:cNvPr>
          <p:cNvSpPr txBox="1"/>
          <p:nvPr/>
        </p:nvSpPr>
        <p:spPr>
          <a:xfrm>
            <a:off x="497810" y="695604"/>
            <a:ext cx="111963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  <a:latin typeface="Helvetica" pitchFamily="2" charset="0"/>
              </a:rPr>
              <a:t>Module: Molecular Data Analysis &amp; Bioinformatics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43972A-2AE8-B75E-E2FD-FE500479630F}"/>
              </a:ext>
            </a:extLst>
          </p:cNvPr>
          <p:cNvSpPr txBox="1"/>
          <p:nvPr/>
        </p:nvSpPr>
        <p:spPr>
          <a:xfrm>
            <a:off x="7234498" y="6226023"/>
            <a:ext cx="489749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Coordinator: Misha Paauw (</a:t>
            </a:r>
            <a:r>
              <a:rPr lang="en-US" sz="1700" i="1" dirty="0">
                <a:latin typeface="Helvetica" pitchFamily="2" charset="0"/>
                <a:hlinkClick r:id="rId3"/>
              </a:rPr>
              <a:t>m.m.paauw@uva.nl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Petra Bleeker (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  <a:hlinkClick r:id="rId4"/>
              </a:rPr>
              <a:t>p.m.bleeker@uva.nl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542DD79-CF7B-D8F3-3429-D78146A4D1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07" y="6512638"/>
            <a:ext cx="2793362" cy="302330"/>
          </a:xfrm>
          <a:prstGeom prst="rect">
            <a:avLst/>
          </a:prstGeom>
        </p:spPr>
      </p:pic>
      <p:pic>
        <p:nvPicPr>
          <p:cNvPr id="2" name="Picture 1" descr="Simplified schematic of central dogma, showing the sequences of the molecules involved.&#10;&#10;The two strands of DNA have the following sequences:&#10;&#10;5'-ATGATCTCGTAA-3'&#10;3'-TACTAGAGCATT-5'&#10;&#10;Transcription of one of the strands of DNA produces an mRNA that nearly matches the other strand of DNA in sequence. However, due to a biochemical difference between DNA and RNA, the Ts of DNA are replaced with Us in the mRNA. The mRNA sequence is:&#10;&#10;5'-AUGAUCUCGUAA-5'&#10;&#10;Translation involves reading the mRNA nucleotides in groups of three; each group specifies an amino acid (or provides a stop signal indicating that translation is finished).&#10;&#10;3'-AUG AUC UCG UAA-5'&#10;&#10;AUG $\rightarrow$ Methionine&#10;AUC $\rightarrow$ Isoleucine&#10;UCG $\rightarrow$ Serine&#10;UAA $\rightarrow$ &quot;Stop&quot;&#10;&#10;Polypeptide sequence: (N-terminus) Methionine-Isoleucine-Serine (C-terminus)">
            <a:extLst>
              <a:ext uri="{FF2B5EF4-FFF2-40B4-BE49-F238E27FC236}">
                <a16:creationId xmlns:a16="http://schemas.microsoft.com/office/drawing/2014/main" id="{707539B7-EEBB-A957-049E-56341F82FC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3647" y="2095634"/>
            <a:ext cx="6479195" cy="264151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5F1EF1-ED94-E9D4-1DFE-D08E13077418}"/>
              </a:ext>
            </a:extLst>
          </p:cNvPr>
          <p:cNvSpPr txBox="1"/>
          <p:nvPr/>
        </p:nvSpPr>
        <p:spPr>
          <a:xfrm>
            <a:off x="848298" y="2227158"/>
            <a:ext cx="6011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Genome assembly &amp; annotation</a:t>
            </a:r>
          </a:p>
          <a:p>
            <a:pPr algn="r"/>
            <a:r>
              <a:rPr lang="en-US" i="1" dirty="0">
                <a:latin typeface="Helvetica" pitchFamily="2" charset="0"/>
              </a:rPr>
              <a:t>What can we learn from the genome of this organism?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9EF173B-0F05-B99A-158B-3F89AD1E009A}"/>
              </a:ext>
            </a:extLst>
          </p:cNvPr>
          <p:cNvCxnSpPr>
            <a:cxnSpLocks/>
          </p:cNvCxnSpPr>
          <p:nvPr/>
        </p:nvCxnSpPr>
        <p:spPr>
          <a:xfrm>
            <a:off x="6905544" y="2644267"/>
            <a:ext cx="484909" cy="21306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BC25F84-3431-90BB-20E1-AED9FD5BAC2A}"/>
              </a:ext>
            </a:extLst>
          </p:cNvPr>
          <p:cNvCxnSpPr>
            <a:cxnSpLocks/>
          </p:cNvCxnSpPr>
          <p:nvPr/>
        </p:nvCxnSpPr>
        <p:spPr>
          <a:xfrm>
            <a:off x="9253844" y="4873301"/>
            <a:ext cx="0" cy="3486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10A89ED-D617-23B5-3EFE-B68D0AA1A308}"/>
              </a:ext>
            </a:extLst>
          </p:cNvPr>
          <p:cNvSpPr txBox="1"/>
          <p:nvPr/>
        </p:nvSpPr>
        <p:spPr>
          <a:xfrm>
            <a:off x="7841669" y="5317141"/>
            <a:ext cx="2824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>
                <a:latin typeface="Helvetica" pitchFamily="2" charset="0"/>
              </a:rPr>
              <a:t>Phenotype of interest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F5686CB-0B62-7AD2-CBB9-8574F68CD7AE}"/>
              </a:ext>
            </a:extLst>
          </p:cNvPr>
          <p:cNvCxnSpPr>
            <a:cxnSpLocks/>
          </p:cNvCxnSpPr>
          <p:nvPr/>
        </p:nvCxnSpPr>
        <p:spPr>
          <a:xfrm>
            <a:off x="6905545" y="3505756"/>
            <a:ext cx="484909" cy="18205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8F56DF0-7A80-973B-9F9E-B5A7BD943312}"/>
              </a:ext>
            </a:extLst>
          </p:cNvPr>
          <p:cNvSpPr txBox="1"/>
          <p:nvPr/>
        </p:nvSpPr>
        <p:spPr>
          <a:xfrm>
            <a:off x="0" y="2938077"/>
            <a:ext cx="68559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RNA-seq</a:t>
            </a:r>
          </a:p>
          <a:p>
            <a:pPr algn="r"/>
            <a:r>
              <a:rPr lang="en-US" i="1" dirty="0">
                <a:latin typeface="Helvetica" pitchFamily="2" charset="0"/>
              </a:rPr>
              <a:t>Which pathways are affected by a certain treatment or mutation?</a:t>
            </a:r>
          </a:p>
          <a:p>
            <a:pPr algn="r"/>
            <a:r>
              <a:rPr lang="en-US" i="1" dirty="0">
                <a:latin typeface="Helvetica" pitchFamily="2" charset="0"/>
              </a:rPr>
              <a:t>How can we build gene regulatory networks?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5014363-1F1A-0F47-4F81-FC775FEDBAEB}"/>
              </a:ext>
            </a:extLst>
          </p:cNvPr>
          <p:cNvSpPr txBox="1"/>
          <p:nvPr/>
        </p:nvSpPr>
        <p:spPr>
          <a:xfrm>
            <a:off x="376711" y="3978865"/>
            <a:ext cx="64791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Single-cell RNA-seq</a:t>
            </a:r>
          </a:p>
          <a:p>
            <a:pPr algn="r"/>
            <a:r>
              <a:rPr lang="en-US" i="1" dirty="0">
                <a:latin typeface="Helvetica" pitchFamily="2" charset="0"/>
              </a:rPr>
              <a:t>Specialized cell types perform specialized functions</a:t>
            </a:r>
          </a:p>
          <a:p>
            <a:pPr algn="r"/>
            <a:r>
              <a:rPr lang="en-US" i="1" dirty="0">
                <a:latin typeface="Helvetica" pitchFamily="2" charset="0"/>
              </a:rPr>
              <a:t>How can we untangle that?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1B80E9E-7485-968D-5349-6160E8E491BC}"/>
              </a:ext>
            </a:extLst>
          </p:cNvPr>
          <p:cNvCxnSpPr>
            <a:cxnSpLocks/>
          </p:cNvCxnSpPr>
          <p:nvPr/>
        </p:nvCxnSpPr>
        <p:spPr>
          <a:xfrm flipV="1">
            <a:off x="6905545" y="3926756"/>
            <a:ext cx="484909" cy="23213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8070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1" grpId="0"/>
      <p:bldP spid="2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A50D4-6715-32FB-F2CD-A89167F69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9BC2511-CE99-BDFF-E1E5-E3C381BDAC3D}"/>
              </a:ext>
            </a:extLst>
          </p:cNvPr>
          <p:cNvSpPr/>
          <p:nvPr/>
        </p:nvSpPr>
        <p:spPr>
          <a:xfrm>
            <a:off x="0" y="1"/>
            <a:ext cx="12192000" cy="81153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E86EC0-DFB0-1423-7A1B-BFA9AA46F409}"/>
              </a:ext>
            </a:extLst>
          </p:cNvPr>
          <p:cNvSpPr txBox="1"/>
          <p:nvPr/>
        </p:nvSpPr>
        <p:spPr>
          <a:xfrm>
            <a:off x="190231" y="113378"/>
            <a:ext cx="6632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Helvetica" pitchFamily="2" charset="0"/>
              </a:rPr>
              <a:t>MDA is a good fit for you if you…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C5190F-AD5E-A043-2682-61491A105D9A}"/>
              </a:ext>
            </a:extLst>
          </p:cNvPr>
          <p:cNvSpPr txBox="1"/>
          <p:nvPr/>
        </p:nvSpPr>
        <p:spPr>
          <a:xfrm>
            <a:off x="313280" y="1414456"/>
            <a:ext cx="11565430" cy="2254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Helvetica" pitchFamily="2" charset="0"/>
              </a:rPr>
              <a:t>want to understand the molecular mechanisms that underly the diversity of form and function of organisms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Helvetica" pitchFamily="2" charset="0"/>
              </a:rPr>
              <a:t>want to mine genome-wide sequencing datasets to generate new hypotheses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Helvetica" pitchFamily="2" charset="0"/>
              </a:rPr>
              <a:t>are curious about working with ‘</a:t>
            </a:r>
            <a:r>
              <a:rPr lang="en-US" sz="2400" i="1" dirty="0">
                <a:latin typeface="Helvetica" pitchFamily="2" charset="0"/>
              </a:rPr>
              <a:t>big data’ </a:t>
            </a:r>
            <a:r>
              <a:rPr lang="en-US" sz="2400" dirty="0">
                <a:latin typeface="Helvetica" pitchFamily="2" charset="0"/>
              </a:rPr>
              <a:t>datasets </a:t>
            </a:r>
            <a:endParaRPr lang="en-US" sz="2400" dirty="0">
              <a:solidFill>
                <a:srgbClr val="000000"/>
              </a:solidFill>
              <a:latin typeface="Helvetica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3FE04E-1A1C-7058-8897-3573A12970B8}"/>
              </a:ext>
            </a:extLst>
          </p:cNvPr>
          <p:cNvSpPr txBox="1"/>
          <p:nvPr/>
        </p:nvSpPr>
        <p:spPr>
          <a:xfrm>
            <a:off x="313280" y="4298287"/>
            <a:ext cx="8643322" cy="12986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i="1" dirty="0">
                <a:latin typeface="Helvetica" pitchFamily="2" charset="0"/>
              </a:rPr>
              <a:t>Pre-requisites: 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i="1" dirty="0">
                <a:latin typeface="Helvetica" pitchFamily="2" charset="0"/>
              </a:rPr>
              <a:t>some experience with programming in R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i="1" dirty="0">
                <a:solidFill>
                  <a:srgbClr val="000000"/>
                </a:solidFill>
                <a:latin typeface="Helvetica" pitchFamily="2" charset="0"/>
              </a:rPr>
              <a:t>familiar with basic concepts in molecular biology &amp; genetics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5FE9D7-4F44-4244-247F-225FF2922FA4}"/>
              </a:ext>
            </a:extLst>
          </p:cNvPr>
          <p:cNvSpPr txBox="1"/>
          <p:nvPr/>
        </p:nvSpPr>
        <p:spPr>
          <a:xfrm>
            <a:off x="7234498" y="6226023"/>
            <a:ext cx="489749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Coordinator: Misha Paauw (</a:t>
            </a:r>
            <a:r>
              <a:rPr lang="en-US" sz="1700" i="1" dirty="0">
                <a:latin typeface="Helvetica" pitchFamily="2" charset="0"/>
                <a:hlinkClick r:id="rId2"/>
              </a:rPr>
              <a:t>m.m.paauw@uva.nl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Petra Bleeker (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  <a:hlinkClick r:id="rId3"/>
              </a:rPr>
              <a:t>p.m.bleeker@uva.nl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84251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53345-AD1E-65C7-1B30-A0256F71F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AEC0BC5-6469-3DD9-AB2B-CDD0E9C78EFB}"/>
              </a:ext>
            </a:extLst>
          </p:cNvPr>
          <p:cNvSpPr/>
          <p:nvPr/>
        </p:nvSpPr>
        <p:spPr>
          <a:xfrm>
            <a:off x="0" y="1"/>
            <a:ext cx="12192000" cy="81153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E5656F-E5CB-B337-8EE8-78DAFD13B935}"/>
              </a:ext>
            </a:extLst>
          </p:cNvPr>
          <p:cNvSpPr txBox="1"/>
          <p:nvPr/>
        </p:nvSpPr>
        <p:spPr>
          <a:xfrm>
            <a:off x="190231" y="113378"/>
            <a:ext cx="6632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Helvetica" pitchFamily="2" charset="0"/>
              </a:rPr>
              <a:t>MDA is a good fit for you if you…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672C8A-82B5-5E5C-5800-DCBB2E469274}"/>
              </a:ext>
            </a:extLst>
          </p:cNvPr>
          <p:cNvSpPr txBox="1"/>
          <p:nvPr/>
        </p:nvSpPr>
        <p:spPr>
          <a:xfrm>
            <a:off x="313280" y="1414456"/>
            <a:ext cx="11565430" cy="2254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Helvetica" pitchFamily="2" charset="0"/>
              </a:rPr>
              <a:t>want to understand the molecular mechanisms that underly the diversity of form and function of organisms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Helvetica" pitchFamily="2" charset="0"/>
              </a:rPr>
              <a:t>want to mine genome-wide sequencing datasets to generate new hypotheses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Helvetica" pitchFamily="2" charset="0"/>
              </a:rPr>
              <a:t>are curious about working with ‘</a:t>
            </a:r>
            <a:r>
              <a:rPr lang="en-US" sz="2400" i="1" dirty="0">
                <a:latin typeface="Helvetica" pitchFamily="2" charset="0"/>
              </a:rPr>
              <a:t>big data’ </a:t>
            </a:r>
            <a:r>
              <a:rPr lang="en-US" sz="2400" dirty="0">
                <a:latin typeface="Helvetica" pitchFamily="2" charset="0"/>
              </a:rPr>
              <a:t>datasets </a:t>
            </a:r>
            <a:endParaRPr lang="en-US" sz="2400" dirty="0">
              <a:solidFill>
                <a:srgbClr val="000000"/>
              </a:solidFill>
              <a:latin typeface="Helvetica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F8EC28-1C08-008D-D5CE-DF9D66070EBD}"/>
              </a:ext>
            </a:extLst>
          </p:cNvPr>
          <p:cNvSpPr txBox="1"/>
          <p:nvPr/>
        </p:nvSpPr>
        <p:spPr>
          <a:xfrm>
            <a:off x="313280" y="4298287"/>
            <a:ext cx="8643322" cy="12986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i="1" dirty="0">
                <a:latin typeface="Helvetica" pitchFamily="2" charset="0"/>
              </a:rPr>
              <a:t>Pre-requisites: 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i="1" dirty="0">
                <a:latin typeface="Helvetica" pitchFamily="2" charset="0"/>
              </a:rPr>
              <a:t>some experience with programming in R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i="1" dirty="0">
                <a:solidFill>
                  <a:srgbClr val="000000"/>
                </a:solidFill>
                <a:latin typeface="Helvetica" pitchFamily="2" charset="0"/>
              </a:rPr>
              <a:t>familiar with basic concepts in molecular biology &amp; genetics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21064D-5A6E-6D5D-0F4D-3A6A9D880F6A}"/>
              </a:ext>
            </a:extLst>
          </p:cNvPr>
          <p:cNvSpPr txBox="1"/>
          <p:nvPr/>
        </p:nvSpPr>
        <p:spPr>
          <a:xfrm>
            <a:off x="7234498" y="6226023"/>
            <a:ext cx="489749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Coordinator: Misha Paauw (</a:t>
            </a:r>
            <a:r>
              <a:rPr lang="en-US" sz="1700" i="1" dirty="0">
                <a:latin typeface="Helvetica" pitchFamily="2" charset="0"/>
                <a:hlinkClick r:id="rId2"/>
              </a:rPr>
              <a:t>m.m.paauw@uva.nl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Petra Bleeker (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  <a:hlinkClick r:id="rId3"/>
              </a:rPr>
              <a:t>p.m.bleeker@uva.nl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4A574A-B830-2212-B7AB-53D3794D83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823201" y="1269144"/>
            <a:ext cx="5065434" cy="46981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5131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03279-1F0F-E890-EF2D-70BCBC4F8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5997BA2-F5F1-4419-B553-8A391376255C}"/>
              </a:ext>
            </a:extLst>
          </p:cNvPr>
          <p:cNvSpPr txBox="1"/>
          <p:nvPr/>
        </p:nvSpPr>
        <p:spPr>
          <a:xfrm>
            <a:off x="60007" y="1486264"/>
            <a:ext cx="6959717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In this submodule, you will learn how to…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Work on a command-line interface, starting from 0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Document &amp; share your work in a reproducible manner (GitHub)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Process sequencing data: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Assemble &amp; annotate a bacterial genome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Perform RNA-seq analysis, both bulk and at single-cell resolution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Infer gene-regulatory networks</a:t>
            </a:r>
          </a:p>
          <a:p>
            <a:pPr>
              <a:lnSpc>
                <a:spcPct val="150000"/>
              </a:lnSpc>
            </a:pPr>
            <a:endParaRPr lang="en-US" dirty="0">
              <a:latin typeface="Helvetica" pitchFamily="2" charset="0"/>
            </a:endParaRP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These skills are highly relevant and sought after in academic research and industry (drug development, plant breeding, conservation ecology).</a:t>
            </a:r>
          </a:p>
          <a:p>
            <a:endParaRPr lang="en-US" dirty="0">
              <a:latin typeface="Helvetica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110749-1727-8B89-48EE-5682336C392C}"/>
              </a:ext>
            </a:extLst>
          </p:cNvPr>
          <p:cNvSpPr/>
          <p:nvPr/>
        </p:nvSpPr>
        <p:spPr>
          <a:xfrm>
            <a:off x="0" y="1"/>
            <a:ext cx="12192000" cy="81153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319571-E3C9-552A-D540-04AE1169EF85}"/>
              </a:ext>
            </a:extLst>
          </p:cNvPr>
          <p:cNvSpPr txBox="1"/>
          <p:nvPr/>
        </p:nvSpPr>
        <p:spPr>
          <a:xfrm>
            <a:off x="190231" y="113378"/>
            <a:ext cx="82413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Helvetica" pitchFamily="2" charset="0"/>
              </a:rPr>
              <a:t>What you will learn and do in this module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5095BD-B2C4-060E-DC5F-25D3AE61DCB5}"/>
              </a:ext>
            </a:extLst>
          </p:cNvPr>
          <p:cNvSpPr txBox="1"/>
          <p:nvPr/>
        </p:nvSpPr>
        <p:spPr>
          <a:xfrm>
            <a:off x="7234498" y="6226023"/>
            <a:ext cx="489749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Coordinator: Misha Paauw (</a:t>
            </a:r>
            <a:r>
              <a:rPr lang="en-US" sz="1700" i="1" dirty="0">
                <a:latin typeface="Helvetica" pitchFamily="2" charset="0"/>
                <a:hlinkClick r:id="rId3"/>
              </a:rPr>
              <a:t>m.m.paauw@uva.nl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Petra Bleeker (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  <a:hlinkClick r:id="rId4"/>
              </a:rPr>
              <a:t>p.m.bleeker@uva.nl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5C77762-172A-5413-3A56-55CB0406FD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4498" y="1778879"/>
            <a:ext cx="4535276" cy="2551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8066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1C52C-2F85-0B0F-CED5-0692F6667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8C3EFA-7671-AD16-6FCC-E855819DC5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04DE24-8782-9F2D-FA1D-3CB3DFF95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231" y="946468"/>
            <a:ext cx="5801650" cy="49178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DB6BA6-5E83-51DB-624F-A10D10605A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51354"/>
            <a:ext cx="6045252" cy="479488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160AEF9-7889-1935-08D6-44C4008B39E5}"/>
              </a:ext>
            </a:extLst>
          </p:cNvPr>
          <p:cNvSpPr/>
          <p:nvPr/>
        </p:nvSpPr>
        <p:spPr>
          <a:xfrm>
            <a:off x="0" y="1"/>
            <a:ext cx="12192000" cy="81153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FC4D9A-E8A3-A8EE-E441-149B4F6CD5F7}"/>
              </a:ext>
            </a:extLst>
          </p:cNvPr>
          <p:cNvSpPr txBox="1"/>
          <p:nvPr/>
        </p:nvSpPr>
        <p:spPr>
          <a:xfrm>
            <a:off x="190231" y="113378"/>
            <a:ext cx="20056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Helvetica" pitchFamily="2" charset="0"/>
              </a:rPr>
              <a:t>Schedule</a:t>
            </a:r>
          </a:p>
        </p:txBody>
      </p:sp>
    </p:spTree>
    <p:extLst>
      <p:ext uri="{BB962C8B-B14F-4D97-AF65-F5344CB8AC3E}">
        <p14:creationId xmlns:p14="http://schemas.microsoft.com/office/powerpoint/2010/main" val="22644060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29251DE-E46B-0433-0B59-5BF14EEC2A58}"/>
              </a:ext>
            </a:extLst>
          </p:cNvPr>
          <p:cNvSpPr txBox="1"/>
          <p:nvPr/>
        </p:nvSpPr>
        <p:spPr>
          <a:xfrm>
            <a:off x="6244361" y="1131600"/>
            <a:ext cx="5404236" cy="21296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Helvetica" pitchFamily="2" charset="0"/>
              </a:rPr>
              <a:t>Teachers: 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Misha Paauw (Plant Physiology, SILS)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Tijs Bliek (Plant Development &amp; Genetics. SILS)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Aalt-Jan van Dijk (Biosystems Data Analysis, SILS)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Kyran Wissink (Biosystems Data Analysis, SILS)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42D9FB-2D59-87C9-CE81-E070566A0578}"/>
              </a:ext>
            </a:extLst>
          </p:cNvPr>
          <p:cNvSpPr txBox="1"/>
          <p:nvPr/>
        </p:nvSpPr>
        <p:spPr>
          <a:xfrm>
            <a:off x="543403" y="1131600"/>
            <a:ext cx="5036507" cy="17141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Helvetica" pitchFamily="2" charset="0"/>
              </a:rPr>
              <a:t>Teaching activities (% of total workload):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Lectures 25%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Tutorials (live-coding computer practicals): 50%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Assignment: 25%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69392B-6AAB-5AFB-DD6D-14BB9648FBF5}"/>
              </a:ext>
            </a:extLst>
          </p:cNvPr>
          <p:cNvSpPr txBox="1"/>
          <p:nvPr/>
        </p:nvSpPr>
        <p:spPr>
          <a:xfrm>
            <a:off x="543403" y="3153573"/>
            <a:ext cx="1960793" cy="8831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Helvetica" pitchFamily="2" charset="0"/>
              </a:rPr>
              <a:t>Assessment: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2x assignment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3719E3-A412-3D77-EEAA-4A14FADE334D}"/>
              </a:ext>
            </a:extLst>
          </p:cNvPr>
          <p:cNvSpPr/>
          <p:nvPr/>
        </p:nvSpPr>
        <p:spPr>
          <a:xfrm>
            <a:off x="0" y="1"/>
            <a:ext cx="12192000" cy="81153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AC0267-2540-DB25-0602-09A8F155234B}"/>
              </a:ext>
            </a:extLst>
          </p:cNvPr>
          <p:cNvSpPr txBox="1"/>
          <p:nvPr/>
        </p:nvSpPr>
        <p:spPr>
          <a:xfrm>
            <a:off x="190231" y="113378"/>
            <a:ext cx="87072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Helvetica" pitchFamily="2" charset="0"/>
              </a:rPr>
              <a:t>Molecular Data Analysis and Bioinformatics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56126B-E7C3-7480-4E94-B3A69BF5DDDE}"/>
              </a:ext>
            </a:extLst>
          </p:cNvPr>
          <p:cNvSpPr txBox="1"/>
          <p:nvPr/>
        </p:nvSpPr>
        <p:spPr>
          <a:xfrm>
            <a:off x="3571535" y="5362159"/>
            <a:ext cx="5048929" cy="129868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trike="noStrike" dirty="0">
                <a:effectLst/>
                <a:latin typeface="Helvetica" pitchFamily="2" charset="0"/>
              </a:rPr>
              <a:t>Reach out to the coordinator if you have any questions before making your choice (</a:t>
            </a:r>
            <a:r>
              <a:rPr lang="en-US" i="1" strike="noStrike" dirty="0">
                <a:effectLst/>
                <a:latin typeface="Helvetica" pitchFamily="2" charset="0"/>
                <a:hlinkClick r:id="rId3"/>
              </a:rPr>
              <a:t>m.m.</a:t>
            </a:r>
            <a:r>
              <a:rPr lang="en-US" i="1" dirty="0">
                <a:latin typeface="Helvetica" pitchFamily="2" charset="0"/>
                <a:hlinkClick r:id="rId3"/>
              </a:rPr>
              <a:t>paauw</a:t>
            </a:r>
            <a:r>
              <a:rPr lang="en-US" i="1" strike="noStrike" dirty="0">
                <a:effectLst/>
                <a:latin typeface="Helvetica" pitchFamily="2" charset="0"/>
                <a:hlinkClick r:id="rId3"/>
              </a:rPr>
              <a:t>@uva.nl</a:t>
            </a:r>
            <a:r>
              <a:rPr lang="en-US" i="1" strike="noStrike" dirty="0">
                <a:effectLst/>
                <a:latin typeface="Helvetica" pitchFamily="2" charset="0"/>
              </a:rPr>
              <a:t> or </a:t>
            </a:r>
            <a:r>
              <a:rPr lang="en-US" i="1" strike="noStrike" dirty="0" err="1">
                <a:effectLst/>
                <a:latin typeface="Helvetica" pitchFamily="2" charset="0"/>
              </a:rPr>
              <a:t>p.m.bleeker</a:t>
            </a:r>
            <a:r>
              <a:rPr lang="en-US" i="1" dirty="0" err="1">
                <a:latin typeface="Helvetica" pitchFamily="2" charset="0"/>
              </a:rPr>
              <a:t>@uva.nl</a:t>
            </a:r>
            <a:r>
              <a:rPr lang="en-US" i="1" dirty="0">
                <a:latin typeface="Helvetica" pitchFamily="2" charset="0"/>
              </a:rPr>
              <a:t> </a:t>
            </a:r>
            <a:r>
              <a:rPr lang="en-US" strike="noStrike" dirty="0">
                <a:effectLst/>
                <a:latin typeface="Helvetica" pitchFamily="2" charset="0"/>
              </a:rPr>
              <a:t>)</a:t>
            </a:r>
            <a:endParaRPr lang="en-US" dirty="0">
              <a:latin typeface="Helvetica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326AC8-B2D2-A282-254B-847D3ADC1FFA}"/>
              </a:ext>
            </a:extLst>
          </p:cNvPr>
          <p:cNvSpPr txBox="1"/>
          <p:nvPr/>
        </p:nvSpPr>
        <p:spPr>
          <a:xfrm>
            <a:off x="543403" y="4257866"/>
            <a:ext cx="8809015" cy="8831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Helvetica" pitchFamily="2" charset="0"/>
              </a:rPr>
              <a:t>Materials: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Most materials available at: https://</a:t>
            </a:r>
            <a:r>
              <a:rPr lang="en-US" dirty="0" err="1">
                <a:latin typeface="Helvetica" pitchFamily="2" charset="0"/>
              </a:rPr>
              <a:t>mishapaauw.github.io</a:t>
            </a:r>
            <a:r>
              <a:rPr lang="en-US" dirty="0">
                <a:latin typeface="Helvetica" pitchFamily="2" charset="0"/>
              </a:rPr>
              <a:t>/molecular-data-analysis/</a:t>
            </a:r>
          </a:p>
        </p:txBody>
      </p:sp>
    </p:spTree>
    <p:extLst>
      <p:ext uri="{BB962C8B-B14F-4D97-AF65-F5344CB8AC3E}">
        <p14:creationId xmlns:p14="http://schemas.microsoft.com/office/powerpoint/2010/main" val="17167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8724</TotalTime>
  <Words>529</Words>
  <Application>Microsoft Macintosh PowerPoint</Application>
  <PresentationFormat>Widescreen</PresentationFormat>
  <Paragraphs>63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Cara Nissen</dc:creator>
  <cp:lastModifiedBy>Misha Paauw</cp:lastModifiedBy>
  <cp:revision>65</cp:revision>
  <dcterms:created xsi:type="dcterms:W3CDTF">2026-08-18T13:52:55Z</dcterms:created>
  <dcterms:modified xsi:type="dcterms:W3CDTF">2026-09-15T14:23:41Z</dcterms:modified>
</cp:coreProperties>
</file>