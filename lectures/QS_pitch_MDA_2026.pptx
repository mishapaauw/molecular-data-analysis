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1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312"/>
  </p:normalViewPr>
  <p:slideViewPr>
    <p:cSldViewPr snapToGrid="0">
      <p:cViewPr varScale="1">
        <p:scale>
          <a:sx n="116" d="100"/>
          <a:sy n="116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1E6A8-FC53-FE4D-B8D3-A5067DBF8E42}" type="datetimeFigureOut">
              <a:rPr lang="en-NL" smtClean="0"/>
              <a:t>28/08/2026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64538-61E5-8542-9044-22695E5C0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0579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NL" dirty="0"/>
              <a:t>entral dogma figure: Khan academy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64538-61E5-8542-9044-22695E5C0896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444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NL" dirty="0"/>
              <a:t>hell gif: </a:t>
            </a:r>
            <a:r>
              <a:rPr lang="en-GB" dirty="0"/>
              <a:t>https://</a:t>
            </a:r>
            <a:r>
              <a:rPr lang="en-GB" dirty="0" err="1"/>
              <a:t>levelup.gitconnected.com</a:t>
            </a:r>
            <a:r>
              <a:rPr lang="en-GB" dirty="0"/>
              <a:t>/in-your-shell-ls-l-2ba54eecb024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64538-61E5-8542-9044-22695E5C0896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0929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CC96-A774-7B45-D90B-B948458A8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5DF34-33B5-726D-B3A3-BACA239C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5E7A8-4790-38FA-D3B6-ECA75EB8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53756-1F58-2EAC-45D3-5FC34CC1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0D297-DCD4-CC55-4BD6-F071B909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8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8BA-418E-B73F-194F-9C366418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9D01-DCCB-0B50-994F-46C2A858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9FD9D-EF30-E923-6E6F-CC3646DDE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2D677-1F8D-A125-2B40-4353D8D6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77C52-8074-8F01-8C72-B389847A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32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F922-0DAC-5C5D-FD82-FF47FE01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F3544-0B69-17F7-6909-AB51045EF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EE9E-D931-87FD-98C2-4E48D4984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AC553-133E-F8C6-835C-AE7000CC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B33E5-079D-3E39-DEBD-9F7F209F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BFDF-DD7A-FBF9-9A8D-4A31F7E4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60E58-409C-F338-7B60-792B64312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16C44-BE86-1A34-17C6-FE0338A6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556C0-7DD6-98C2-DC61-4DD69B1B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F1DB5-DA89-F05F-F639-8435F2BF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9C73B-8BC5-253B-48A5-2BAF7B75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4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A3F3-36C5-BE7D-0A19-D71C3BA1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8F0E4-7448-CFB1-359F-86DA7E8CC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17469-3A8F-BC6A-820E-6ABCBA31A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ED667-647A-AD21-704B-2E11A52F9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4E305D-C126-ADF0-6B1D-3A620AF6E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24BF7-39BF-79B9-12B5-2ACF4F5E2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DB5F6-5A55-5F80-4172-206B1552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C3FD-4C58-A465-B0BC-B3CD038D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64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4B768-9A88-77B2-1A38-C69DBF60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A1246-A982-FBD0-A8FB-E47A1309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BAAB6-AF19-BB72-0B2F-A12AE1BCF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F5635-6268-69A1-8F04-D3BB47E4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8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5FDAC4-482D-B2A7-856E-CBCCBF1F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478589-796E-2A1F-12BF-9DC05A66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21E6C-032A-7799-FAAB-99335E32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6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11C9-40B7-2B99-DF1E-3D216566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D6055-9A20-1AF1-84D6-EDA26A55B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5D23F-7419-E65B-682B-8C87E3CD4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19B66-4F94-F0C5-8197-54F8CCD2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96F5-D7BF-936E-A668-060A0C2D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C9CA1-D68C-8797-4B56-2183A5B9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7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F3C4-945D-FC53-96B9-81FFD724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0DF601-9F9C-2D61-BD09-3CD47088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2D093-8C85-A5AF-08D6-2085D60AF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3258A-AC58-1E06-442E-D34F4BDF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5A0C3-3E7E-3599-1780-9DF4B4A6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B0A6E-D508-AA48-3DB7-EEAE4B9F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0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45B3-A156-C73A-D82C-B70911D2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9D21A-7A68-982F-4560-EAD29663C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5443-C769-616D-5E52-A9C33FD6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6F726-8B57-D6F3-9224-901543CA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CFE22-4067-CADB-8493-B40E8158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9E39F-EC0B-F3DD-F1B4-AB67C250E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783AB-5D38-EEFD-A3CB-666B9C88B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0E155-111A-AF17-5DBD-A03DE80C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EEE6C-0D1C-5817-E30D-D2212453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E1D2-999F-BA3A-030A-15D463E2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7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50D1A7-E34D-239F-5154-23D3A2BF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6F01B-34F5-2F7E-8274-948C2909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3FE39-91A3-7F76-A854-5B3220F48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85835-CC07-6F4B-9F71-9B303C0F427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898FC-5080-4939-0893-FDD0EE7EC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241C9-4B44-C6B9-F440-70211CC80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8F5CE-7C27-FF46-B417-A260B5A5A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2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.m.paauw@uva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hyperlink" Target="mailto:P.M.Bleeker@uva.n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.M.Bleeker@uva.nl" TargetMode="External"/><Relationship Id="rId2" Type="http://schemas.openxmlformats.org/officeDocument/2006/relationships/hyperlink" Target="mailto:m.m.paauw@uva.n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m.m.paauw@uva.n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hyperlink" Target="mailto:P.M.Bleeker@uva.n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.m.paauw@uva.n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F952-B183-EDC8-0B5C-D3CEF246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77C1573-15BD-0D17-12A2-2150E8D01E88}"/>
              </a:ext>
            </a:extLst>
          </p:cNvPr>
          <p:cNvSpPr/>
          <p:nvPr/>
        </p:nvSpPr>
        <p:spPr>
          <a:xfrm>
            <a:off x="0" y="340789"/>
            <a:ext cx="12192000" cy="12915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ED5B0-D21C-34CC-3FE0-A6EC306BD9CD}"/>
              </a:ext>
            </a:extLst>
          </p:cNvPr>
          <p:cNvSpPr txBox="1"/>
          <p:nvPr/>
        </p:nvSpPr>
        <p:spPr>
          <a:xfrm>
            <a:off x="497810" y="695604"/>
            <a:ext cx="11196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pitchFamily="2" charset="0"/>
              </a:rPr>
              <a:t>Module: Molecular Data Analysis &amp; Bioinformatics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3972A-2AE8-B75E-E2FD-FE500479630F}"/>
              </a:ext>
            </a:extLst>
          </p:cNvPr>
          <p:cNvSpPr txBox="1"/>
          <p:nvPr/>
        </p:nvSpPr>
        <p:spPr>
          <a:xfrm>
            <a:off x="7234498" y="6226023"/>
            <a:ext cx="48974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Coordinator: Misha Paauw (</a:t>
            </a:r>
            <a:r>
              <a:rPr lang="en-US" sz="1700" i="1" dirty="0">
                <a:latin typeface="Helvetica" pitchFamily="2" charset="0"/>
                <a:hlinkClick r:id="rId3"/>
              </a:rPr>
              <a:t>m.m.paauw@uva.nl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)</a:t>
            </a:r>
          </a:p>
          <a:p>
            <a:pPr algn="r"/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Petra Bleeker (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hlinkClick r:id="rId4"/>
              </a:rPr>
              <a:t>p.m.bleeker@uva.nl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542DD79-CF7B-D8F3-3429-D78146A4D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" y="6401747"/>
            <a:ext cx="3817930" cy="413221"/>
          </a:xfrm>
          <a:prstGeom prst="rect">
            <a:avLst/>
          </a:prstGeom>
        </p:spPr>
      </p:pic>
      <p:pic>
        <p:nvPicPr>
          <p:cNvPr id="2" name="Picture 1" descr="Simplified schematic of central dogma, showing the sequences of the molecules involved.&#10;&#10;The two strands of DNA have the following sequences:&#10;&#10;5'-ATGATCTCGTAA-3'&#10;3'-TACTAGAGCATT-5'&#10;&#10;Transcription of one of the strands of DNA produces an mRNA that nearly matches the other strand of DNA in sequence. However, due to a biochemical difference between DNA and RNA, the Ts of DNA are replaced with Us in the mRNA. The mRNA sequence is:&#10;&#10;5'-AUGAUCUCGUAA-5'&#10;&#10;Translation involves reading the mRNA nucleotides in groups of three; each group specifies an amino acid (or provides a stop signal indicating that translation is finished).&#10;&#10;3'-AUG AUC UCG UAA-5'&#10;&#10;AUG $\rightarrow$ Methionine&#10;AUC $\rightarrow$ Isoleucine&#10;UCG $\rightarrow$ Serine&#10;UAA $\rightarrow$ &quot;Stop&quot;&#10;&#10;Polypeptide sequence: (N-terminus) Methionine-Isoleucine-Serine (C-terminus)">
            <a:extLst>
              <a:ext uri="{FF2B5EF4-FFF2-40B4-BE49-F238E27FC236}">
                <a16:creationId xmlns:a16="http://schemas.microsoft.com/office/drawing/2014/main" id="{707539B7-EEBB-A957-049E-56341F82FC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647" y="2095634"/>
            <a:ext cx="6479195" cy="26415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5F1EF1-ED94-E9D4-1DFE-D08E13077418}"/>
              </a:ext>
            </a:extLst>
          </p:cNvPr>
          <p:cNvSpPr txBox="1"/>
          <p:nvPr/>
        </p:nvSpPr>
        <p:spPr>
          <a:xfrm>
            <a:off x="638978" y="2221656"/>
            <a:ext cx="6011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" pitchFamily="2" charset="0"/>
              </a:rPr>
              <a:t>Genome assembly &amp; annotation</a:t>
            </a:r>
          </a:p>
          <a:p>
            <a:pPr algn="r"/>
            <a:r>
              <a:rPr lang="en-US" i="1" dirty="0">
                <a:latin typeface="Helvetica" pitchFamily="2" charset="0"/>
              </a:rPr>
              <a:t>Which genetic features does this organism have?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EF173B-0F05-B99A-158B-3F89AD1E009A}"/>
              </a:ext>
            </a:extLst>
          </p:cNvPr>
          <p:cNvCxnSpPr>
            <a:cxnSpLocks/>
          </p:cNvCxnSpPr>
          <p:nvPr/>
        </p:nvCxnSpPr>
        <p:spPr>
          <a:xfrm>
            <a:off x="6905544" y="2644267"/>
            <a:ext cx="484909" cy="213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C25F84-3431-90BB-20E1-AED9FD5BAC2A}"/>
              </a:ext>
            </a:extLst>
          </p:cNvPr>
          <p:cNvCxnSpPr>
            <a:cxnSpLocks/>
          </p:cNvCxnSpPr>
          <p:nvPr/>
        </p:nvCxnSpPr>
        <p:spPr>
          <a:xfrm>
            <a:off x="9253844" y="4873301"/>
            <a:ext cx="0" cy="3486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10A89ED-D617-23B5-3EFE-B68D0AA1A308}"/>
              </a:ext>
            </a:extLst>
          </p:cNvPr>
          <p:cNvSpPr txBox="1"/>
          <p:nvPr/>
        </p:nvSpPr>
        <p:spPr>
          <a:xfrm>
            <a:off x="7841669" y="5317141"/>
            <a:ext cx="282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Helvetica" pitchFamily="2" charset="0"/>
              </a:rPr>
              <a:t>Phenotype of interest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5686CB-0B62-7AD2-CBB9-8574F68CD7AE}"/>
              </a:ext>
            </a:extLst>
          </p:cNvPr>
          <p:cNvCxnSpPr>
            <a:cxnSpLocks/>
          </p:cNvCxnSpPr>
          <p:nvPr/>
        </p:nvCxnSpPr>
        <p:spPr>
          <a:xfrm>
            <a:off x="6905545" y="3505756"/>
            <a:ext cx="484909" cy="1820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8F56DF0-7A80-973B-9F9E-B5A7BD943312}"/>
              </a:ext>
            </a:extLst>
          </p:cNvPr>
          <p:cNvSpPr txBox="1"/>
          <p:nvPr/>
        </p:nvSpPr>
        <p:spPr>
          <a:xfrm>
            <a:off x="167391" y="2932575"/>
            <a:ext cx="6479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" pitchFamily="2" charset="0"/>
              </a:rPr>
              <a:t>RNA-seq</a:t>
            </a:r>
          </a:p>
          <a:p>
            <a:pPr algn="r"/>
            <a:r>
              <a:rPr lang="en-US" i="1" dirty="0">
                <a:latin typeface="Helvetica" pitchFamily="2" charset="0"/>
              </a:rPr>
              <a:t>Which genes are affected by a certain treatment or mutation?</a:t>
            </a:r>
          </a:p>
          <a:p>
            <a:pPr algn="r"/>
            <a:r>
              <a:rPr lang="en-US" i="1" dirty="0">
                <a:latin typeface="Helvetica" pitchFamily="2" charset="0"/>
              </a:rPr>
              <a:t>How can we build gene regulatory networks?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014363-1F1A-0F47-4F81-FC775FEDBAEB}"/>
              </a:ext>
            </a:extLst>
          </p:cNvPr>
          <p:cNvSpPr txBox="1"/>
          <p:nvPr/>
        </p:nvSpPr>
        <p:spPr>
          <a:xfrm>
            <a:off x="167391" y="3973363"/>
            <a:ext cx="647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" pitchFamily="2" charset="0"/>
              </a:rPr>
              <a:t>Single-cell RNA-seq</a:t>
            </a:r>
          </a:p>
          <a:p>
            <a:pPr algn="r"/>
            <a:r>
              <a:rPr lang="en-US" i="1" dirty="0">
                <a:latin typeface="Helvetica" pitchFamily="2" charset="0"/>
              </a:rPr>
              <a:t>Specialized cell types perform specialized functions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B80E9E-7485-968D-5349-6160E8E491BC}"/>
              </a:ext>
            </a:extLst>
          </p:cNvPr>
          <p:cNvCxnSpPr>
            <a:cxnSpLocks/>
          </p:cNvCxnSpPr>
          <p:nvPr/>
        </p:nvCxnSpPr>
        <p:spPr>
          <a:xfrm flipV="1">
            <a:off x="6905545" y="3926756"/>
            <a:ext cx="484909" cy="2321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07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50D4-6715-32FB-F2CD-A89167F6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BC2511-CE99-BDFF-E1E5-E3C381BDAC3D}"/>
              </a:ext>
            </a:extLst>
          </p:cNvPr>
          <p:cNvSpPr/>
          <p:nvPr/>
        </p:nvSpPr>
        <p:spPr>
          <a:xfrm>
            <a:off x="0" y="1"/>
            <a:ext cx="12192000" cy="81153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86EC0-DFB0-1423-7A1B-BFA9AA46F409}"/>
              </a:ext>
            </a:extLst>
          </p:cNvPr>
          <p:cNvSpPr txBox="1"/>
          <p:nvPr/>
        </p:nvSpPr>
        <p:spPr>
          <a:xfrm>
            <a:off x="190231" y="113378"/>
            <a:ext cx="6632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MDA is a good fit for you if you…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5190F-AD5E-A043-2682-61491A105D9A}"/>
              </a:ext>
            </a:extLst>
          </p:cNvPr>
          <p:cNvSpPr txBox="1"/>
          <p:nvPr/>
        </p:nvSpPr>
        <p:spPr>
          <a:xfrm>
            <a:off x="313280" y="1414456"/>
            <a:ext cx="11565430" cy="2254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want to understand the molecular mechanisms that underly the diversity of form and function of organisms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want to mine genome-wide datasets to generate new hypotheses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are curious about working with truly ‘</a:t>
            </a:r>
            <a:r>
              <a:rPr lang="en-US" sz="2400" i="1" dirty="0">
                <a:latin typeface="Helvetica" pitchFamily="2" charset="0"/>
              </a:rPr>
              <a:t>big data’ </a:t>
            </a:r>
            <a:r>
              <a:rPr lang="en-US" sz="2400" dirty="0">
                <a:latin typeface="Helvetica" pitchFamily="2" charset="0"/>
              </a:rPr>
              <a:t>datasets </a:t>
            </a:r>
            <a:endParaRPr lang="en-US" sz="240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FE04E-1A1C-7058-8897-3573A12970B8}"/>
              </a:ext>
            </a:extLst>
          </p:cNvPr>
          <p:cNvSpPr txBox="1"/>
          <p:nvPr/>
        </p:nvSpPr>
        <p:spPr>
          <a:xfrm>
            <a:off x="1774334" y="4230680"/>
            <a:ext cx="8643322" cy="12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i="1" dirty="0">
                <a:latin typeface="Helvetica" pitchFamily="2" charset="0"/>
              </a:rPr>
              <a:t>Pre-requisites: </a:t>
            </a:r>
          </a:p>
          <a:p>
            <a:pPr marL="342900" indent="-342900" algn="ctr">
              <a:lnSpc>
                <a:spcPct val="150000"/>
              </a:lnSpc>
              <a:buFontTx/>
              <a:buChar char="-"/>
            </a:pPr>
            <a:r>
              <a:rPr lang="en-US" i="1" dirty="0">
                <a:latin typeface="Helvetica" pitchFamily="2" charset="0"/>
              </a:rPr>
              <a:t>some experience in with programming in R</a:t>
            </a:r>
          </a:p>
          <a:p>
            <a:pPr marL="342900" indent="-342900" algn="ctr">
              <a:lnSpc>
                <a:spcPct val="150000"/>
              </a:lnSpc>
              <a:buFontTx/>
              <a:buChar char="-"/>
            </a:pPr>
            <a:r>
              <a:rPr lang="en-US" i="1" dirty="0">
                <a:solidFill>
                  <a:srgbClr val="000000"/>
                </a:solidFill>
                <a:latin typeface="Helvetica" pitchFamily="2" charset="0"/>
              </a:rPr>
              <a:t>familiar with with basic concepts in molecular biology &amp; genetics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FE9D7-4F44-4244-247F-225FF2922FA4}"/>
              </a:ext>
            </a:extLst>
          </p:cNvPr>
          <p:cNvSpPr txBox="1"/>
          <p:nvPr/>
        </p:nvSpPr>
        <p:spPr>
          <a:xfrm>
            <a:off x="7234498" y="6226023"/>
            <a:ext cx="48974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Coordinator: Misha Paauw (</a:t>
            </a:r>
            <a:r>
              <a:rPr lang="en-US" sz="1700" i="1" dirty="0">
                <a:latin typeface="Helvetica" pitchFamily="2" charset="0"/>
                <a:hlinkClick r:id="rId2"/>
              </a:rPr>
              <a:t>m.m.paauw@uva.nl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)</a:t>
            </a:r>
          </a:p>
          <a:p>
            <a:pPr algn="r"/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Petra Bleeker (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hlinkClick r:id="rId3"/>
              </a:rPr>
              <a:t>p.m.bleeker@uva.nl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425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3279-1F0F-E890-EF2D-70BCBC4F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997BA2-F5F1-4419-B553-8A391376255C}"/>
              </a:ext>
            </a:extLst>
          </p:cNvPr>
          <p:cNvSpPr txBox="1"/>
          <p:nvPr/>
        </p:nvSpPr>
        <p:spPr>
          <a:xfrm>
            <a:off x="190230" y="1426726"/>
            <a:ext cx="64419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In this submodule, you will learn how to…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Work on a command-line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Document &amp; share your work in a reproducible manner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Perform RNA-seq analysis, both bulk and at single-cell resolution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Assemble &amp; annotate a bacterial genome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Infer gene-regulatory networks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Helvetica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These skills are highly relevant and sought after in academic research and industry (drug development, plant breeding, conservation ecology)</a:t>
            </a:r>
          </a:p>
          <a:p>
            <a:endParaRPr lang="en-US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110749-1727-8B89-48EE-5682336C392C}"/>
              </a:ext>
            </a:extLst>
          </p:cNvPr>
          <p:cNvSpPr/>
          <p:nvPr/>
        </p:nvSpPr>
        <p:spPr>
          <a:xfrm>
            <a:off x="0" y="1"/>
            <a:ext cx="12192000" cy="81153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19571-E3C9-552A-D540-04AE1169EF85}"/>
              </a:ext>
            </a:extLst>
          </p:cNvPr>
          <p:cNvSpPr txBox="1"/>
          <p:nvPr/>
        </p:nvSpPr>
        <p:spPr>
          <a:xfrm>
            <a:off x="190231" y="113378"/>
            <a:ext cx="82413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What you will learn and do in this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5095BD-B2C4-060E-DC5F-25D3AE61DCB5}"/>
              </a:ext>
            </a:extLst>
          </p:cNvPr>
          <p:cNvSpPr txBox="1"/>
          <p:nvPr/>
        </p:nvSpPr>
        <p:spPr>
          <a:xfrm>
            <a:off x="7234498" y="6226023"/>
            <a:ext cx="48974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Coordinator: Misha Paauw (</a:t>
            </a:r>
            <a:r>
              <a:rPr lang="en-US" sz="1700" i="1" dirty="0">
                <a:latin typeface="Helvetica" pitchFamily="2" charset="0"/>
                <a:hlinkClick r:id="rId3"/>
              </a:rPr>
              <a:t>m.m.paauw@uva.nl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)</a:t>
            </a:r>
          </a:p>
          <a:p>
            <a:pPr algn="r"/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Petra Bleeker (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hlinkClick r:id="rId4"/>
              </a:rPr>
              <a:t>p.m.bleeker@uva.nl</a:t>
            </a:r>
            <a:r>
              <a:rPr lang="en-US" sz="1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C77762-172A-5413-3A56-55CB0406F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095" y="1734812"/>
            <a:ext cx="4535276" cy="255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0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9251DE-E46B-0433-0B59-5BF14EEC2A58}"/>
              </a:ext>
            </a:extLst>
          </p:cNvPr>
          <p:cNvSpPr txBox="1"/>
          <p:nvPr/>
        </p:nvSpPr>
        <p:spPr>
          <a:xfrm>
            <a:off x="6244361" y="1131600"/>
            <a:ext cx="5404236" cy="21296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Helvetica" pitchFamily="2" charset="0"/>
              </a:rPr>
              <a:t>Teachers: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Misha Paauw (Plant Physiology, SILS)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Tijs Bliek (Plant Development &amp; Genetics. SILS)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Aalt-Jan van Dijk (Biosystems Data Analysis, SILS)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Kyran Wissink (Biosystems Data Analysis, SILS)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2D9FB-2D59-87C9-CE81-E070566A0578}"/>
              </a:ext>
            </a:extLst>
          </p:cNvPr>
          <p:cNvSpPr txBox="1"/>
          <p:nvPr/>
        </p:nvSpPr>
        <p:spPr>
          <a:xfrm>
            <a:off x="543403" y="1214768"/>
            <a:ext cx="5036507" cy="1714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Helvetica" pitchFamily="2" charset="0"/>
              </a:rPr>
              <a:t>Teaching activities (% of total workload):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Lectures 25%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Tutorials (live-coding computer practicals): 50%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Assignment: 25%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9392B-6AAB-5AFB-DD6D-14BB9648FBF5}"/>
              </a:ext>
            </a:extLst>
          </p:cNvPr>
          <p:cNvSpPr txBox="1"/>
          <p:nvPr/>
        </p:nvSpPr>
        <p:spPr>
          <a:xfrm>
            <a:off x="543403" y="3153573"/>
            <a:ext cx="1960793" cy="88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Helvetica" pitchFamily="2" charset="0"/>
              </a:rPr>
              <a:t>Assessment: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2x assignment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3719E3-A412-3D77-EEAA-4A14FADE334D}"/>
              </a:ext>
            </a:extLst>
          </p:cNvPr>
          <p:cNvSpPr/>
          <p:nvPr/>
        </p:nvSpPr>
        <p:spPr>
          <a:xfrm>
            <a:off x="0" y="1"/>
            <a:ext cx="12192000" cy="81153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C0267-2540-DB25-0602-09A8F155234B}"/>
              </a:ext>
            </a:extLst>
          </p:cNvPr>
          <p:cNvSpPr txBox="1"/>
          <p:nvPr/>
        </p:nvSpPr>
        <p:spPr>
          <a:xfrm>
            <a:off x="190231" y="113378"/>
            <a:ext cx="87072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Molecular Data Analysis and Bioinformatics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56126B-E7C3-7480-4E94-B3A69BF5DDDE}"/>
              </a:ext>
            </a:extLst>
          </p:cNvPr>
          <p:cNvSpPr txBox="1"/>
          <p:nvPr/>
        </p:nvSpPr>
        <p:spPr>
          <a:xfrm>
            <a:off x="3571535" y="5362159"/>
            <a:ext cx="5048929" cy="12986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trike="noStrike" dirty="0">
                <a:effectLst/>
                <a:latin typeface="Helvetica" pitchFamily="2" charset="0"/>
              </a:rPr>
              <a:t>Reach out to the coordinator if you have any questions before making your choice (</a:t>
            </a:r>
            <a:r>
              <a:rPr lang="en-US" i="1" strike="noStrike" dirty="0">
                <a:effectLst/>
                <a:latin typeface="Helvetica" pitchFamily="2" charset="0"/>
                <a:hlinkClick r:id="rId2"/>
              </a:rPr>
              <a:t>m.m.</a:t>
            </a:r>
            <a:r>
              <a:rPr lang="en-US" i="1" dirty="0">
                <a:latin typeface="Helvetica" pitchFamily="2" charset="0"/>
                <a:hlinkClick r:id="rId2"/>
              </a:rPr>
              <a:t>paauw</a:t>
            </a:r>
            <a:r>
              <a:rPr lang="en-US" i="1" strike="noStrike" dirty="0">
                <a:effectLst/>
                <a:latin typeface="Helvetica" pitchFamily="2" charset="0"/>
                <a:hlinkClick r:id="rId2"/>
              </a:rPr>
              <a:t>@uva.nl</a:t>
            </a:r>
            <a:r>
              <a:rPr lang="en-US" i="1" strike="noStrike" dirty="0">
                <a:effectLst/>
                <a:latin typeface="Helvetica" pitchFamily="2" charset="0"/>
              </a:rPr>
              <a:t> or </a:t>
            </a:r>
            <a:r>
              <a:rPr lang="en-US" i="1" strike="noStrike" dirty="0" err="1">
                <a:effectLst/>
                <a:latin typeface="Helvetica" pitchFamily="2" charset="0"/>
              </a:rPr>
              <a:t>p.m.bleeker</a:t>
            </a:r>
            <a:r>
              <a:rPr lang="en-US" i="1" dirty="0" err="1">
                <a:latin typeface="Helvetica" pitchFamily="2" charset="0"/>
              </a:rPr>
              <a:t>@uva.nl</a:t>
            </a:r>
            <a:r>
              <a:rPr lang="en-US" i="1" dirty="0">
                <a:latin typeface="Helvetica" pitchFamily="2" charset="0"/>
              </a:rPr>
              <a:t> </a:t>
            </a:r>
            <a:r>
              <a:rPr lang="en-US" strike="noStrike" dirty="0">
                <a:effectLst/>
                <a:latin typeface="Helvetica" pitchFamily="2" charset="0"/>
              </a:rPr>
              <a:t>)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26AC8-B2D2-A282-254B-847D3ADC1FFA}"/>
              </a:ext>
            </a:extLst>
          </p:cNvPr>
          <p:cNvSpPr txBox="1"/>
          <p:nvPr/>
        </p:nvSpPr>
        <p:spPr>
          <a:xfrm>
            <a:off x="543403" y="4257866"/>
            <a:ext cx="8809015" cy="88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Helvetica" pitchFamily="2" charset="0"/>
              </a:rPr>
              <a:t>Materials: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Most materials available at: https://</a:t>
            </a:r>
            <a:r>
              <a:rPr lang="en-US" dirty="0" err="1">
                <a:latin typeface="Helvetica" pitchFamily="2" charset="0"/>
              </a:rPr>
              <a:t>mishapaauw.github.io</a:t>
            </a:r>
            <a:r>
              <a:rPr lang="en-US" dirty="0">
                <a:latin typeface="Helvetica" pitchFamily="2" charset="0"/>
              </a:rPr>
              <a:t>/molecular-data-analysis/</a:t>
            </a:r>
          </a:p>
        </p:txBody>
      </p:sp>
    </p:spTree>
    <p:extLst>
      <p:ext uri="{BB962C8B-B14F-4D97-AF65-F5344CB8AC3E}">
        <p14:creationId xmlns:p14="http://schemas.microsoft.com/office/powerpoint/2010/main" val="1716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8666</TotalTime>
  <Words>418</Words>
  <Application>Microsoft Macintosh PowerPoint</Application>
  <PresentationFormat>Widescreen</PresentationFormat>
  <Paragraphs>51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Cara Nissen</dc:creator>
  <cp:lastModifiedBy>Misha Paauw</cp:lastModifiedBy>
  <cp:revision>55</cp:revision>
  <dcterms:created xsi:type="dcterms:W3CDTF">2026-08-18T13:52:55Z</dcterms:created>
  <dcterms:modified xsi:type="dcterms:W3CDTF">2026-08-28T09:38:48Z</dcterms:modified>
</cp:coreProperties>
</file>